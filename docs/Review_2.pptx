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Rajdhani Bold" charset="1" panose="02000000000000000000"/>
      <p:regular r:id="rId17"/>
    </p:embeddedFont>
    <p:embeddedFont>
      <p:font typeface="Anton" charset="1" panose="00000500000000000000"/>
      <p:regular r:id="rId18"/>
    </p:embeddedFont>
    <p:embeddedFont>
      <p:font typeface="Rajdhani" charset="1" panose="02000000000000000000"/>
      <p:regular r:id="rId19"/>
    </p:embeddedFont>
    <p:embeddedFont>
      <p:font typeface="IBM Plex Sans Bold" charset="1" panose="020B0803050203000203"/>
      <p:regular r:id="rId20"/>
    </p:embeddedFont>
    <p:embeddedFont>
      <p:font typeface="IBM Plex Sans" charset="1" panose="020B0503050203000203"/>
      <p:regular r:id="rId21"/>
    </p:embeddedFont>
    <p:embeddedFont>
      <p:font typeface="IBM Plex Mono" charset="1" panose="020B0509050203000203"/>
      <p:regular r:id="rId22"/>
    </p:embeddedFont>
    <p:embeddedFont>
      <p:font typeface="IBM Plex Mono Bold" charset="1" panose="020B08090502030002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61426"/>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a:ln cap="sq">
            <a:noFill/>
            <a:prstDash val="solid"/>
            <a:miter/>
          </a:ln>
        </p:spPr>
      </p:sp>
      <p:grpSp>
        <p:nvGrpSpPr>
          <p:cNvPr name="Group 3" id="3"/>
          <p:cNvGrpSpPr/>
          <p:nvPr/>
        </p:nvGrpSpPr>
        <p:grpSpPr>
          <a:xfrm rot="0">
            <a:off x="0" y="0"/>
            <a:ext cx="18288000" cy="10287000"/>
            <a:chOff x="0" y="0"/>
            <a:chExt cx="24384000" cy="13716000"/>
          </a:xfrm>
        </p:grpSpPr>
        <p:sp>
          <p:nvSpPr>
            <p:cNvPr name="Freeform 4" id="4"/>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61426">
                <a:alpha val="60000"/>
              </a:srgbClr>
            </a:solidFill>
            <a:ln w="9525" cap="sq">
              <a:solidFill>
                <a:srgbClr val="061426">
                  <a:alpha val="60000"/>
                </a:srgbClr>
              </a:solidFill>
              <a:prstDash val="solid"/>
              <a:miter/>
            </a:ln>
          </p:spPr>
        </p:sp>
        <p:sp>
          <p:nvSpPr>
            <p:cNvPr name="TextBox 5" id="5"/>
            <p:cNvSpPr txBox="true"/>
            <p:nvPr/>
          </p:nvSpPr>
          <p:spPr>
            <a:xfrm>
              <a:off x="0" y="-38100"/>
              <a:ext cx="24384000" cy="13754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0" y="0"/>
            <a:ext cx="10668000" cy="10287000"/>
            <a:chOff x="0" y="0"/>
            <a:chExt cx="14224000" cy="13716000"/>
          </a:xfrm>
        </p:grpSpPr>
        <p:sp>
          <p:nvSpPr>
            <p:cNvPr name="Freeform 7" id="7"/>
            <p:cNvSpPr/>
            <p:nvPr/>
          </p:nvSpPr>
          <p:spPr>
            <a:xfrm flipH="false" flipV="false" rot="0">
              <a:off x="0" y="0"/>
              <a:ext cx="14224000" cy="13716000"/>
            </a:xfrm>
            <a:custGeom>
              <a:avLst/>
              <a:gdLst/>
              <a:ahLst/>
              <a:cxnLst/>
              <a:rect r="r" b="b" t="t" l="l"/>
              <a:pathLst>
                <a:path h="13716000" w="14224000">
                  <a:moveTo>
                    <a:pt x="0" y="0"/>
                  </a:moveTo>
                  <a:lnTo>
                    <a:pt x="14224000" y="0"/>
                  </a:lnTo>
                  <a:lnTo>
                    <a:pt x="14224000" y="13716000"/>
                  </a:lnTo>
                  <a:lnTo>
                    <a:pt x="0" y="13716000"/>
                  </a:lnTo>
                  <a:close/>
                </a:path>
              </a:pathLst>
            </a:custGeom>
            <a:solidFill>
              <a:srgbClr val="061426">
                <a:alpha val="87843"/>
              </a:srgbClr>
            </a:solidFill>
            <a:ln w="9525" cap="sq">
              <a:solidFill>
                <a:srgbClr val="061426">
                  <a:alpha val="87843"/>
                </a:srgbClr>
              </a:solidFill>
              <a:prstDash val="solid"/>
              <a:miter/>
            </a:ln>
          </p:spPr>
        </p:sp>
        <p:sp>
          <p:nvSpPr>
            <p:cNvPr name="TextBox 8" id="8"/>
            <p:cNvSpPr txBox="true"/>
            <p:nvPr/>
          </p:nvSpPr>
          <p:spPr>
            <a:xfrm>
              <a:off x="0" y="-38100"/>
              <a:ext cx="14224000" cy="13754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1834478" y="935355"/>
            <a:ext cx="12358575" cy="8322945"/>
            <a:chOff x="0" y="0"/>
            <a:chExt cx="16478100" cy="11097260"/>
          </a:xfrm>
        </p:grpSpPr>
        <p:grpSp>
          <p:nvGrpSpPr>
            <p:cNvPr name="Group 10" id="10"/>
            <p:cNvGrpSpPr/>
            <p:nvPr/>
          </p:nvGrpSpPr>
          <p:grpSpPr>
            <a:xfrm rot="0">
              <a:off x="0" y="12700"/>
              <a:ext cx="76200" cy="9652000"/>
              <a:chOff x="0" y="0"/>
              <a:chExt cx="76200" cy="9652000"/>
            </a:xfrm>
          </p:grpSpPr>
          <p:sp>
            <p:nvSpPr>
              <p:cNvPr name="Freeform 11" id="11"/>
              <p:cNvSpPr/>
              <p:nvPr/>
            </p:nvSpPr>
            <p:spPr>
              <a:xfrm flipH="false" flipV="false" rot="0">
                <a:off x="0" y="0"/>
                <a:ext cx="76200" cy="9652000"/>
              </a:xfrm>
              <a:custGeom>
                <a:avLst/>
                <a:gdLst/>
                <a:ahLst/>
                <a:cxnLst/>
                <a:rect r="r" b="b" t="t" l="l"/>
                <a:pathLst>
                  <a:path h="9652000" w="76200">
                    <a:moveTo>
                      <a:pt x="0" y="0"/>
                    </a:moveTo>
                    <a:lnTo>
                      <a:pt x="76200" y="0"/>
                    </a:lnTo>
                    <a:lnTo>
                      <a:pt x="76200" y="9652000"/>
                    </a:lnTo>
                    <a:lnTo>
                      <a:pt x="0" y="9652000"/>
                    </a:lnTo>
                    <a:close/>
                  </a:path>
                </a:pathLst>
              </a:custGeom>
              <a:solidFill>
                <a:srgbClr val="27E7FF"/>
              </a:solidFill>
              <a:ln w="9525" cap="sq">
                <a:solidFill>
                  <a:srgbClr val="27E7FF"/>
                </a:solidFill>
                <a:prstDash val="solid"/>
                <a:miter/>
              </a:ln>
            </p:spPr>
          </p:sp>
          <p:sp>
            <p:nvSpPr>
              <p:cNvPr name="TextBox 12" id="12"/>
              <p:cNvSpPr txBox="true"/>
              <p:nvPr/>
            </p:nvSpPr>
            <p:spPr>
              <a:xfrm>
                <a:off x="0" y="-38100"/>
                <a:ext cx="76200" cy="9690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254000" y="-28575"/>
              <a:ext cx="889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ACADEMIC PROJECT PRESENTATION</a:t>
              </a:r>
            </a:p>
          </p:txBody>
        </p:sp>
        <p:sp>
          <p:nvSpPr>
            <p:cNvPr name="TextBox 14" id="14"/>
            <p:cNvSpPr txBox="true"/>
            <p:nvPr/>
          </p:nvSpPr>
          <p:spPr>
            <a:xfrm rot="0">
              <a:off x="1524000" y="1593850"/>
              <a:ext cx="11430000" cy="3549650"/>
            </a:xfrm>
            <a:prstGeom prst="rect">
              <a:avLst/>
            </a:prstGeom>
          </p:spPr>
          <p:txBody>
            <a:bodyPr anchor="t" rtlCol="false" tIns="0" lIns="0" bIns="0" rIns="0">
              <a:spAutoFit/>
            </a:bodyPr>
            <a:lstStyle/>
            <a:p>
              <a:pPr algn="l">
                <a:lnSpc>
                  <a:spcPts val="9787"/>
                </a:lnSpc>
              </a:pPr>
              <a:r>
                <a:rPr lang="en-US" sz="10875" spc="108">
                  <a:solidFill>
                    <a:srgbClr val="F4FBFF"/>
                  </a:solidFill>
                  <a:latin typeface="Anton"/>
                  <a:ea typeface="Anton"/>
                  <a:cs typeface="Anton"/>
                  <a:sym typeface="Anton"/>
                </a:rPr>
                <a:t>AI</a:t>
              </a:r>
            </a:p>
            <a:p>
              <a:pPr algn="l">
                <a:lnSpc>
                  <a:spcPts val="9787"/>
                </a:lnSpc>
              </a:pPr>
              <a:r>
                <a:rPr lang="en-US" sz="10875" spc="108">
                  <a:solidFill>
                    <a:srgbClr val="F4FBFF"/>
                  </a:solidFill>
                  <a:latin typeface="Anton"/>
                  <a:ea typeface="Anton"/>
                  <a:cs typeface="Anton"/>
                  <a:sym typeface="Anton"/>
                </a:rPr>
                <a:t>STORYFORGE</a:t>
              </a:r>
            </a:p>
          </p:txBody>
        </p:sp>
        <p:sp>
          <p:nvSpPr>
            <p:cNvPr name="TextBox 15" id="15"/>
            <p:cNvSpPr txBox="true"/>
            <p:nvPr/>
          </p:nvSpPr>
          <p:spPr>
            <a:xfrm rot="0">
              <a:off x="330200" y="5124450"/>
              <a:ext cx="16147900" cy="1701293"/>
            </a:xfrm>
            <a:prstGeom prst="rect">
              <a:avLst/>
            </a:prstGeom>
          </p:spPr>
          <p:txBody>
            <a:bodyPr anchor="t" rtlCol="false" tIns="0" lIns="0" bIns="0" rIns="0">
              <a:spAutoFit/>
            </a:bodyPr>
            <a:lstStyle/>
            <a:p>
              <a:pPr algn="ctr">
                <a:lnSpc>
                  <a:spcPts val="5130"/>
                </a:lnSpc>
              </a:pPr>
              <a:r>
                <a:rPr lang="en-US" sz="4104">
                  <a:solidFill>
                    <a:srgbClr val="27E7FF"/>
                  </a:solidFill>
                  <a:latin typeface="Rajdhani"/>
                  <a:ea typeface="Rajdhani"/>
                  <a:cs typeface="Rajdhani"/>
                  <a:sym typeface="Rajdhani"/>
                </a:rPr>
                <a:t>An AI-Powered User Story Quality, Risk and Estimation Assistant for Agile Sprint Planning</a:t>
              </a:r>
            </a:p>
          </p:txBody>
        </p:sp>
        <p:sp>
          <p:nvSpPr>
            <p:cNvPr name="TextBox 16" id="16"/>
            <p:cNvSpPr txBox="true"/>
            <p:nvPr/>
          </p:nvSpPr>
          <p:spPr>
            <a:xfrm rot="0">
              <a:off x="803041" y="7022287"/>
              <a:ext cx="12871919" cy="4074973"/>
            </a:xfrm>
            <a:prstGeom prst="rect">
              <a:avLst/>
            </a:prstGeom>
          </p:spPr>
          <p:txBody>
            <a:bodyPr anchor="t" rtlCol="false" tIns="0" lIns="0" bIns="0" rIns="0">
              <a:spAutoFit/>
            </a:bodyPr>
            <a:lstStyle/>
            <a:p>
              <a:pPr algn="l">
                <a:lnSpc>
                  <a:spcPts val="3831"/>
                </a:lnSpc>
              </a:pPr>
              <a:r>
                <a:rPr lang="en-US" sz="2472" b="true">
                  <a:solidFill>
                    <a:srgbClr val="F4FBFF"/>
                  </a:solidFill>
                  <a:latin typeface="IBM Plex Sans Bold"/>
                  <a:ea typeface="IBM Plex Sans Bold"/>
                  <a:cs typeface="IBM Plex Sans Bold"/>
                  <a:sym typeface="IBM Plex Sans Bold"/>
                </a:rPr>
                <a:t>TEAM MEMBERS  </a:t>
              </a:r>
            </a:p>
            <a:p>
              <a:pPr algn="l">
                <a:lnSpc>
                  <a:spcPts val="3448"/>
                </a:lnSpc>
              </a:pPr>
              <a:r>
                <a:rPr lang="en-US" sz="2224">
                  <a:solidFill>
                    <a:srgbClr val="F4FBFF"/>
                  </a:solidFill>
                  <a:latin typeface="IBM Plex Sans"/>
                  <a:ea typeface="IBM Plex Sans"/>
                  <a:cs typeface="IBM Plex Sans"/>
                  <a:sym typeface="IBM Plex Sans"/>
                </a:rPr>
                <a:t>Sai Charan - 2420030140</a:t>
              </a:r>
            </a:p>
            <a:p>
              <a:pPr algn="l">
                <a:lnSpc>
                  <a:spcPts val="3448"/>
                </a:lnSpc>
              </a:pPr>
              <a:r>
                <a:rPr lang="en-US" sz="2224">
                  <a:solidFill>
                    <a:srgbClr val="F4FBFF"/>
                  </a:solidFill>
                  <a:latin typeface="IBM Plex Sans"/>
                  <a:ea typeface="IBM Plex Sans"/>
                  <a:cs typeface="IBM Plex Sans"/>
                  <a:sym typeface="IBM Plex Sans"/>
                </a:rPr>
                <a:t>Sai Rishik - 2420030121</a:t>
              </a:r>
            </a:p>
            <a:p>
              <a:pPr algn="l">
                <a:lnSpc>
                  <a:spcPts val="3448"/>
                </a:lnSpc>
              </a:pPr>
              <a:r>
                <a:rPr lang="en-US" sz="2224">
                  <a:solidFill>
                    <a:srgbClr val="F4FBFF"/>
                  </a:solidFill>
                  <a:latin typeface="IBM Plex Sans"/>
                  <a:ea typeface="IBM Plex Sans"/>
                  <a:cs typeface="IBM Plex Sans"/>
                  <a:sym typeface="IBM Plex Sans"/>
                </a:rPr>
                <a:t>Vaman - 2420030736</a:t>
              </a:r>
            </a:p>
            <a:p>
              <a:pPr algn="l">
                <a:lnSpc>
                  <a:spcPts val="3448"/>
                </a:lnSpc>
              </a:pPr>
              <a:r>
                <a:rPr lang="en-US" sz="2224">
                  <a:solidFill>
                    <a:srgbClr val="F4FBFF"/>
                  </a:solidFill>
                  <a:latin typeface="IBM Plex Sans"/>
                  <a:ea typeface="IBM Plex Sans"/>
                  <a:cs typeface="IBM Plex Sans"/>
                  <a:sym typeface="IBM Plex Sans"/>
                </a:rPr>
                <a:t>Chaitanya - 2420030721</a:t>
              </a:r>
            </a:p>
            <a:p>
              <a:pPr algn="l">
                <a:lnSpc>
                  <a:spcPts val="3448"/>
                </a:lnSpc>
              </a:pPr>
              <a:r>
                <a:rPr lang="en-US" sz="2224" b="true">
                  <a:solidFill>
                    <a:srgbClr val="F4FBFF"/>
                  </a:solidFill>
                  <a:latin typeface="IBM Plex Sans Bold"/>
                  <a:ea typeface="IBM Plex Sans Bold"/>
                  <a:cs typeface="IBM Plex Sans Bold"/>
                  <a:sym typeface="IBM Plex Sans Bold"/>
                </a:rPr>
                <a:t>Guide:</a:t>
              </a:r>
              <a:r>
                <a:rPr lang="en-US" sz="2224">
                  <a:solidFill>
                    <a:srgbClr val="F4FBFF"/>
                  </a:solidFill>
                  <a:latin typeface="IBM Plex Sans"/>
                  <a:ea typeface="IBM Plex Sans"/>
                  <a:cs typeface="IBM Plex Sans"/>
                  <a:sym typeface="IBM Plex Sans"/>
                </a:rPr>
                <a:t> Swapna Mam  |   </a:t>
              </a:r>
              <a:r>
                <a:rPr lang="en-US" sz="2224" b="true">
                  <a:solidFill>
                    <a:srgbClr val="F4FBFF"/>
                  </a:solidFill>
                  <a:latin typeface="IBM Plex Sans Bold"/>
                  <a:ea typeface="IBM Plex Sans Bold"/>
                  <a:cs typeface="IBM Plex Sans Bold"/>
                  <a:sym typeface="IBM Plex Sans Bold"/>
                </a:rPr>
                <a:t>Department:</a:t>
              </a:r>
              <a:r>
                <a:rPr lang="en-US" sz="2224">
                  <a:solidFill>
                    <a:srgbClr val="F4FBFF"/>
                  </a:solidFill>
                  <a:latin typeface="IBM Plex Sans"/>
                  <a:ea typeface="IBM Plex Sans"/>
                  <a:cs typeface="IBM Plex Sans"/>
                  <a:sym typeface="IBM Plex Sans"/>
                </a:rPr>
                <a:t> CSE</a:t>
              </a:r>
            </a:p>
            <a:p>
              <a:pPr algn="l">
                <a:lnSpc>
                  <a:spcPts val="3448"/>
                </a:lnSpc>
              </a:pPr>
              <a:r>
                <a:rPr lang="en-US" sz="2224" b="true">
                  <a:solidFill>
                    <a:srgbClr val="F4FBFF"/>
                  </a:solidFill>
                  <a:latin typeface="IBM Plex Sans Bold"/>
                  <a:ea typeface="IBM Plex Sans Bold"/>
                  <a:cs typeface="IBM Plex Sans Bold"/>
                  <a:sym typeface="IBM Plex Sans Bold"/>
                </a:rPr>
                <a:t>Course</a:t>
              </a:r>
              <a:r>
                <a:rPr lang="en-US" sz="2224">
                  <a:solidFill>
                    <a:srgbClr val="F4FBFF"/>
                  </a:solidFill>
                  <a:latin typeface="IBM Plex Sans"/>
                  <a:ea typeface="IBM Plex Sans"/>
                  <a:cs typeface="IBM Plex Sans"/>
                  <a:sym typeface="IBM Plex Sans"/>
                </a:rPr>
                <a:t>: Adaptive Software Engineering.</a:t>
              </a:r>
            </a:p>
          </p:txBody>
        </p:sp>
        <p:sp>
          <p:nvSpPr>
            <p:cNvPr name="TextBox 17" id="17"/>
            <p:cNvSpPr txBox="true"/>
            <p:nvPr/>
          </p:nvSpPr>
          <p:spPr>
            <a:xfrm rot="0">
              <a:off x="254000" y="10668000"/>
              <a:ext cx="1270000" cy="429260"/>
            </a:xfrm>
            <a:prstGeom prst="rect">
              <a:avLst/>
            </a:prstGeom>
          </p:spPr>
          <p:txBody>
            <a:bodyPr anchor="t" rtlCol="false" tIns="0" lIns="0" bIns="0" rIns="0">
              <a:spAutoFit/>
            </a:bodyPr>
            <a:lstStyle/>
            <a:p>
              <a:pPr algn="l">
                <a:lnSpc>
                  <a:spcPts val="2729"/>
                </a:lnSpc>
              </a:pPr>
              <a:r>
                <a:rPr lang="en-US" sz="1950">
                  <a:solidFill>
                    <a:srgbClr val="27E7FF"/>
                  </a:solidFill>
                  <a:latin typeface="IBM Plex Mono"/>
                  <a:ea typeface="IBM Plex Mono"/>
                  <a:cs typeface="IBM Plex Mono"/>
                  <a:sym typeface="IBM Plex Mono"/>
                </a:rPr>
                <a:t>01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82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PROBLEM STATEMENT</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02</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0" id="10"/>
          <p:cNvGrpSpPr/>
          <p:nvPr/>
        </p:nvGrpSpPr>
        <p:grpSpPr>
          <a:xfrm rot="0">
            <a:off x="876300" y="2143125"/>
            <a:ext cx="10668000" cy="6667500"/>
            <a:chOff x="0" y="0"/>
            <a:chExt cx="14224000" cy="8890000"/>
          </a:xfrm>
        </p:grpSpPr>
        <p:sp>
          <p:nvSpPr>
            <p:cNvPr name="Freeform 11" id="11"/>
            <p:cNvSpPr/>
            <p:nvPr/>
          </p:nvSpPr>
          <p:spPr>
            <a:xfrm flipH="false" flipV="false" rot="0">
              <a:off x="0" y="0"/>
              <a:ext cx="14224000" cy="8890000"/>
            </a:xfrm>
            <a:custGeom>
              <a:avLst/>
              <a:gdLst/>
              <a:ahLst/>
              <a:cxnLst/>
              <a:rect r="r" b="b" t="t" l="l"/>
              <a:pathLst>
                <a:path h="8890000" w="14224000">
                  <a:moveTo>
                    <a:pt x="0" y="0"/>
                  </a:moveTo>
                  <a:lnTo>
                    <a:pt x="14224000" y="0"/>
                  </a:lnTo>
                  <a:lnTo>
                    <a:pt x="14224000" y="8890000"/>
                  </a:lnTo>
                  <a:lnTo>
                    <a:pt x="0" y="8890000"/>
                  </a:lnTo>
                  <a:close/>
                </a:path>
              </a:pathLst>
            </a:custGeom>
            <a:solidFill>
              <a:srgbClr val="0B223B"/>
            </a:solidFill>
            <a:ln w="9525" cap="sq">
              <a:solidFill>
                <a:srgbClr val="1B5873"/>
              </a:solidFill>
              <a:prstDash val="solid"/>
              <a:miter/>
            </a:ln>
          </p:spPr>
        </p:sp>
        <p:sp>
          <p:nvSpPr>
            <p:cNvPr name="TextBox 12" id="12"/>
            <p:cNvSpPr txBox="true"/>
            <p:nvPr/>
          </p:nvSpPr>
          <p:spPr>
            <a:xfrm>
              <a:off x="0" y="-38100"/>
              <a:ext cx="14224000" cy="8928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1381125" y="2600325"/>
            <a:ext cx="5715000" cy="240030"/>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THE PLANNING GAP</a:t>
            </a:r>
          </a:p>
        </p:txBody>
      </p:sp>
      <p:sp>
        <p:nvSpPr>
          <p:cNvPr name="TextBox 14" id="14"/>
          <p:cNvSpPr txBox="true"/>
          <p:nvPr/>
        </p:nvSpPr>
        <p:spPr>
          <a:xfrm rot="0">
            <a:off x="1381125" y="3133725"/>
            <a:ext cx="9525000" cy="2956941"/>
          </a:xfrm>
          <a:prstGeom prst="rect">
            <a:avLst/>
          </a:prstGeom>
        </p:spPr>
        <p:txBody>
          <a:bodyPr anchor="t" rtlCol="false" tIns="0" lIns="0" bIns="0" rIns="0">
            <a:spAutoFit/>
          </a:bodyPr>
          <a:lstStyle/>
          <a:p>
            <a:pPr algn="l">
              <a:lnSpc>
                <a:spcPts val="2997"/>
              </a:lnSpc>
            </a:pPr>
            <a:r>
              <a:rPr lang="en-US" sz="2025">
                <a:solidFill>
                  <a:srgbClr val="F4FBFF"/>
                </a:solidFill>
                <a:latin typeface="IBM Plex Sans"/>
                <a:ea typeface="IBM Plex Sans"/>
                <a:cs typeface="IBM Plex Sans"/>
                <a:sym typeface="IBM Plex Sans"/>
              </a:rPr>
              <a:t>Agile teams often receive user stories that are unclear, incomplete, or ambiguous, making estimation and sprint planning difficult. Manual review of every story takes valuable time, while missing acceptance criteria can create misunderstandings during development and testing. As teams handle larger backlogs, it becomes difficult to evaluate story quality, complexity, and risk consistently. Therefore, there is a need for an AI-assisted system that can analyze user stories, identify quality issues and ambiguity, recommend improvements, estimate story points, assess risk, and prepare clearer acceptance criteria before sprint planning.</a:t>
            </a:r>
          </a:p>
        </p:txBody>
      </p:sp>
      <p:sp>
        <p:nvSpPr>
          <p:cNvPr name="TextBox 15" id="15"/>
          <p:cNvSpPr txBox="true"/>
          <p:nvPr/>
        </p:nvSpPr>
        <p:spPr>
          <a:xfrm rot="0">
            <a:off x="1381125" y="7934325"/>
            <a:ext cx="9429750" cy="281940"/>
          </a:xfrm>
          <a:prstGeom prst="rect">
            <a:avLst/>
          </a:prstGeom>
        </p:spPr>
        <p:txBody>
          <a:bodyPr anchor="t" rtlCol="false" tIns="0" lIns="0" bIns="0" rIns="0">
            <a:spAutoFit/>
          </a:bodyPr>
          <a:lstStyle/>
          <a:p>
            <a:pPr algn="l">
              <a:lnSpc>
                <a:spcPts val="2310"/>
              </a:lnSpc>
            </a:pPr>
            <a:r>
              <a:rPr lang="en-US" sz="1650" spc="82" b="true">
                <a:solidFill>
                  <a:srgbClr val="27E7FF"/>
                </a:solidFill>
                <a:latin typeface="Rajdhani Bold"/>
                <a:ea typeface="Rajdhani Bold"/>
                <a:cs typeface="Rajdhani Bold"/>
                <a:sym typeface="Rajdhani Bold"/>
              </a:rPr>
              <a:t>UNCLEAR INPUT  →  INCONSISTENT ESTIMATION  →  SPRINT RISK</a:t>
            </a:r>
          </a:p>
        </p:txBody>
      </p:sp>
      <p:grpSp>
        <p:nvGrpSpPr>
          <p:cNvPr name="Group 16" id="16"/>
          <p:cNvGrpSpPr/>
          <p:nvPr/>
        </p:nvGrpSpPr>
        <p:grpSpPr>
          <a:xfrm rot="0">
            <a:off x="12192000" y="2476500"/>
            <a:ext cx="4762500" cy="6334125"/>
            <a:chOff x="0" y="0"/>
            <a:chExt cx="6350000" cy="8445500"/>
          </a:xfrm>
        </p:grpSpPr>
        <p:grpSp>
          <p:nvGrpSpPr>
            <p:cNvPr name="Group 17" id="17"/>
            <p:cNvGrpSpPr/>
            <p:nvPr/>
          </p:nvGrpSpPr>
          <p:grpSpPr>
            <a:xfrm rot="0">
              <a:off x="0" y="0"/>
              <a:ext cx="6350000" cy="6350000"/>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0" y="0"/>
                    </a:moveTo>
                    <a:lnTo>
                      <a:pt x="6350000" y="0"/>
                    </a:lnTo>
                    <a:lnTo>
                      <a:pt x="6350000" y="6350000"/>
                    </a:lnTo>
                    <a:lnTo>
                      <a:pt x="0" y="6350000"/>
                    </a:lnTo>
                    <a:close/>
                  </a:path>
                </a:pathLst>
              </a:custGeom>
              <a:solidFill>
                <a:srgbClr val="0D2946"/>
              </a:solidFill>
              <a:ln w="9525" cap="sq">
                <a:solidFill>
                  <a:srgbClr val="27E7FF"/>
                </a:solidFill>
                <a:prstDash val="solid"/>
                <a:miter/>
              </a:ln>
            </p:spPr>
          </p:sp>
          <p:sp>
            <p:nvSpPr>
              <p:cNvPr name="TextBox 19" id="19"/>
              <p:cNvSpPr txBox="true"/>
              <p:nvPr/>
            </p:nvSpPr>
            <p:spPr>
              <a:xfrm>
                <a:off x="0" y="-38100"/>
                <a:ext cx="6350000" cy="6388100"/>
              </a:xfrm>
              <a:prstGeom prst="rect">
                <a:avLst/>
              </a:prstGeom>
            </p:spPr>
            <p:txBody>
              <a:bodyPr anchor="ctr" rtlCol="false" tIns="50800" lIns="50800" bIns="50800" rIns="50800"/>
              <a:lstStyle/>
              <a:p>
                <a:pPr algn="l">
                  <a:lnSpc>
                    <a:spcPts val="1679"/>
                  </a:lnSpc>
                </a:pPr>
              </a:p>
            </p:txBody>
          </p:sp>
        </p:grpSp>
        <p:sp>
          <p:nvSpPr>
            <p:cNvPr name="Freeform 20" id="20"/>
            <p:cNvSpPr/>
            <p:nvPr/>
          </p:nvSpPr>
          <p:spPr>
            <a:xfrm flipH="false" flipV="false" rot="0">
              <a:off x="190500" y="190500"/>
              <a:ext cx="5969000" cy="5969000"/>
            </a:xfrm>
            <a:custGeom>
              <a:avLst/>
              <a:gdLst/>
              <a:ahLst/>
              <a:cxnLst/>
              <a:rect r="r" b="b" t="t" l="l"/>
              <a:pathLst>
                <a:path h="5969000" w="5969000">
                  <a:moveTo>
                    <a:pt x="0" y="0"/>
                  </a:moveTo>
                  <a:lnTo>
                    <a:pt x="5969000" y="0"/>
                  </a:lnTo>
                  <a:lnTo>
                    <a:pt x="5969000" y="5969000"/>
                  </a:lnTo>
                  <a:lnTo>
                    <a:pt x="0" y="5969000"/>
                  </a:lnTo>
                  <a:lnTo>
                    <a:pt x="0" y="0"/>
                  </a:lnTo>
                  <a:close/>
                </a:path>
              </a:pathLst>
            </a:custGeom>
            <a:blipFill>
              <a:blip r:embed="rId2"/>
              <a:stretch>
                <a:fillRect l="0" t="0" r="0" b="0"/>
              </a:stretch>
            </a:blipFill>
            <a:ln cap="sq">
              <a:noFill/>
              <a:prstDash val="solid"/>
              <a:miter/>
            </a:ln>
          </p:spPr>
        </p:sp>
        <p:grpSp>
          <p:nvGrpSpPr>
            <p:cNvPr name="Group 21" id="21"/>
            <p:cNvGrpSpPr/>
            <p:nvPr/>
          </p:nvGrpSpPr>
          <p:grpSpPr>
            <a:xfrm rot="0">
              <a:off x="0" y="6731000"/>
              <a:ext cx="6350000" cy="1714500"/>
              <a:chOff x="0" y="0"/>
              <a:chExt cx="6350000" cy="1714500"/>
            </a:xfrm>
          </p:grpSpPr>
          <p:sp>
            <p:nvSpPr>
              <p:cNvPr name="Freeform 22" id="22"/>
              <p:cNvSpPr/>
              <p:nvPr/>
            </p:nvSpPr>
            <p:spPr>
              <a:xfrm flipH="false" flipV="false" rot="0">
                <a:off x="0" y="0"/>
                <a:ext cx="6350000" cy="1714500"/>
              </a:xfrm>
              <a:custGeom>
                <a:avLst/>
                <a:gdLst/>
                <a:ahLst/>
                <a:cxnLst/>
                <a:rect r="r" b="b" t="t" l="l"/>
                <a:pathLst>
                  <a:path h="1714500" w="6350000">
                    <a:moveTo>
                      <a:pt x="0" y="0"/>
                    </a:moveTo>
                    <a:lnTo>
                      <a:pt x="6350000" y="0"/>
                    </a:lnTo>
                    <a:lnTo>
                      <a:pt x="6350000" y="1714500"/>
                    </a:lnTo>
                    <a:lnTo>
                      <a:pt x="0" y="1714500"/>
                    </a:lnTo>
                    <a:close/>
                  </a:path>
                </a:pathLst>
              </a:custGeom>
              <a:solidFill>
                <a:srgbClr val="0B223B"/>
              </a:solidFill>
              <a:ln w="9525" cap="sq">
                <a:solidFill>
                  <a:srgbClr val="1B5873"/>
                </a:solidFill>
                <a:prstDash val="solid"/>
                <a:miter/>
              </a:ln>
            </p:spPr>
          </p:sp>
          <p:sp>
            <p:nvSpPr>
              <p:cNvPr name="TextBox 23" id="23"/>
              <p:cNvSpPr txBox="true"/>
              <p:nvPr/>
            </p:nvSpPr>
            <p:spPr>
              <a:xfrm>
                <a:off x="0" y="-38100"/>
                <a:ext cx="6350000" cy="1752600"/>
              </a:xfrm>
              <a:prstGeom prst="rect">
                <a:avLst/>
              </a:prstGeom>
            </p:spPr>
            <p:txBody>
              <a:bodyPr anchor="ctr" rtlCol="false" tIns="50800" lIns="50800" bIns="50800" rIns="50800"/>
              <a:lstStyle/>
              <a:p>
                <a:pPr algn="l">
                  <a:lnSpc>
                    <a:spcPts val="1679"/>
                  </a:lnSpc>
                </a:pPr>
              </a:p>
            </p:txBody>
          </p:sp>
        </p:grpSp>
      </p:grpSp>
      <p:sp>
        <p:nvSpPr>
          <p:cNvPr name="TextBox 24" id="24"/>
          <p:cNvSpPr txBox="true"/>
          <p:nvPr/>
        </p:nvSpPr>
        <p:spPr>
          <a:xfrm rot="0">
            <a:off x="12573000" y="7791450"/>
            <a:ext cx="4000500" cy="569595"/>
          </a:xfrm>
          <a:prstGeom prst="rect">
            <a:avLst/>
          </a:prstGeom>
        </p:spPr>
        <p:txBody>
          <a:bodyPr anchor="t" rtlCol="false" tIns="0" lIns="0" bIns="0" rIns="0">
            <a:spAutoFit/>
          </a:bodyPr>
          <a:lstStyle/>
          <a:p>
            <a:pPr algn="l">
              <a:lnSpc>
                <a:spcPts val="2250"/>
              </a:lnSpc>
            </a:pPr>
            <a:r>
              <a:rPr lang="en-US" sz="1800">
                <a:solidFill>
                  <a:srgbClr val="F4FBFF"/>
                </a:solidFill>
                <a:latin typeface="Rajdhani"/>
                <a:ea typeface="Rajdhani"/>
                <a:cs typeface="Rajdhani"/>
                <a:sym typeface="Rajdhani"/>
              </a:rPr>
              <a:t>AI-assisted review creates a consistent quality gate before sprint planning.</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061426"/>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PROJECT OBJECTIVES</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03</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0" id="10"/>
          <p:cNvGrpSpPr/>
          <p:nvPr/>
        </p:nvGrpSpPr>
        <p:grpSpPr>
          <a:xfrm rot="0">
            <a:off x="876300" y="2143125"/>
            <a:ext cx="7810500" cy="1428750"/>
            <a:chOff x="0" y="0"/>
            <a:chExt cx="10414000" cy="1905000"/>
          </a:xfrm>
        </p:grpSpPr>
        <p:grpSp>
          <p:nvGrpSpPr>
            <p:cNvPr name="Group 11" id="11"/>
            <p:cNvGrpSpPr/>
            <p:nvPr/>
          </p:nvGrpSpPr>
          <p:grpSpPr>
            <a:xfrm rot="0">
              <a:off x="0" y="0"/>
              <a:ext cx="10414000" cy="1905000"/>
              <a:chOff x="0" y="0"/>
              <a:chExt cx="10414000" cy="1905000"/>
            </a:xfrm>
          </p:grpSpPr>
          <p:sp>
            <p:nvSpPr>
              <p:cNvPr name="Freeform 12" id="12"/>
              <p:cNvSpPr/>
              <p:nvPr/>
            </p:nvSpPr>
            <p:spPr>
              <a:xfrm flipH="false" flipV="false" rot="0">
                <a:off x="0" y="0"/>
                <a:ext cx="10414000" cy="1905000"/>
              </a:xfrm>
              <a:custGeom>
                <a:avLst/>
                <a:gdLst/>
                <a:ahLst/>
                <a:cxnLst/>
                <a:rect r="r" b="b" t="t" l="l"/>
                <a:pathLst>
                  <a:path h="1905000" w="10414000">
                    <a:moveTo>
                      <a:pt x="0" y="0"/>
                    </a:moveTo>
                    <a:lnTo>
                      <a:pt x="10414000" y="0"/>
                    </a:lnTo>
                    <a:lnTo>
                      <a:pt x="10414000" y="1905000"/>
                    </a:lnTo>
                    <a:lnTo>
                      <a:pt x="0" y="1905000"/>
                    </a:lnTo>
                    <a:close/>
                  </a:path>
                </a:pathLst>
              </a:custGeom>
              <a:solidFill>
                <a:srgbClr val="0D2946"/>
              </a:solidFill>
              <a:ln w="9525" cap="sq">
                <a:solidFill>
                  <a:srgbClr val="1B5873"/>
                </a:solidFill>
                <a:prstDash val="solid"/>
                <a:miter/>
              </a:ln>
            </p:spPr>
          </p:sp>
          <p:sp>
            <p:nvSpPr>
              <p:cNvPr name="TextBox 13" id="13"/>
              <p:cNvSpPr txBox="true"/>
              <p:nvPr/>
            </p:nvSpPr>
            <p:spPr>
              <a:xfrm>
                <a:off x="0" y="-38100"/>
                <a:ext cx="10414000" cy="1943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355600" y="317500"/>
              <a:ext cx="1143000" cy="548640"/>
            </a:xfrm>
            <a:prstGeom prst="rect">
              <a:avLst/>
            </a:prstGeom>
          </p:spPr>
          <p:txBody>
            <a:bodyPr anchor="t" rtlCol="false" tIns="0" lIns="0" bIns="0" rIns="0">
              <a:spAutoFit/>
            </a:bodyPr>
            <a:lstStyle/>
            <a:p>
              <a:pPr algn="l">
                <a:lnSpc>
                  <a:spcPts val="3569"/>
                </a:lnSpc>
              </a:pPr>
              <a:r>
                <a:rPr lang="en-US" sz="2550" b="true">
                  <a:solidFill>
                    <a:srgbClr val="27E7FF"/>
                  </a:solidFill>
                  <a:latin typeface="IBM Plex Mono Bold"/>
                  <a:ea typeface="IBM Plex Mono Bold"/>
                  <a:cs typeface="IBM Plex Mono Bold"/>
                  <a:sym typeface="IBM Plex Mono Bold"/>
                </a:rPr>
                <a:t>01</a:t>
              </a:r>
            </a:p>
          </p:txBody>
        </p:sp>
        <p:sp>
          <p:nvSpPr>
            <p:cNvPr name="TextBox 15" id="15"/>
            <p:cNvSpPr txBox="true"/>
            <p:nvPr/>
          </p:nvSpPr>
          <p:spPr>
            <a:xfrm rot="0">
              <a:off x="1651000" y="406400"/>
              <a:ext cx="7937500" cy="406400"/>
            </a:xfrm>
            <a:prstGeom prst="rect">
              <a:avLst/>
            </a:prstGeom>
          </p:spPr>
          <p:txBody>
            <a:bodyPr anchor="t" rtlCol="false" tIns="0" lIns="0" bIns="0" rIns="0">
              <a:spAutoFit/>
            </a:bodyPr>
            <a:lstStyle/>
            <a:p>
              <a:pPr algn="l">
                <a:lnSpc>
                  <a:spcPts val="2430"/>
                </a:lnSpc>
              </a:pPr>
              <a:r>
                <a:rPr lang="en-US" sz="2025" b="true">
                  <a:solidFill>
                    <a:srgbClr val="F4FBFF"/>
                  </a:solidFill>
                  <a:latin typeface="Rajdhani Bold"/>
                  <a:ea typeface="Rajdhani Bold"/>
                  <a:cs typeface="Rajdhani Bold"/>
                  <a:sym typeface="Rajdhani Bold"/>
                </a:rPr>
                <a:t>Analyze Agile user stories using AI.</a:t>
              </a:r>
            </a:p>
          </p:txBody>
        </p:sp>
      </p:grpSp>
      <p:grpSp>
        <p:nvGrpSpPr>
          <p:cNvPr name="Group 16" id="16"/>
          <p:cNvGrpSpPr/>
          <p:nvPr/>
        </p:nvGrpSpPr>
        <p:grpSpPr>
          <a:xfrm rot="0">
            <a:off x="9163050" y="2143125"/>
            <a:ext cx="7810500" cy="1428750"/>
            <a:chOff x="0" y="0"/>
            <a:chExt cx="10414000" cy="1905000"/>
          </a:xfrm>
        </p:grpSpPr>
        <p:grpSp>
          <p:nvGrpSpPr>
            <p:cNvPr name="Group 17" id="17"/>
            <p:cNvGrpSpPr/>
            <p:nvPr/>
          </p:nvGrpSpPr>
          <p:grpSpPr>
            <a:xfrm rot="0">
              <a:off x="0" y="0"/>
              <a:ext cx="10414000" cy="1905000"/>
              <a:chOff x="0" y="0"/>
              <a:chExt cx="10414000" cy="1905000"/>
            </a:xfrm>
          </p:grpSpPr>
          <p:sp>
            <p:nvSpPr>
              <p:cNvPr name="Freeform 18" id="18"/>
              <p:cNvSpPr/>
              <p:nvPr/>
            </p:nvSpPr>
            <p:spPr>
              <a:xfrm flipH="false" flipV="false" rot="0">
                <a:off x="0" y="0"/>
                <a:ext cx="10414000" cy="1905000"/>
              </a:xfrm>
              <a:custGeom>
                <a:avLst/>
                <a:gdLst/>
                <a:ahLst/>
                <a:cxnLst/>
                <a:rect r="r" b="b" t="t" l="l"/>
                <a:pathLst>
                  <a:path h="1905000" w="10414000">
                    <a:moveTo>
                      <a:pt x="0" y="0"/>
                    </a:moveTo>
                    <a:lnTo>
                      <a:pt x="10414000" y="0"/>
                    </a:lnTo>
                    <a:lnTo>
                      <a:pt x="10414000" y="1905000"/>
                    </a:lnTo>
                    <a:lnTo>
                      <a:pt x="0" y="1905000"/>
                    </a:lnTo>
                    <a:close/>
                  </a:path>
                </a:pathLst>
              </a:custGeom>
              <a:solidFill>
                <a:srgbClr val="0B223B"/>
              </a:solidFill>
              <a:ln w="9525" cap="sq">
                <a:solidFill>
                  <a:srgbClr val="1B5873"/>
                </a:solidFill>
                <a:prstDash val="solid"/>
                <a:miter/>
              </a:ln>
            </p:spPr>
          </p:sp>
          <p:sp>
            <p:nvSpPr>
              <p:cNvPr name="TextBox 19" id="19"/>
              <p:cNvSpPr txBox="true"/>
              <p:nvPr/>
            </p:nvSpPr>
            <p:spPr>
              <a:xfrm>
                <a:off x="0" y="-38100"/>
                <a:ext cx="10414000" cy="1943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355600" y="317500"/>
              <a:ext cx="1143000" cy="548640"/>
            </a:xfrm>
            <a:prstGeom prst="rect">
              <a:avLst/>
            </a:prstGeom>
          </p:spPr>
          <p:txBody>
            <a:bodyPr anchor="t" rtlCol="false" tIns="0" lIns="0" bIns="0" rIns="0">
              <a:spAutoFit/>
            </a:bodyPr>
            <a:lstStyle/>
            <a:p>
              <a:pPr algn="l">
                <a:lnSpc>
                  <a:spcPts val="3569"/>
                </a:lnSpc>
              </a:pPr>
              <a:r>
                <a:rPr lang="en-US" sz="2550" b="true">
                  <a:solidFill>
                    <a:srgbClr val="27E7FF"/>
                  </a:solidFill>
                  <a:latin typeface="IBM Plex Mono Bold"/>
                  <a:ea typeface="IBM Plex Mono Bold"/>
                  <a:cs typeface="IBM Plex Mono Bold"/>
                  <a:sym typeface="IBM Plex Mono Bold"/>
                </a:rPr>
                <a:t>02</a:t>
              </a:r>
            </a:p>
          </p:txBody>
        </p:sp>
        <p:sp>
          <p:nvSpPr>
            <p:cNvPr name="TextBox 21" id="21"/>
            <p:cNvSpPr txBox="true"/>
            <p:nvPr/>
          </p:nvSpPr>
          <p:spPr>
            <a:xfrm rot="0">
              <a:off x="1651000" y="406400"/>
              <a:ext cx="7937500" cy="406400"/>
            </a:xfrm>
            <a:prstGeom prst="rect">
              <a:avLst/>
            </a:prstGeom>
          </p:spPr>
          <p:txBody>
            <a:bodyPr anchor="t" rtlCol="false" tIns="0" lIns="0" bIns="0" rIns="0">
              <a:spAutoFit/>
            </a:bodyPr>
            <a:lstStyle/>
            <a:p>
              <a:pPr algn="l">
                <a:lnSpc>
                  <a:spcPts val="2430"/>
                </a:lnSpc>
              </a:pPr>
              <a:r>
                <a:rPr lang="en-US" sz="2025" b="true">
                  <a:solidFill>
                    <a:srgbClr val="F4FBFF"/>
                  </a:solidFill>
                  <a:latin typeface="Rajdhani Bold"/>
                  <a:ea typeface="Rajdhani Bold"/>
                  <a:cs typeface="Rajdhani Bold"/>
                  <a:sym typeface="Rajdhani Bold"/>
                </a:rPr>
                <a:t>Detect ambiguity and incomplete requirements.</a:t>
              </a:r>
            </a:p>
          </p:txBody>
        </p:sp>
      </p:grpSp>
      <p:grpSp>
        <p:nvGrpSpPr>
          <p:cNvPr name="Group 22" id="22"/>
          <p:cNvGrpSpPr/>
          <p:nvPr/>
        </p:nvGrpSpPr>
        <p:grpSpPr>
          <a:xfrm rot="0">
            <a:off x="876300" y="3933825"/>
            <a:ext cx="7810500" cy="1428750"/>
            <a:chOff x="0" y="0"/>
            <a:chExt cx="10414000" cy="1905000"/>
          </a:xfrm>
        </p:grpSpPr>
        <p:grpSp>
          <p:nvGrpSpPr>
            <p:cNvPr name="Group 23" id="23"/>
            <p:cNvGrpSpPr/>
            <p:nvPr/>
          </p:nvGrpSpPr>
          <p:grpSpPr>
            <a:xfrm rot="0">
              <a:off x="0" y="0"/>
              <a:ext cx="10414000" cy="1905000"/>
              <a:chOff x="0" y="0"/>
              <a:chExt cx="10414000" cy="1905000"/>
            </a:xfrm>
          </p:grpSpPr>
          <p:sp>
            <p:nvSpPr>
              <p:cNvPr name="Freeform 24" id="24"/>
              <p:cNvSpPr/>
              <p:nvPr/>
            </p:nvSpPr>
            <p:spPr>
              <a:xfrm flipH="false" flipV="false" rot="0">
                <a:off x="0" y="0"/>
                <a:ext cx="10414000" cy="1905000"/>
              </a:xfrm>
              <a:custGeom>
                <a:avLst/>
                <a:gdLst/>
                <a:ahLst/>
                <a:cxnLst/>
                <a:rect r="r" b="b" t="t" l="l"/>
                <a:pathLst>
                  <a:path h="1905000" w="10414000">
                    <a:moveTo>
                      <a:pt x="0" y="0"/>
                    </a:moveTo>
                    <a:lnTo>
                      <a:pt x="10414000" y="0"/>
                    </a:lnTo>
                    <a:lnTo>
                      <a:pt x="10414000" y="1905000"/>
                    </a:lnTo>
                    <a:lnTo>
                      <a:pt x="0" y="1905000"/>
                    </a:lnTo>
                    <a:close/>
                  </a:path>
                </a:pathLst>
              </a:custGeom>
              <a:solidFill>
                <a:srgbClr val="0D2946"/>
              </a:solidFill>
              <a:ln w="9525" cap="sq">
                <a:solidFill>
                  <a:srgbClr val="1B5873"/>
                </a:solidFill>
                <a:prstDash val="solid"/>
                <a:miter/>
              </a:ln>
            </p:spPr>
          </p:sp>
          <p:sp>
            <p:nvSpPr>
              <p:cNvPr name="TextBox 25" id="25"/>
              <p:cNvSpPr txBox="true"/>
              <p:nvPr/>
            </p:nvSpPr>
            <p:spPr>
              <a:xfrm>
                <a:off x="0" y="-38100"/>
                <a:ext cx="10414000" cy="19431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355600" y="317500"/>
              <a:ext cx="1143000" cy="548640"/>
            </a:xfrm>
            <a:prstGeom prst="rect">
              <a:avLst/>
            </a:prstGeom>
          </p:spPr>
          <p:txBody>
            <a:bodyPr anchor="t" rtlCol="false" tIns="0" lIns="0" bIns="0" rIns="0">
              <a:spAutoFit/>
            </a:bodyPr>
            <a:lstStyle/>
            <a:p>
              <a:pPr algn="l">
                <a:lnSpc>
                  <a:spcPts val="3569"/>
                </a:lnSpc>
              </a:pPr>
              <a:r>
                <a:rPr lang="en-US" sz="2550" b="true">
                  <a:solidFill>
                    <a:srgbClr val="27E7FF"/>
                  </a:solidFill>
                  <a:latin typeface="IBM Plex Mono Bold"/>
                  <a:ea typeface="IBM Plex Mono Bold"/>
                  <a:cs typeface="IBM Plex Mono Bold"/>
                  <a:sym typeface="IBM Plex Mono Bold"/>
                </a:rPr>
                <a:t>03</a:t>
              </a:r>
            </a:p>
          </p:txBody>
        </p:sp>
        <p:sp>
          <p:nvSpPr>
            <p:cNvPr name="TextBox 27" id="27"/>
            <p:cNvSpPr txBox="true"/>
            <p:nvPr/>
          </p:nvSpPr>
          <p:spPr>
            <a:xfrm rot="0">
              <a:off x="1651000" y="406400"/>
              <a:ext cx="7937500" cy="406400"/>
            </a:xfrm>
            <a:prstGeom prst="rect">
              <a:avLst/>
            </a:prstGeom>
          </p:spPr>
          <p:txBody>
            <a:bodyPr anchor="t" rtlCol="false" tIns="0" lIns="0" bIns="0" rIns="0">
              <a:spAutoFit/>
            </a:bodyPr>
            <a:lstStyle/>
            <a:p>
              <a:pPr algn="l">
                <a:lnSpc>
                  <a:spcPts val="2430"/>
                </a:lnSpc>
              </a:pPr>
              <a:r>
                <a:rPr lang="en-US" sz="2025" b="true">
                  <a:solidFill>
                    <a:srgbClr val="F4FBFF"/>
                  </a:solidFill>
                  <a:latin typeface="Rajdhani Bold"/>
                  <a:ea typeface="Rajdhani Bold"/>
                  <a:cs typeface="Rajdhani Bold"/>
                  <a:sym typeface="Rajdhani Bold"/>
                </a:rPr>
                <a:t>Generate an improved and clearer user story.</a:t>
              </a:r>
            </a:p>
          </p:txBody>
        </p:sp>
      </p:grpSp>
      <p:grpSp>
        <p:nvGrpSpPr>
          <p:cNvPr name="Group 28" id="28"/>
          <p:cNvGrpSpPr/>
          <p:nvPr/>
        </p:nvGrpSpPr>
        <p:grpSpPr>
          <a:xfrm rot="0">
            <a:off x="9163050" y="3933825"/>
            <a:ext cx="7810500" cy="1428750"/>
            <a:chOff x="0" y="0"/>
            <a:chExt cx="10414000" cy="1905000"/>
          </a:xfrm>
        </p:grpSpPr>
        <p:grpSp>
          <p:nvGrpSpPr>
            <p:cNvPr name="Group 29" id="29"/>
            <p:cNvGrpSpPr/>
            <p:nvPr/>
          </p:nvGrpSpPr>
          <p:grpSpPr>
            <a:xfrm rot="0">
              <a:off x="0" y="0"/>
              <a:ext cx="10414000" cy="1905000"/>
              <a:chOff x="0" y="0"/>
              <a:chExt cx="10414000" cy="1905000"/>
            </a:xfrm>
          </p:grpSpPr>
          <p:sp>
            <p:nvSpPr>
              <p:cNvPr name="Freeform 30" id="30"/>
              <p:cNvSpPr/>
              <p:nvPr/>
            </p:nvSpPr>
            <p:spPr>
              <a:xfrm flipH="false" flipV="false" rot="0">
                <a:off x="0" y="0"/>
                <a:ext cx="10414000" cy="1905000"/>
              </a:xfrm>
              <a:custGeom>
                <a:avLst/>
                <a:gdLst/>
                <a:ahLst/>
                <a:cxnLst/>
                <a:rect r="r" b="b" t="t" l="l"/>
                <a:pathLst>
                  <a:path h="1905000" w="10414000">
                    <a:moveTo>
                      <a:pt x="0" y="0"/>
                    </a:moveTo>
                    <a:lnTo>
                      <a:pt x="10414000" y="0"/>
                    </a:lnTo>
                    <a:lnTo>
                      <a:pt x="10414000" y="1905000"/>
                    </a:lnTo>
                    <a:lnTo>
                      <a:pt x="0" y="1905000"/>
                    </a:lnTo>
                    <a:close/>
                  </a:path>
                </a:pathLst>
              </a:custGeom>
              <a:solidFill>
                <a:srgbClr val="0B223B"/>
              </a:solidFill>
              <a:ln w="9525" cap="sq">
                <a:solidFill>
                  <a:srgbClr val="1B5873"/>
                </a:solidFill>
                <a:prstDash val="solid"/>
                <a:miter/>
              </a:ln>
            </p:spPr>
          </p:sp>
          <p:sp>
            <p:nvSpPr>
              <p:cNvPr name="TextBox 31" id="31"/>
              <p:cNvSpPr txBox="true"/>
              <p:nvPr/>
            </p:nvSpPr>
            <p:spPr>
              <a:xfrm>
                <a:off x="0" y="-38100"/>
                <a:ext cx="10414000" cy="1943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355600" y="317500"/>
              <a:ext cx="1143000" cy="548640"/>
            </a:xfrm>
            <a:prstGeom prst="rect">
              <a:avLst/>
            </a:prstGeom>
          </p:spPr>
          <p:txBody>
            <a:bodyPr anchor="t" rtlCol="false" tIns="0" lIns="0" bIns="0" rIns="0">
              <a:spAutoFit/>
            </a:bodyPr>
            <a:lstStyle/>
            <a:p>
              <a:pPr algn="l">
                <a:lnSpc>
                  <a:spcPts val="3569"/>
                </a:lnSpc>
              </a:pPr>
              <a:r>
                <a:rPr lang="en-US" sz="2550" b="true">
                  <a:solidFill>
                    <a:srgbClr val="27E7FF"/>
                  </a:solidFill>
                  <a:latin typeface="IBM Plex Mono Bold"/>
                  <a:ea typeface="IBM Plex Mono Bold"/>
                  <a:cs typeface="IBM Plex Mono Bold"/>
                  <a:sym typeface="IBM Plex Mono Bold"/>
                </a:rPr>
                <a:t>04</a:t>
              </a:r>
            </a:p>
          </p:txBody>
        </p:sp>
        <p:sp>
          <p:nvSpPr>
            <p:cNvPr name="TextBox 33" id="33"/>
            <p:cNvSpPr txBox="true"/>
            <p:nvPr/>
          </p:nvSpPr>
          <p:spPr>
            <a:xfrm rot="0">
              <a:off x="1651000" y="406400"/>
              <a:ext cx="7937500" cy="406400"/>
            </a:xfrm>
            <a:prstGeom prst="rect">
              <a:avLst/>
            </a:prstGeom>
          </p:spPr>
          <p:txBody>
            <a:bodyPr anchor="t" rtlCol="false" tIns="0" lIns="0" bIns="0" rIns="0">
              <a:spAutoFit/>
            </a:bodyPr>
            <a:lstStyle/>
            <a:p>
              <a:pPr algn="l">
                <a:lnSpc>
                  <a:spcPts val="2430"/>
                </a:lnSpc>
              </a:pPr>
              <a:r>
                <a:rPr lang="en-US" sz="2025" b="true">
                  <a:solidFill>
                    <a:srgbClr val="F4FBFF"/>
                  </a:solidFill>
                  <a:latin typeface="Rajdhani Bold"/>
                  <a:ea typeface="Rajdhani Bold"/>
                  <a:cs typeface="Rajdhani Bold"/>
                  <a:sym typeface="Rajdhani Bold"/>
                </a:rPr>
                <a:t>Automatically generate acceptance criteria.</a:t>
              </a:r>
            </a:p>
          </p:txBody>
        </p:sp>
      </p:grpSp>
      <p:grpSp>
        <p:nvGrpSpPr>
          <p:cNvPr name="Group 34" id="34"/>
          <p:cNvGrpSpPr/>
          <p:nvPr/>
        </p:nvGrpSpPr>
        <p:grpSpPr>
          <a:xfrm rot="0">
            <a:off x="876300" y="5724525"/>
            <a:ext cx="7810500" cy="1428750"/>
            <a:chOff x="0" y="0"/>
            <a:chExt cx="10414000" cy="1905000"/>
          </a:xfrm>
        </p:grpSpPr>
        <p:grpSp>
          <p:nvGrpSpPr>
            <p:cNvPr name="Group 35" id="35"/>
            <p:cNvGrpSpPr/>
            <p:nvPr/>
          </p:nvGrpSpPr>
          <p:grpSpPr>
            <a:xfrm rot="0">
              <a:off x="0" y="0"/>
              <a:ext cx="10414000" cy="1905000"/>
              <a:chOff x="0" y="0"/>
              <a:chExt cx="10414000" cy="1905000"/>
            </a:xfrm>
          </p:grpSpPr>
          <p:sp>
            <p:nvSpPr>
              <p:cNvPr name="Freeform 36" id="36"/>
              <p:cNvSpPr/>
              <p:nvPr/>
            </p:nvSpPr>
            <p:spPr>
              <a:xfrm flipH="false" flipV="false" rot="0">
                <a:off x="0" y="0"/>
                <a:ext cx="10414000" cy="1905000"/>
              </a:xfrm>
              <a:custGeom>
                <a:avLst/>
                <a:gdLst/>
                <a:ahLst/>
                <a:cxnLst/>
                <a:rect r="r" b="b" t="t" l="l"/>
                <a:pathLst>
                  <a:path h="1905000" w="10414000">
                    <a:moveTo>
                      <a:pt x="0" y="0"/>
                    </a:moveTo>
                    <a:lnTo>
                      <a:pt x="10414000" y="0"/>
                    </a:lnTo>
                    <a:lnTo>
                      <a:pt x="10414000" y="1905000"/>
                    </a:lnTo>
                    <a:lnTo>
                      <a:pt x="0" y="1905000"/>
                    </a:lnTo>
                    <a:close/>
                  </a:path>
                </a:pathLst>
              </a:custGeom>
              <a:solidFill>
                <a:srgbClr val="0D2946"/>
              </a:solidFill>
              <a:ln w="9525" cap="sq">
                <a:solidFill>
                  <a:srgbClr val="1B5873"/>
                </a:solidFill>
                <a:prstDash val="solid"/>
                <a:miter/>
              </a:ln>
            </p:spPr>
          </p:sp>
          <p:sp>
            <p:nvSpPr>
              <p:cNvPr name="TextBox 37" id="37"/>
              <p:cNvSpPr txBox="true"/>
              <p:nvPr/>
            </p:nvSpPr>
            <p:spPr>
              <a:xfrm>
                <a:off x="0" y="-38100"/>
                <a:ext cx="10414000" cy="19431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355600" y="317500"/>
              <a:ext cx="1143000" cy="548640"/>
            </a:xfrm>
            <a:prstGeom prst="rect">
              <a:avLst/>
            </a:prstGeom>
          </p:spPr>
          <p:txBody>
            <a:bodyPr anchor="t" rtlCol="false" tIns="0" lIns="0" bIns="0" rIns="0">
              <a:spAutoFit/>
            </a:bodyPr>
            <a:lstStyle/>
            <a:p>
              <a:pPr algn="l">
                <a:lnSpc>
                  <a:spcPts val="3569"/>
                </a:lnSpc>
              </a:pPr>
              <a:r>
                <a:rPr lang="en-US" sz="2550" b="true">
                  <a:solidFill>
                    <a:srgbClr val="27E7FF"/>
                  </a:solidFill>
                  <a:latin typeface="IBM Plex Mono Bold"/>
                  <a:ea typeface="IBM Plex Mono Bold"/>
                  <a:cs typeface="IBM Plex Mono Bold"/>
                  <a:sym typeface="IBM Plex Mono Bold"/>
                </a:rPr>
                <a:t>05</a:t>
              </a:r>
            </a:p>
          </p:txBody>
        </p:sp>
        <p:sp>
          <p:nvSpPr>
            <p:cNvPr name="TextBox 39" id="39"/>
            <p:cNvSpPr txBox="true"/>
            <p:nvPr/>
          </p:nvSpPr>
          <p:spPr>
            <a:xfrm rot="0">
              <a:off x="1651000" y="406400"/>
              <a:ext cx="7937500" cy="406400"/>
            </a:xfrm>
            <a:prstGeom prst="rect">
              <a:avLst/>
            </a:prstGeom>
          </p:spPr>
          <p:txBody>
            <a:bodyPr anchor="t" rtlCol="false" tIns="0" lIns="0" bIns="0" rIns="0">
              <a:spAutoFit/>
            </a:bodyPr>
            <a:lstStyle/>
            <a:p>
              <a:pPr algn="l">
                <a:lnSpc>
                  <a:spcPts val="2430"/>
                </a:lnSpc>
              </a:pPr>
              <a:r>
                <a:rPr lang="en-US" sz="2025" b="true">
                  <a:solidFill>
                    <a:srgbClr val="F4FBFF"/>
                  </a:solidFill>
                  <a:latin typeface="Rajdhani Bold"/>
                  <a:ea typeface="Rajdhani Bold"/>
                  <a:cs typeface="Rajdhani Bold"/>
                  <a:sym typeface="Rajdhani Bold"/>
                </a:rPr>
                <a:t>Recommend story points based on complexity.</a:t>
              </a:r>
            </a:p>
          </p:txBody>
        </p:sp>
      </p:grpSp>
      <p:grpSp>
        <p:nvGrpSpPr>
          <p:cNvPr name="Group 40" id="40"/>
          <p:cNvGrpSpPr/>
          <p:nvPr/>
        </p:nvGrpSpPr>
        <p:grpSpPr>
          <a:xfrm rot="0">
            <a:off x="9163050" y="5724525"/>
            <a:ext cx="7810500" cy="1428750"/>
            <a:chOff x="0" y="0"/>
            <a:chExt cx="10414000" cy="1905000"/>
          </a:xfrm>
        </p:grpSpPr>
        <p:grpSp>
          <p:nvGrpSpPr>
            <p:cNvPr name="Group 41" id="41"/>
            <p:cNvGrpSpPr/>
            <p:nvPr/>
          </p:nvGrpSpPr>
          <p:grpSpPr>
            <a:xfrm rot="0">
              <a:off x="0" y="0"/>
              <a:ext cx="10414000" cy="1905000"/>
              <a:chOff x="0" y="0"/>
              <a:chExt cx="10414000" cy="1905000"/>
            </a:xfrm>
          </p:grpSpPr>
          <p:sp>
            <p:nvSpPr>
              <p:cNvPr name="Freeform 42" id="42"/>
              <p:cNvSpPr/>
              <p:nvPr/>
            </p:nvSpPr>
            <p:spPr>
              <a:xfrm flipH="false" flipV="false" rot="0">
                <a:off x="0" y="0"/>
                <a:ext cx="10414000" cy="1905000"/>
              </a:xfrm>
              <a:custGeom>
                <a:avLst/>
                <a:gdLst/>
                <a:ahLst/>
                <a:cxnLst/>
                <a:rect r="r" b="b" t="t" l="l"/>
                <a:pathLst>
                  <a:path h="1905000" w="10414000">
                    <a:moveTo>
                      <a:pt x="0" y="0"/>
                    </a:moveTo>
                    <a:lnTo>
                      <a:pt x="10414000" y="0"/>
                    </a:lnTo>
                    <a:lnTo>
                      <a:pt x="10414000" y="1905000"/>
                    </a:lnTo>
                    <a:lnTo>
                      <a:pt x="0" y="1905000"/>
                    </a:lnTo>
                    <a:close/>
                  </a:path>
                </a:pathLst>
              </a:custGeom>
              <a:solidFill>
                <a:srgbClr val="0B223B"/>
              </a:solidFill>
              <a:ln w="9525" cap="sq">
                <a:solidFill>
                  <a:srgbClr val="1B5873"/>
                </a:solidFill>
                <a:prstDash val="solid"/>
                <a:miter/>
              </a:ln>
            </p:spPr>
          </p:sp>
          <p:sp>
            <p:nvSpPr>
              <p:cNvPr name="TextBox 43" id="43"/>
              <p:cNvSpPr txBox="true"/>
              <p:nvPr/>
            </p:nvSpPr>
            <p:spPr>
              <a:xfrm>
                <a:off x="0" y="-38100"/>
                <a:ext cx="10414000" cy="1943100"/>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355600" y="317500"/>
              <a:ext cx="1143000" cy="548640"/>
            </a:xfrm>
            <a:prstGeom prst="rect">
              <a:avLst/>
            </a:prstGeom>
          </p:spPr>
          <p:txBody>
            <a:bodyPr anchor="t" rtlCol="false" tIns="0" lIns="0" bIns="0" rIns="0">
              <a:spAutoFit/>
            </a:bodyPr>
            <a:lstStyle/>
            <a:p>
              <a:pPr algn="l">
                <a:lnSpc>
                  <a:spcPts val="3569"/>
                </a:lnSpc>
              </a:pPr>
              <a:r>
                <a:rPr lang="en-US" sz="2550" b="true">
                  <a:solidFill>
                    <a:srgbClr val="27E7FF"/>
                  </a:solidFill>
                  <a:latin typeface="IBM Plex Mono Bold"/>
                  <a:ea typeface="IBM Plex Mono Bold"/>
                  <a:cs typeface="IBM Plex Mono Bold"/>
                  <a:sym typeface="IBM Plex Mono Bold"/>
                </a:rPr>
                <a:t>06</a:t>
              </a:r>
            </a:p>
          </p:txBody>
        </p:sp>
        <p:sp>
          <p:nvSpPr>
            <p:cNvPr name="TextBox 45" id="45"/>
            <p:cNvSpPr txBox="true"/>
            <p:nvPr/>
          </p:nvSpPr>
          <p:spPr>
            <a:xfrm rot="0">
              <a:off x="1651000" y="406400"/>
              <a:ext cx="7937500" cy="406400"/>
            </a:xfrm>
            <a:prstGeom prst="rect">
              <a:avLst/>
            </a:prstGeom>
          </p:spPr>
          <p:txBody>
            <a:bodyPr anchor="t" rtlCol="false" tIns="0" lIns="0" bIns="0" rIns="0">
              <a:spAutoFit/>
            </a:bodyPr>
            <a:lstStyle/>
            <a:p>
              <a:pPr algn="l">
                <a:lnSpc>
                  <a:spcPts val="2430"/>
                </a:lnSpc>
              </a:pPr>
              <a:r>
                <a:rPr lang="en-US" sz="2025" b="true">
                  <a:solidFill>
                    <a:srgbClr val="F4FBFF"/>
                  </a:solidFill>
                  <a:latin typeface="Rajdhani Bold"/>
                  <a:ea typeface="Rajdhani Bold"/>
                  <a:cs typeface="Rajdhani Bold"/>
                  <a:sym typeface="Rajdhani Bold"/>
                </a:rPr>
                <a:t>Identify the risk level of a user story.</a:t>
              </a:r>
            </a:p>
          </p:txBody>
        </p:sp>
      </p:grpSp>
      <p:grpSp>
        <p:nvGrpSpPr>
          <p:cNvPr name="Group 46" id="46"/>
          <p:cNvGrpSpPr/>
          <p:nvPr/>
        </p:nvGrpSpPr>
        <p:grpSpPr>
          <a:xfrm rot="0">
            <a:off x="876300" y="7515225"/>
            <a:ext cx="7810500" cy="1428750"/>
            <a:chOff x="0" y="0"/>
            <a:chExt cx="10414000" cy="1905000"/>
          </a:xfrm>
        </p:grpSpPr>
        <p:grpSp>
          <p:nvGrpSpPr>
            <p:cNvPr name="Group 47" id="47"/>
            <p:cNvGrpSpPr/>
            <p:nvPr/>
          </p:nvGrpSpPr>
          <p:grpSpPr>
            <a:xfrm rot="0">
              <a:off x="0" y="0"/>
              <a:ext cx="10414000" cy="1905000"/>
              <a:chOff x="0" y="0"/>
              <a:chExt cx="10414000" cy="1905000"/>
            </a:xfrm>
          </p:grpSpPr>
          <p:sp>
            <p:nvSpPr>
              <p:cNvPr name="Freeform 48" id="48"/>
              <p:cNvSpPr/>
              <p:nvPr/>
            </p:nvSpPr>
            <p:spPr>
              <a:xfrm flipH="false" flipV="false" rot="0">
                <a:off x="0" y="0"/>
                <a:ext cx="10414000" cy="1905000"/>
              </a:xfrm>
              <a:custGeom>
                <a:avLst/>
                <a:gdLst/>
                <a:ahLst/>
                <a:cxnLst/>
                <a:rect r="r" b="b" t="t" l="l"/>
                <a:pathLst>
                  <a:path h="1905000" w="10414000">
                    <a:moveTo>
                      <a:pt x="0" y="0"/>
                    </a:moveTo>
                    <a:lnTo>
                      <a:pt x="10414000" y="0"/>
                    </a:lnTo>
                    <a:lnTo>
                      <a:pt x="10414000" y="1905000"/>
                    </a:lnTo>
                    <a:lnTo>
                      <a:pt x="0" y="1905000"/>
                    </a:lnTo>
                    <a:close/>
                  </a:path>
                </a:pathLst>
              </a:custGeom>
              <a:solidFill>
                <a:srgbClr val="0D2946"/>
              </a:solidFill>
              <a:ln w="9525" cap="sq">
                <a:solidFill>
                  <a:srgbClr val="1B5873"/>
                </a:solidFill>
                <a:prstDash val="solid"/>
                <a:miter/>
              </a:ln>
            </p:spPr>
          </p:sp>
          <p:sp>
            <p:nvSpPr>
              <p:cNvPr name="TextBox 49" id="49"/>
              <p:cNvSpPr txBox="true"/>
              <p:nvPr/>
            </p:nvSpPr>
            <p:spPr>
              <a:xfrm>
                <a:off x="0" y="-38100"/>
                <a:ext cx="10414000" cy="19431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355600" y="317500"/>
              <a:ext cx="1143000" cy="548640"/>
            </a:xfrm>
            <a:prstGeom prst="rect">
              <a:avLst/>
            </a:prstGeom>
          </p:spPr>
          <p:txBody>
            <a:bodyPr anchor="t" rtlCol="false" tIns="0" lIns="0" bIns="0" rIns="0">
              <a:spAutoFit/>
            </a:bodyPr>
            <a:lstStyle/>
            <a:p>
              <a:pPr algn="l">
                <a:lnSpc>
                  <a:spcPts val="3569"/>
                </a:lnSpc>
              </a:pPr>
              <a:r>
                <a:rPr lang="en-US" sz="2550" b="true">
                  <a:solidFill>
                    <a:srgbClr val="27E7FF"/>
                  </a:solidFill>
                  <a:latin typeface="IBM Plex Mono Bold"/>
                  <a:ea typeface="IBM Plex Mono Bold"/>
                  <a:cs typeface="IBM Plex Mono Bold"/>
                  <a:sym typeface="IBM Plex Mono Bold"/>
                </a:rPr>
                <a:t>07</a:t>
              </a:r>
            </a:p>
          </p:txBody>
        </p:sp>
        <p:sp>
          <p:nvSpPr>
            <p:cNvPr name="TextBox 51" id="51"/>
            <p:cNvSpPr txBox="true"/>
            <p:nvPr/>
          </p:nvSpPr>
          <p:spPr>
            <a:xfrm rot="0">
              <a:off x="1651000" y="406400"/>
              <a:ext cx="7937500" cy="406400"/>
            </a:xfrm>
            <a:prstGeom prst="rect">
              <a:avLst/>
            </a:prstGeom>
          </p:spPr>
          <p:txBody>
            <a:bodyPr anchor="t" rtlCol="false" tIns="0" lIns="0" bIns="0" rIns="0">
              <a:spAutoFit/>
            </a:bodyPr>
            <a:lstStyle/>
            <a:p>
              <a:pPr algn="l">
                <a:lnSpc>
                  <a:spcPts val="2430"/>
                </a:lnSpc>
              </a:pPr>
              <a:r>
                <a:rPr lang="en-US" sz="2025" b="true">
                  <a:solidFill>
                    <a:srgbClr val="F4FBFF"/>
                  </a:solidFill>
                  <a:latin typeface="Rajdhani Bold"/>
                  <a:ea typeface="Rajdhani Bold"/>
                  <a:cs typeface="Rajdhani Bold"/>
                  <a:sym typeface="Rajdhani Bold"/>
                </a:rPr>
                <a:t>Store analyzed stories in an Agile backlog.</a:t>
              </a:r>
            </a:p>
          </p:txBody>
        </p:sp>
      </p:grpSp>
      <p:grpSp>
        <p:nvGrpSpPr>
          <p:cNvPr name="Group 52" id="52"/>
          <p:cNvGrpSpPr/>
          <p:nvPr/>
        </p:nvGrpSpPr>
        <p:grpSpPr>
          <a:xfrm rot="0">
            <a:off x="9163050" y="7515225"/>
            <a:ext cx="7810500" cy="1428750"/>
            <a:chOff x="0" y="0"/>
            <a:chExt cx="10414000" cy="1905000"/>
          </a:xfrm>
        </p:grpSpPr>
        <p:grpSp>
          <p:nvGrpSpPr>
            <p:cNvPr name="Group 53" id="53"/>
            <p:cNvGrpSpPr/>
            <p:nvPr/>
          </p:nvGrpSpPr>
          <p:grpSpPr>
            <a:xfrm rot="0">
              <a:off x="0" y="0"/>
              <a:ext cx="10414000" cy="1905000"/>
              <a:chOff x="0" y="0"/>
              <a:chExt cx="10414000" cy="1905000"/>
            </a:xfrm>
          </p:grpSpPr>
          <p:sp>
            <p:nvSpPr>
              <p:cNvPr name="Freeform 54" id="54"/>
              <p:cNvSpPr/>
              <p:nvPr/>
            </p:nvSpPr>
            <p:spPr>
              <a:xfrm flipH="false" flipV="false" rot="0">
                <a:off x="0" y="0"/>
                <a:ext cx="10414000" cy="1905000"/>
              </a:xfrm>
              <a:custGeom>
                <a:avLst/>
                <a:gdLst/>
                <a:ahLst/>
                <a:cxnLst/>
                <a:rect r="r" b="b" t="t" l="l"/>
                <a:pathLst>
                  <a:path h="1905000" w="10414000">
                    <a:moveTo>
                      <a:pt x="0" y="0"/>
                    </a:moveTo>
                    <a:lnTo>
                      <a:pt x="10414000" y="0"/>
                    </a:lnTo>
                    <a:lnTo>
                      <a:pt x="10414000" y="1905000"/>
                    </a:lnTo>
                    <a:lnTo>
                      <a:pt x="0" y="1905000"/>
                    </a:lnTo>
                    <a:close/>
                  </a:path>
                </a:pathLst>
              </a:custGeom>
              <a:solidFill>
                <a:srgbClr val="0B223B"/>
              </a:solidFill>
              <a:ln w="9525" cap="sq">
                <a:solidFill>
                  <a:srgbClr val="1B5873"/>
                </a:solidFill>
                <a:prstDash val="solid"/>
                <a:miter/>
              </a:ln>
            </p:spPr>
          </p:sp>
          <p:sp>
            <p:nvSpPr>
              <p:cNvPr name="TextBox 55" id="55"/>
              <p:cNvSpPr txBox="true"/>
              <p:nvPr/>
            </p:nvSpPr>
            <p:spPr>
              <a:xfrm>
                <a:off x="0" y="-38100"/>
                <a:ext cx="10414000" cy="1943100"/>
              </a:xfrm>
              <a:prstGeom prst="rect">
                <a:avLst/>
              </a:prstGeom>
            </p:spPr>
            <p:txBody>
              <a:bodyPr anchor="ctr" rtlCol="false" tIns="50800" lIns="50800" bIns="50800" rIns="50800"/>
              <a:lstStyle/>
              <a:p>
                <a:pPr algn="l">
                  <a:lnSpc>
                    <a:spcPts val="1679"/>
                  </a:lnSpc>
                </a:pPr>
              </a:p>
            </p:txBody>
          </p:sp>
        </p:grpSp>
        <p:sp>
          <p:nvSpPr>
            <p:cNvPr name="TextBox 56" id="56"/>
            <p:cNvSpPr txBox="true"/>
            <p:nvPr/>
          </p:nvSpPr>
          <p:spPr>
            <a:xfrm rot="0">
              <a:off x="355600" y="317500"/>
              <a:ext cx="1143000" cy="548640"/>
            </a:xfrm>
            <a:prstGeom prst="rect">
              <a:avLst/>
            </a:prstGeom>
          </p:spPr>
          <p:txBody>
            <a:bodyPr anchor="t" rtlCol="false" tIns="0" lIns="0" bIns="0" rIns="0">
              <a:spAutoFit/>
            </a:bodyPr>
            <a:lstStyle/>
            <a:p>
              <a:pPr algn="l">
                <a:lnSpc>
                  <a:spcPts val="3569"/>
                </a:lnSpc>
              </a:pPr>
              <a:r>
                <a:rPr lang="en-US" sz="2550" b="true">
                  <a:solidFill>
                    <a:srgbClr val="27E7FF"/>
                  </a:solidFill>
                  <a:latin typeface="IBM Plex Mono Bold"/>
                  <a:ea typeface="IBM Plex Mono Bold"/>
                  <a:cs typeface="IBM Plex Mono Bold"/>
                  <a:sym typeface="IBM Plex Mono Bold"/>
                </a:rPr>
                <a:t>08</a:t>
              </a:r>
            </a:p>
          </p:txBody>
        </p:sp>
        <p:sp>
          <p:nvSpPr>
            <p:cNvPr name="TextBox 57" id="57"/>
            <p:cNvSpPr txBox="true"/>
            <p:nvPr/>
          </p:nvSpPr>
          <p:spPr>
            <a:xfrm rot="0">
              <a:off x="1651000" y="406400"/>
              <a:ext cx="7937500" cy="406400"/>
            </a:xfrm>
            <a:prstGeom prst="rect">
              <a:avLst/>
            </a:prstGeom>
          </p:spPr>
          <p:txBody>
            <a:bodyPr anchor="t" rtlCol="false" tIns="0" lIns="0" bIns="0" rIns="0">
              <a:spAutoFit/>
            </a:bodyPr>
            <a:lstStyle/>
            <a:p>
              <a:pPr algn="l">
                <a:lnSpc>
                  <a:spcPts val="2430"/>
                </a:lnSpc>
              </a:pPr>
              <a:r>
                <a:rPr lang="en-US" sz="2025" b="true">
                  <a:solidFill>
                    <a:srgbClr val="F4FBFF"/>
                  </a:solidFill>
                  <a:latin typeface="Rajdhani Bold"/>
                  <a:ea typeface="Rajdhani Bold"/>
                  <a:cs typeface="Rajdhani Bold"/>
                  <a:sym typeface="Rajdhani Bold"/>
                </a:rPr>
                <a:t>Support better backlog grooming and sprint planning.</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07182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EXISTING SYSTEM</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04</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0" id="10"/>
          <p:cNvGrpSpPr/>
          <p:nvPr/>
        </p:nvGrpSpPr>
        <p:grpSpPr>
          <a:xfrm rot="0">
            <a:off x="876300" y="2381250"/>
            <a:ext cx="16049625" cy="1000125"/>
            <a:chOff x="0" y="0"/>
            <a:chExt cx="21399500" cy="1333500"/>
          </a:xfrm>
        </p:grpSpPr>
        <p:grpSp>
          <p:nvGrpSpPr>
            <p:cNvPr name="Group 11" id="11"/>
            <p:cNvGrpSpPr/>
            <p:nvPr/>
          </p:nvGrpSpPr>
          <p:grpSpPr>
            <a:xfrm rot="0">
              <a:off x="0" y="0"/>
              <a:ext cx="3619500" cy="1333500"/>
              <a:chOff x="0" y="0"/>
              <a:chExt cx="3619500" cy="1333500"/>
            </a:xfrm>
          </p:grpSpPr>
          <p:sp>
            <p:nvSpPr>
              <p:cNvPr name="Freeform 12" id="12"/>
              <p:cNvSpPr/>
              <p:nvPr/>
            </p:nvSpPr>
            <p:spPr>
              <a:xfrm flipH="false" flipV="false" rot="0">
                <a:off x="0" y="0"/>
                <a:ext cx="3619500" cy="1333500"/>
              </a:xfrm>
              <a:custGeom>
                <a:avLst/>
                <a:gdLst/>
                <a:ahLst/>
                <a:cxnLst/>
                <a:rect r="r" b="b" t="t" l="l"/>
                <a:pathLst>
                  <a:path h="1333500" w="3619500">
                    <a:moveTo>
                      <a:pt x="0" y="0"/>
                    </a:moveTo>
                    <a:lnTo>
                      <a:pt x="3619500" y="0"/>
                    </a:lnTo>
                    <a:lnTo>
                      <a:pt x="3619500" y="1333500"/>
                    </a:lnTo>
                    <a:lnTo>
                      <a:pt x="0" y="1333500"/>
                    </a:lnTo>
                    <a:close/>
                  </a:path>
                </a:pathLst>
              </a:custGeom>
              <a:solidFill>
                <a:srgbClr val="0B223B"/>
              </a:solidFill>
              <a:ln w="9525" cap="sq">
                <a:solidFill>
                  <a:srgbClr val="27E7FF"/>
                </a:solidFill>
                <a:prstDash val="solid"/>
                <a:miter/>
              </a:ln>
            </p:spPr>
          </p:sp>
          <p:sp>
            <p:nvSpPr>
              <p:cNvPr name="TextBox 13" id="13"/>
              <p:cNvSpPr txBox="true"/>
              <p:nvPr/>
            </p:nvSpPr>
            <p:spPr>
              <a:xfrm>
                <a:off x="0" y="-38100"/>
                <a:ext cx="3619500" cy="1371600"/>
              </a:xfrm>
              <a:prstGeom prst="rect">
                <a:avLst/>
              </a:prstGeom>
            </p:spPr>
            <p:txBody>
              <a:bodyPr anchor="ctr" rtlCol="false" tIns="50800" lIns="50800" bIns="50800" rIns="50800"/>
              <a:lstStyle/>
              <a:p>
                <a:pPr algn="l">
                  <a:lnSpc>
                    <a:spcPts val="1679"/>
                  </a:lnSpc>
                </a:pPr>
              </a:p>
            </p:txBody>
          </p:sp>
        </p:grpSp>
        <p:sp>
          <p:nvSpPr>
            <p:cNvPr name="AutoShape 14" id="14"/>
            <p:cNvSpPr/>
            <p:nvPr/>
          </p:nvSpPr>
          <p:spPr>
            <a:xfrm>
              <a:off x="3619500" y="660400"/>
              <a:ext cx="698500" cy="0"/>
            </a:xfrm>
            <a:prstGeom prst="line">
              <a:avLst/>
            </a:prstGeom>
            <a:ln cap="rnd" w="38100">
              <a:solidFill>
                <a:srgbClr val="27E7FF"/>
              </a:solidFill>
              <a:prstDash val="solid"/>
              <a:headEnd type="none" len="sm" w="sm"/>
              <a:tailEnd type="none" len="sm" w="sm"/>
            </a:ln>
          </p:spPr>
        </p:sp>
        <p:grpSp>
          <p:nvGrpSpPr>
            <p:cNvPr name="Group 15" id="15"/>
            <p:cNvGrpSpPr/>
            <p:nvPr/>
          </p:nvGrpSpPr>
          <p:grpSpPr>
            <a:xfrm rot="0">
              <a:off x="4445000" y="0"/>
              <a:ext cx="3619500" cy="1333500"/>
              <a:chOff x="0" y="0"/>
              <a:chExt cx="3619500" cy="1333500"/>
            </a:xfrm>
          </p:grpSpPr>
          <p:sp>
            <p:nvSpPr>
              <p:cNvPr name="Freeform 16" id="16"/>
              <p:cNvSpPr/>
              <p:nvPr/>
            </p:nvSpPr>
            <p:spPr>
              <a:xfrm flipH="false" flipV="false" rot="0">
                <a:off x="0" y="0"/>
                <a:ext cx="3619500" cy="1333500"/>
              </a:xfrm>
              <a:custGeom>
                <a:avLst/>
                <a:gdLst/>
                <a:ahLst/>
                <a:cxnLst/>
                <a:rect r="r" b="b" t="t" l="l"/>
                <a:pathLst>
                  <a:path h="1333500" w="3619500">
                    <a:moveTo>
                      <a:pt x="0" y="0"/>
                    </a:moveTo>
                    <a:lnTo>
                      <a:pt x="3619500" y="0"/>
                    </a:lnTo>
                    <a:lnTo>
                      <a:pt x="3619500" y="1333500"/>
                    </a:lnTo>
                    <a:lnTo>
                      <a:pt x="0" y="1333500"/>
                    </a:lnTo>
                    <a:close/>
                  </a:path>
                </a:pathLst>
              </a:custGeom>
              <a:solidFill>
                <a:srgbClr val="0B223B"/>
              </a:solidFill>
              <a:ln w="9525" cap="sq">
                <a:solidFill>
                  <a:srgbClr val="27E7FF"/>
                </a:solidFill>
                <a:prstDash val="solid"/>
                <a:miter/>
              </a:ln>
            </p:spPr>
          </p:sp>
          <p:sp>
            <p:nvSpPr>
              <p:cNvPr name="TextBox 17" id="17"/>
              <p:cNvSpPr txBox="true"/>
              <p:nvPr/>
            </p:nvSpPr>
            <p:spPr>
              <a:xfrm>
                <a:off x="0" y="-38100"/>
                <a:ext cx="3619500" cy="1371600"/>
              </a:xfrm>
              <a:prstGeom prst="rect">
                <a:avLst/>
              </a:prstGeom>
            </p:spPr>
            <p:txBody>
              <a:bodyPr anchor="ctr" rtlCol="false" tIns="50800" lIns="50800" bIns="50800" rIns="50800"/>
              <a:lstStyle/>
              <a:p>
                <a:pPr algn="l">
                  <a:lnSpc>
                    <a:spcPts val="1679"/>
                  </a:lnSpc>
                </a:pPr>
              </a:p>
            </p:txBody>
          </p:sp>
        </p:grpSp>
        <p:sp>
          <p:nvSpPr>
            <p:cNvPr name="AutoShape 18" id="18"/>
            <p:cNvSpPr/>
            <p:nvPr/>
          </p:nvSpPr>
          <p:spPr>
            <a:xfrm>
              <a:off x="8064500" y="660400"/>
              <a:ext cx="698500" cy="0"/>
            </a:xfrm>
            <a:prstGeom prst="line">
              <a:avLst/>
            </a:prstGeom>
            <a:ln cap="rnd" w="38100">
              <a:solidFill>
                <a:srgbClr val="27E7FF"/>
              </a:solidFill>
              <a:prstDash val="solid"/>
              <a:headEnd type="none" len="sm" w="sm"/>
              <a:tailEnd type="none" len="sm" w="sm"/>
            </a:ln>
          </p:spPr>
        </p:sp>
        <p:grpSp>
          <p:nvGrpSpPr>
            <p:cNvPr name="Group 19" id="19"/>
            <p:cNvGrpSpPr/>
            <p:nvPr/>
          </p:nvGrpSpPr>
          <p:grpSpPr>
            <a:xfrm rot="0">
              <a:off x="8890000" y="0"/>
              <a:ext cx="3619500" cy="1333500"/>
              <a:chOff x="0" y="0"/>
              <a:chExt cx="3619500" cy="1333500"/>
            </a:xfrm>
          </p:grpSpPr>
          <p:sp>
            <p:nvSpPr>
              <p:cNvPr name="Freeform 20" id="20"/>
              <p:cNvSpPr/>
              <p:nvPr/>
            </p:nvSpPr>
            <p:spPr>
              <a:xfrm flipH="false" flipV="false" rot="0">
                <a:off x="0" y="0"/>
                <a:ext cx="3619500" cy="1333500"/>
              </a:xfrm>
              <a:custGeom>
                <a:avLst/>
                <a:gdLst/>
                <a:ahLst/>
                <a:cxnLst/>
                <a:rect r="r" b="b" t="t" l="l"/>
                <a:pathLst>
                  <a:path h="1333500" w="3619500">
                    <a:moveTo>
                      <a:pt x="0" y="0"/>
                    </a:moveTo>
                    <a:lnTo>
                      <a:pt x="3619500" y="0"/>
                    </a:lnTo>
                    <a:lnTo>
                      <a:pt x="3619500" y="1333500"/>
                    </a:lnTo>
                    <a:lnTo>
                      <a:pt x="0" y="1333500"/>
                    </a:lnTo>
                    <a:close/>
                  </a:path>
                </a:pathLst>
              </a:custGeom>
              <a:solidFill>
                <a:srgbClr val="0B223B"/>
              </a:solidFill>
              <a:ln w="9525" cap="sq">
                <a:solidFill>
                  <a:srgbClr val="27E7FF"/>
                </a:solidFill>
                <a:prstDash val="solid"/>
                <a:miter/>
              </a:ln>
            </p:spPr>
          </p:sp>
          <p:sp>
            <p:nvSpPr>
              <p:cNvPr name="TextBox 21" id="21"/>
              <p:cNvSpPr txBox="true"/>
              <p:nvPr/>
            </p:nvSpPr>
            <p:spPr>
              <a:xfrm>
                <a:off x="0" y="-38100"/>
                <a:ext cx="3619500" cy="1371600"/>
              </a:xfrm>
              <a:prstGeom prst="rect">
                <a:avLst/>
              </a:prstGeom>
            </p:spPr>
            <p:txBody>
              <a:bodyPr anchor="ctr" rtlCol="false" tIns="50800" lIns="50800" bIns="50800" rIns="50800"/>
              <a:lstStyle/>
              <a:p>
                <a:pPr algn="l">
                  <a:lnSpc>
                    <a:spcPts val="1679"/>
                  </a:lnSpc>
                </a:pPr>
              </a:p>
            </p:txBody>
          </p:sp>
        </p:grpSp>
        <p:sp>
          <p:nvSpPr>
            <p:cNvPr name="AutoShape 22" id="22"/>
            <p:cNvSpPr/>
            <p:nvPr/>
          </p:nvSpPr>
          <p:spPr>
            <a:xfrm>
              <a:off x="12509500" y="660400"/>
              <a:ext cx="698500" cy="0"/>
            </a:xfrm>
            <a:prstGeom prst="line">
              <a:avLst/>
            </a:prstGeom>
            <a:ln cap="rnd" w="38100">
              <a:solidFill>
                <a:srgbClr val="27E7FF"/>
              </a:solidFill>
              <a:prstDash val="solid"/>
              <a:headEnd type="none" len="sm" w="sm"/>
              <a:tailEnd type="none" len="sm" w="sm"/>
            </a:ln>
          </p:spPr>
        </p:sp>
        <p:grpSp>
          <p:nvGrpSpPr>
            <p:cNvPr name="Group 23" id="23"/>
            <p:cNvGrpSpPr/>
            <p:nvPr/>
          </p:nvGrpSpPr>
          <p:grpSpPr>
            <a:xfrm rot="0">
              <a:off x="13335000" y="0"/>
              <a:ext cx="3619500" cy="1333500"/>
              <a:chOff x="0" y="0"/>
              <a:chExt cx="3619500" cy="1333500"/>
            </a:xfrm>
          </p:grpSpPr>
          <p:sp>
            <p:nvSpPr>
              <p:cNvPr name="Freeform 24" id="24"/>
              <p:cNvSpPr/>
              <p:nvPr/>
            </p:nvSpPr>
            <p:spPr>
              <a:xfrm flipH="false" flipV="false" rot="0">
                <a:off x="0" y="0"/>
                <a:ext cx="3619500" cy="1333500"/>
              </a:xfrm>
              <a:custGeom>
                <a:avLst/>
                <a:gdLst/>
                <a:ahLst/>
                <a:cxnLst/>
                <a:rect r="r" b="b" t="t" l="l"/>
                <a:pathLst>
                  <a:path h="1333500" w="3619500">
                    <a:moveTo>
                      <a:pt x="0" y="0"/>
                    </a:moveTo>
                    <a:lnTo>
                      <a:pt x="3619500" y="0"/>
                    </a:lnTo>
                    <a:lnTo>
                      <a:pt x="3619500" y="1333500"/>
                    </a:lnTo>
                    <a:lnTo>
                      <a:pt x="0" y="1333500"/>
                    </a:lnTo>
                    <a:close/>
                  </a:path>
                </a:pathLst>
              </a:custGeom>
              <a:solidFill>
                <a:srgbClr val="0B223B"/>
              </a:solidFill>
              <a:ln w="9525" cap="sq">
                <a:solidFill>
                  <a:srgbClr val="27E7FF"/>
                </a:solidFill>
                <a:prstDash val="solid"/>
                <a:miter/>
              </a:ln>
            </p:spPr>
          </p:sp>
          <p:sp>
            <p:nvSpPr>
              <p:cNvPr name="TextBox 25" id="25"/>
              <p:cNvSpPr txBox="true"/>
              <p:nvPr/>
            </p:nvSpPr>
            <p:spPr>
              <a:xfrm>
                <a:off x="0" y="-38100"/>
                <a:ext cx="3619500" cy="1371600"/>
              </a:xfrm>
              <a:prstGeom prst="rect">
                <a:avLst/>
              </a:prstGeom>
            </p:spPr>
            <p:txBody>
              <a:bodyPr anchor="ctr" rtlCol="false" tIns="50800" lIns="50800" bIns="50800" rIns="50800"/>
              <a:lstStyle/>
              <a:p>
                <a:pPr algn="l">
                  <a:lnSpc>
                    <a:spcPts val="1679"/>
                  </a:lnSpc>
                </a:pPr>
              </a:p>
            </p:txBody>
          </p:sp>
        </p:grpSp>
        <p:sp>
          <p:nvSpPr>
            <p:cNvPr name="AutoShape 26" id="26"/>
            <p:cNvSpPr/>
            <p:nvPr/>
          </p:nvSpPr>
          <p:spPr>
            <a:xfrm>
              <a:off x="16954500" y="660400"/>
              <a:ext cx="698500" cy="0"/>
            </a:xfrm>
            <a:prstGeom prst="line">
              <a:avLst/>
            </a:prstGeom>
            <a:ln cap="rnd" w="38100">
              <a:solidFill>
                <a:srgbClr val="27E7FF"/>
              </a:solidFill>
              <a:prstDash val="solid"/>
              <a:headEnd type="none" len="sm" w="sm"/>
              <a:tailEnd type="none" len="sm" w="sm"/>
            </a:ln>
          </p:spPr>
        </p:sp>
        <p:grpSp>
          <p:nvGrpSpPr>
            <p:cNvPr name="Group 27" id="27"/>
            <p:cNvGrpSpPr/>
            <p:nvPr/>
          </p:nvGrpSpPr>
          <p:grpSpPr>
            <a:xfrm rot="0">
              <a:off x="17780000" y="0"/>
              <a:ext cx="3619500" cy="1333500"/>
              <a:chOff x="0" y="0"/>
              <a:chExt cx="3619500" cy="1333500"/>
            </a:xfrm>
          </p:grpSpPr>
          <p:sp>
            <p:nvSpPr>
              <p:cNvPr name="Freeform 28" id="28"/>
              <p:cNvSpPr/>
              <p:nvPr/>
            </p:nvSpPr>
            <p:spPr>
              <a:xfrm flipH="false" flipV="false" rot="0">
                <a:off x="0" y="0"/>
                <a:ext cx="3619500" cy="1333500"/>
              </a:xfrm>
              <a:custGeom>
                <a:avLst/>
                <a:gdLst/>
                <a:ahLst/>
                <a:cxnLst/>
                <a:rect r="r" b="b" t="t" l="l"/>
                <a:pathLst>
                  <a:path h="1333500" w="3619500">
                    <a:moveTo>
                      <a:pt x="0" y="0"/>
                    </a:moveTo>
                    <a:lnTo>
                      <a:pt x="3619500" y="0"/>
                    </a:lnTo>
                    <a:lnTo>
                      <a:pt x="3619500" y="1333500"/>
                    </a:lnTo>
                    <a:lnTo>
                      <a:pt x="0" y="1333500"/>
                    </a:lnTo>
                    <a:close/>
                  </a:path>
                </a:pathLst>
              </a:custGeom>
              <a:solidFill>
                <a:srgbClr val="123451"/>
              </a:solidFill>
              <a:ln w="9525" cap="sq">
                <a:solidFill>
                  <a:srgbClr val="27E7FF"/>
                </a:solidFill>
                <a:prstDash val="solid"/>
                <a:miter/>
              </a:ln>
            </p:spPr>
          </p:sp>
          <p:sp>
            <p:nvSpPr>
              <p:cNvPr name="TextBox 29" id="29"/>
              <p:cNvSpPr txBox="true"/>
              <p:nvPr/>
            </p:nvSpPr>
            <p:spPr>
              <a:xfrm>
                <a:off x="0" y="-38100"/>
                <a:ext cx="3619500" cy="13716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228600" y="381000"/>
              <a:ext cx="3162300" cy="353060"/>
            </a:xfrm>
            <a:prstGeom prst="rect">
              <a:avLst/>
            </a:prstGeom>
          </p:spPr>
          <p:txBody>
            <a:bodyPr anchor="t" rtlCol="false" tIns="0" lIns="0" bIns="0" rIns="0">
              <a:spAutoFit/>
            </a:bodyPr>
            <a:lstStyle/>
            <a:p>
              <a:pPr algn="ctr">
                <a:lnSpc>
                  <a:spcPts val="2204"/>
                </a:lnSpc>
              </a:pPr>
              <a:r>
                <a:rPr lang="en-US" sz="1575" b="true">
                  <a:solidFill>
                    <a:srgbClr val="F4FBFF"/>
                  </a:solidFill>
                  <a:latin typeface="Rajdhani Bold"/>
                  <a:ea typeface="Rajdhani Bold"/>
                  <a:cs typeface="Rajdhani Bold"/>
                  <a:sym typeface="Rajdhani Bold"/>
                </a:rPr>
                <a:t>USER STORY</a:t>
              </a:r>
            </a:p>
          </p:txBody>
        </p:sp>
        <p:sp>
          <p:nvSpPr>
            <p:cNvPr name="TextBox 31" id="31"/>
            <p:cNvSpPr txBox="true"/>
            <p:nvPr/>
          </p:nvSpPr>
          <p:spPr>
            <a:xfrm rot="0">
              <a:off x="4673600" y="381000"/>
              <a:ext cx="3162300" cy="353060"/>
            </a:xfrm>
            <a:prstGeom prst="rect">
              <a:avLst/>
            </a:prstGeom>
          </p:spPr>
          <p:txBody>
            <a:bodyPr anchor="t" rtlCol="false" tIns="0" lIns="0" bIns="0" rIns="0">
              <a:spAutoFit/>
            </a:bodyPr>
            <a:lstStyle/>
            <a:p>
              <a:pPr algn="ctr">
                <a:lnSpc>
                  <a:spcPts val="2204"/>
                </a:lnSpc>
              </a:pPr>
              <a:r>
                <a:rPr lang="en-US" sz="1575" b="true">
                  <a:solidFill>
                    <a:srgbClr val="F4FBFF"/>
                  </a:solidFill>
                  <a:latin typeface="Rajdhani Bold"/>
                  <a:ea typeface="Rajdhani Bold"/>
                  <a:cs typeface="Rajdhani Bold"/>
                  <a:sym typeface="Rajdhani Bold"/>
                </a:rPr>
                <a:t>MANUAL REVIEW</a:t>
              </a:r>
            </a:p>
          </p:txBody>
        </p:sp>
        <p:sp>
          <p:nvSpPr>
            <p:cNvPr name="TextBox 32" id="32"/>
            <p:cNvSpPr txBox="true"/>
            <p:nvPr/>
          </p:nvSpPr>
          <p:spPr>
            <a:xfrm rot="0">
              <a:off x="9118600" y="381000"/>
              <a:ext cx="3162300" cy="353060"/>
            </a:xfrm>
            <a:prstGeom prst="rect">
              <a:avLst/>
            </a:prstGeom>
          </p:spPr>
          <p:txBody>
            <a:bodyPr anchor="t" rtlCol="false" tIns="0" lIns="0" bIns="0" rIns="0">
              <a:spAutoFit/>
            </a:bodyPr>
            <a:lstStyle/>
            <a:p>
              <a:pPr algn="ctr">
                <a:lnSpc>
                  <a:spcPts val="2204"/>
                </a:lnSpc>
              </a:pPr>
              <a:r>
                <a:rPr lang="en-US" sz="1575" b="true">
                  <a:solidFill>
                    <a:srgbClr val="F4FBFF"/>
                  </a:solidFill>
                  <a:latin typeface="Rajdhani Bold"/>
                  <a:ea typeface="Rajdhani Bold"/>
                  <a:cs typeface="Rajdhani Bold"/>
                  <a:sym typeface="Rajdhani Bold"/>
                </a:rPr>
                <a:t>MANUAL ESTIMATION</a:t>
              </a:r>
            </a:p>
          </p:txBody>
        </p:sp>
        <p:sp>
          <p:nvSpPr>
            <p:cNvPr name="TextBox 33" id="33"/>
            <p:cNvSpPr txBox="true"/>
            <p:nvPr/>
          </p:nvSpPr>
          <p:spPr>
            <a:xfrm rot="0">
              <a:off x="13563600" y="390525"/>
              <a:ext cx="31623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MANUAL ACCEPTANCE CRITERIA</a:t>
              </a:r>
            </a:p>
          </p:txBody>
        </p:sp>
        <p:sp>
          <p:nvSpPr>
            <p:cNvPr name="TextBox 34" id="34"/>
            <p:cNvSpPr txBox="true"/>
            <p:nvPr/>
          </p:nvSpPr>
          <p:spPr>
            <a:xfrm rot="0">
              <a:off x="18008600" y="381000"/>
              <a:ext cx="3162300" cy="353060"/>
            </a:xfrm>
            <a:prstGeom prst="rect">
              <a:avLst/>
            </a:prstGeom>
          </p:spPr>
          <p:txBody>
            <a:bodyPr anchor="t" rtlCol="false" tIns="0" lIns="0" bIns="0" rIns="0">
              <a:spAutoFit/>
            </a:bodyPr>
            <a:lstStyle/>
            <a:p>
              <a:pPr algn="ctr">
                <a:lnSpc>
                  <a:spcPts val="2204"/>
                </a:lnSpc>
              </a:pPr>
              <a:r>
                <a:rPr lang="en-US" sz="1575" b="true">
                  <a:solidFill>
                    <a:srgbClr val="27E7FF"/>
                  </a:solidFill>
                  <a:latin typeface="Rajdhani Bold"/>
                  <a:ea typeface="Rajdhani Bold"/>
                  <a:cs typeface="Rajdhani Bold"/>
                  <a:sym typeface="Rajdhani Bold"/>
                </a:rPr>
                <a:t>BACKLOG</a:t>
              </a:r>
            </a:p>
          </p:txBody>
        </p:sp>
      </p:grpSp>
      <p:grpSp>
        <p:nvGrpSpPr>
          <p:cNvPr name="Group 35" id="35"/>
          <p:cNvGrpSpPr/>
          <p:nvPr/>
        </p:nvGrpSpPr>
        <p:grpSpPr>
          <a:xfrm rot="0">
            <a:off x="876300" y="4381500"/>
            <a:ext cx="5048250" cy="1714500"/>
            <a:chOff x="0" y="0"/>
            <a:chExt cx="6731000" cy="2286000"/>
          </a:xfrm>
        </p:grpSpPr>
        <p:grpSp>
          <p:nvGrpSpPr>
            <p:cNvPr name="Group 36" id="36"/>
            <p:cNvGrpSpPr/>
            <p:nvPr/>
          </p:nvGrpSpPr>
          <p:grpSpPr>
            <a:xfrm rot="0">
              <a:off x="0" y="0"/>
              <a:ext cx="6731000" cy="2286000"/>
              <a:chOff x="0" y="0"/>
              <a:chExt cx="6731000" cy="2286000"/>
            </a:xfrm>
          </p:grpSpPr>
          <p:sp>
            <p:nvSpPr>
              <p:cNvPr name="Freeform 37" id="37"/>
              <p:cNvSpPr/>
              <p:nvPr/>
            </p:nvSpPr>
            <p:spPr>
              <a:xfrm flipH="false" flipV="false" rot="0">
                <a:off x="0" y="0"/>
                <a:ext cx="6731000" cy="2286000"/>
              </a:xfrm>
              <a:custGeom>
                <a:avLst/>
                <a:gdLst/>
                <a:ahLst/>
                <a:cxnLst/>
                <a:rect r="r" b="b" t="t" l="l"/>
                <a:pathLst>
                  <a:path h="2286000" w="6731000">
                    <a:moveTo>
                      <a:pt x="0" y="0"/>
                    </a:moveTo>
                    <a:lnTo>
                      <a:pt x="6731000" y="0"/>
                    </a:lnTo>
                    <a:lnTo>
                      <a:pt x="6731000" y="2286000"/>
                    </a:lnTo>
                    <a:lnTo>
                      <a:pt x="0" y="2286000"/>
                    </a:lnTo>
                    <a:close/>
                  </a:path>
                </a:pathLst>
              </a:custGeom>
              <a:solidFill>
                <a:srgbClr val="0B223B"/>
              </a:solidFill>
              <a:ln w="9525" cap="sq">
                <a:solidFill>
                  <a:srgbClr val="1B5873"/>
                </a:solidFill>
                <a:prstDash val="solid"/>
                <a:miter/>
              </a:ln>
            </p:spPr>
          </p:sp>
          <p:sp>
            <p:nvSpPr>
              <p:cNvPr name="TextBox 38" id="38"/>
              <p:cNvSpPr txBox="true"/>
              <p:nvPr/>
            </p:nvSpPr>
            <p:spPr>
              <a:xfrm>
                <a:off x="0" y="-38100"/>
                <a:ext cx="6731000" cy="23241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355600" y="288925"/>
              <a:ext cx="1397000" cy="343535"/>
            </a:xfrm>
            <a:prstGeom prst="rect">
              <a:avLst/>
            </a:prstGeom>
          </p:spPr>
          <p:txBody>
            <a:bodyPr anchor="t" rtlCol="false" tIns="0" lIns="0" bIns="0" rIns="0">
              <a:spAutoFit/>
            </a:bodyPr>
            <a:lstStyle/>
            <a:p>
              <a:pPr algn="l">
                <a:lnSpc>
                  <a:spcPts val="2204"/>
                </a:lnSpc>
              </a:pPr>
              <a:r>
                <a:rPr lang="en-US" sz="1575" b="true">
                  <a:solidFill>
                    <a:srgbClr val="FFB547"/>
                  </a:solidFill>
                  <a:latin typeface="IBM Plex Mono Bold"/>
                  <a:ea typeface="IBM Plex Mono Bold"/>
                  <a:cs typeface="IBM Plex Mono Bold"/>
                  <a:sym typeface="IBM Plex Mono Bold"/>
                </a:rPr>
                <a:t>!  01</a:t>
              </a:r>
            </a:p>
          </p:txBody>
        </p:sp>
        <p:sp>
          <p:nvSpPr>
            <p:cNvPr name="TextBox 40" id="40"/>
            <p:cNvSpPr txBox="true"/>
            <p:nvPr/>
          </p:nvSpPr>
          <p:spPr>
            <a:xfrm rot="0">
              <a:off x="355600" y="844550"/>
              <a:ext cx="5969000" cy="702310"/>
            </a:xfrm>
            <a:prstGeom prst="rect">
              <a:avLst/>
            </a:prstGeom>
          </p:spPr>
          <p:txBody>
            <a:bodyPr anchor="t" rtlCol="false" tIns="0" lIns="0" bIns="0" rIns="0">
              <a:spAutoFit/>
            </a:bodyPr>
            <a:lstStyle/>
            <a:p>
              <a:pPr algn="l">
                <a:lnSpc>
                  <a:spcPts val="2145"/>
                </a:lnSpc>
              </a:pPr>
              <a:r>
                <a:rPr lang="en-US" sz="1650">
                  <a:solidFill>
                    <a:srgbClr val="F4FBFF"/>
                  </a:solidFill>
                  <a:latin typeface="IBM Plex Sans"/>
                  <a:ea typeface="IBM Plex Sans"/>
                  <a:cs typeface="IBM Plex Sans"/>
                  <a:sym typeface="IBM Plex Sans"/>
                </a:rPr>
                <a:t>Depends heavily on Scrum Master / developer experience.</a:t>
              </a:r>
            </a:p>
          </p:txBody>
        </p:sp>
      </p:grpSp>
      <p:grpSp>
        <p:nvGrpSpPr>
          <p:cNvPr name="Group 41" id="41"/>
          <p:cNvGrpSpPr/>
          <p:nvPr/>
        </p:nvGrpSpPr>
        <p:grpSpPr>
          <a:xfrm rot="0">
            <a:off x="6400800" y="4381500"/>
            <a:ext cx="5048250" cy="1714500"/>
            <a:chOff x="0" y="0"/>
            <a:chExt cx="6731000" cy="2286000"/>
          </a:xfrm>
        </p:grpSpPr>
        <p:grpSp>
          <p:nvGrpSpPr>
            <p:cNvPr name="Group 42" id="42"/>
            <p:cNvGrpSpPr/>
            <p:nvPr/>
          </p:nvGrpSpPr>
          <p:grpSpPr>
            <a:xfrm rot="0">
              <a:off x="0" y="0"/>
              <a:ext cx="6731000" cy="2286000"/>
              <a:chOff x="0" y="0"/>
              <a:chExt cx="6731000" cy="2286000"/>
            </a:xfrm>
          </p:grpSpPr>
          <p:sp>
            <p:nvSpPr>
              <p:cNvPr name="Freeform 43" id="43"/>
              <p:cNvSpPr/>
              <p:nvPr/>
            </p:nvSpPr>
            <p:spPr>
              <a:xfrm flipH="false" flipV="false" rot="0">
                <a:off x="0" y="0"/>
                <a:ext cx="6731000" cy="2286000"/>
              </a:xfrm>
              <a:custGeom>
                <a:avLst/>
                <a:gdLst/>
                <a:ahLst/>
                <a:cxnLst/>
                <a:rect r="r" b="b" t="t" l="l"/>
                <a:pathLst>
                  <a:path h="2286000" w="6731000">
                    <a:moveTo>
                      <a:pt x="0" y="0"/>
                    </a:moveTo>
                    <a:lnTo>
                      <a:pt x="6731000" y="0"/>
                    </a:lnTo>
                    <a:lnTo>
                      <a:pt x="6731000" y="2286000"/>
                    </a:lnTo>
                    <a:lnTo>
                      <a:pt x="0" y="2286000"/>
                    </a:lnTo>
                    <a:close/>
                  </a:path>
                </a:pathLst>
              </a:custGeom>
              <a:solidFill>
                <a:srgbClr val="0B223B"/>
              </a:solidFill>
              <a:ln w="9525" cap="sq">
                <a:solidFill>
                  <a:srgbClr val="1B5873"/>
                </a:solidFill>
                <a:prstDash val="solid"/>
                <a:miter/>
              </a:ln>
            </p:spPr>
          </p:sp>
          <p:sp>
            <p:nvSpPr>
              <p:cNvPr name="TextBox 44" id="44"/>
              <p:cNvSpPr txBox="true"/>
              <p:nvPr/>
            </p:nvSpPr>
            <p:spPr>
              <a:xfrm>
                <a:off x="0" y="-38100"/>
                <a:ext cx="6731000" cy="23241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355600" y="288925"/>
              <a:ext cx="1397000" cy="343535"/>
            </a:xfrm>
            <a:prstGeom prst="rect">
              <a:avLst/>
            </a:prstGeom>
          </p:spPr>
          <p:txBody>
            <a:bodyPr anchor="t" rtlCol="false" tIns="0" lIns="0" bIns="0" rIns="0">
              <a:spAutoFit/>
            </a:bodyPr>
            <a:lstStyle/>
            <a:p>
              <a:pPr algn="l">
                <a:lnSpc>
                  <a:spcPts val="2204"/>
                </a:lnSpc>
              </a:pPr>
              <a:r>
                <a:rPr lang="en-US" sz="1575" b="true">
                  <a:solidFill>
                    <a:srgbClr val="FFB547"/>
                  </a:solidFill>
                  <a:latin typeface="IBM Plex Mono Bold"/>
                  <a:ea typeface="IBM Plex Mono Bold"/>
                  <a:cs typeface="IBM Plex Mono Bold"/>
                  <a:sym typeface="IBM Plex Mono Bold"/>
                </a:rPr>
                <a:t>!  02</a:t>
              </a:r>
            </a:p>
          </p:txBody>
        </p:sp>
        <p:sp>
          <p:nvSpPr>
            <p:cNvPr name="TextBox 46" id="46"/>
            <p:cNvSpPr txBox="true"/>
            <p:nvPr/>
          </p:nvSpPr>
          <p:spPr>
            <a:xfrm rot="0">
              <a:off x="355600" y="844550"/>
              <a:ext cx="5969000" cy="346710"/>
            </a:xfrm>
            <a:prstGeom prst="rect">
              <a:avLst/>
            </a:prstGeom>
          </p:spPr>
          <p:txBody>
            <a:bodyPr anchor="t" rtlCol="false" tIns="0" lIns="0" bIns="0" rIns="0">
              <a:spAutoFit/>
            </a:bodyPr>
            <a:lstStyle/>
            <a:p>
              <a:pPr algn="l">
                <a:lnSpc>
                  <a:spcPts val="2145"/>
                </a:lnSpc>
              </a:pPr>
              <a:r>
                <a:rPr lang="en-US" sz="1650">
                  <a:solidFill>
                    <a:srgbClr val="F4FBFF"/>
                  </a:solidFill>
                  <a:latin typeface="IBM Plex Sans"/>
                  <a:ea typeface="IBM Plex Sans"/>
                  <a:cs typeface="IBM Plex Sans"/>
                  <a:sym typeface="IBM Plex Sans"/>
                </a:rPr>
                <a:t>Ambiguous requirements may be missed.</a:t>
              </a:r>
            </a:p>
          </p:txBody>
        </p:sp>
      </p:grpSp>
      <p:grpSp>
        <p:nvGrpSpPr>
          <p:cNvPr name="Group 47" id="47"/>
          <p:cNvGrpSpPr/>
          <p:nvPr/>
        </p:nvGrpSpPr>
        <p:grpSpPr>
          <a:xfrm rot="0">
            <a:off x="11925300" y="4381500"/>
            <a:ext cx="5048250" cy="1714500"/>
            <a:chOff x="0" y="0"/>
            <a:chExt cx="6731000" cy="2286000"/>
          </a:xfrm>
        </p:grpSpPr>
        <p:grpSp>
          <p:nvGrpSpPr>
            <p:cNvPr name="Group 48" id="48"/>
            <p:cNvGrpSpPr/>
            <p:nvPr/>
          </p:nvGrpSpPr>
          <p:grpSpPr>
            <a:xfrm rot="0">
              <a:off x="0" y="0"/>
              <a:ext cx="6731000" cy="2286000"/>
              <a:chOff x="0" y="0"/>
              <a:chExt cx="6731000" cy="2286000"/>
            </a:xfrm>
          </p:grpSpPr>
          <p:sp>
            <p:nvSpPr>
              <p:cNvPr name="Freeform 49" id="49"/>
              <p:cNvSpPr/>
              <p:nvPr/>
            </p:nvSpPr>
            <p:spPr>
              <a:xfrm flipH="false" flipV="false" rot="0">
                <a:off x="0" y="0"/>
                <a:ext cx="6731000" cy="2286000"/>
              </a:xfrm>
              <a:custGeom>
                <a:avLst/>
                <a:gdLst/>
                <a:ahLst/>
                <a:cxnLst/>
                <a:rect r="r" b="b" t="t" l="l"/>
                <a:pathLst>
                  <a:path h="2286000" w="6731000">
                    <a:moveTo>
                      <a:pt x="0" y="0"/>
                    </a:moveTo>
                    <a:lnTo>
                      <a:pt x="6731000" y="0"/>
                    </a:lnTo>
                    <a:lnTo>
                      <a:pt x="6731000" y="2286000"/>
                    </a:lnTo>
                    <a:lnTo>
                      <a:pt x="0" y="2286000"/>
                    </a:lnTo>
                    <a:close/>
                  </a:path>
                </a:pathLst>
              </a:custGeom>
              <a:solidFill>
                <a:srgbClr val="0B223B"/>
              </a:solidFill>
              <a:ln w="9525" cap="sq">
                <a:solidFill>
                  <a:srgbClr val="1B5873"/>
                </a:solidFill>
                <a:prstDash val="solid"/>
                <a:miter/>
              </a:ln>
            </p:spPr>
          </p:sp>
          <p:sp>
            <p:nvSpPr>
              <p:cNvPr name="TextBox 50" id="50"/>
              <p:cNvSpPr txBox="true"/>
              <p:nvPr/>
            </p:nvSpPr>
            <p:spPr>
              <a:xfrm>
                <a:off x="0" y="-38100"/>
                <a:ext cx="6731000" cy="2324100"/>
              </a:xfrm>
              <a:prstGeom prst="rect">
                <a:avLst/>
              </a:prstGeom>
            </p:spPr>
            <p:txBody>
              <a:bodyPr anchor="ctr" rtlCol="false" tIns="50800" lIns="50800" bIns="50800" rIns="50800"/>
              <a:lstStyle/>
              <a:p>
                <a:pPr algn="l">
                  <a:lnSpc>
                    <a:spcPts val="1679"/>
                  </a:lnSpc>
                </a:pPr>
              </a:p>
            </p:txBody>
          </p:sp>
        </p:grpSp>
        <p:sp>
          <p:nvSpPr>
            <p:cNvPr name="TextBox 51" id="51"/>
            <p:cNvSpPr txBox="true"/>
            <p:nvPr/>
          </p:nvSpPr>
          <p:spPr>
            <a:xfrm rot="0">
              <a:off x="355600" y="288925"/>
              <a:ext cx="1397000" cy="343535"/>
            </a:xfrm>
            <a:prstGeom prst="rect">
              <a:avLst/>
            </a:prstGeom>
          </p:spPr>
          <p:txBody>
            <a:bodyPr anchor="t" rtlCol="false" tIns="0" lIns="0" bIns="0" rIns="0">
              <a:spAutoFit/>
            </a:bodyPr>
            <a:lstStyle/>
            <a:p>
              <a:pPr algn="l">
                <a:lnSpc>
                  <a:spcPts val="2204"/>
                </a:lnSpc>
              </a:pPr>
              <a:r>
                <a:rPr lang="en-US" sz="1575" b="true">
                  <a:solidFill>
                    <a:srgbClr val="FFB547"/>
                  </a:solidFill>
                  <a:latin typeface="IBM Plex Mono Bold"/>
                  <a:ea typeface="IBM Plex Mono Bold"/>
                  <a:cs typeface="IBM Plex Mono Bold"/>
                  <a:sym typeface="IBM Plex Mono Bold"/>
                </a:rPr>
                <a:t>!  03</a:t>
              </a:r>
            </a:p>
          </p:txBody>
        </p:sp>
        <p:sp>
          <p:nvSpPr>
            <p:cNvPr name="TextBox 52" id="52"/>
            <p:cNvSpPr txBox="true"/>
            <p:nvPr/>
          </p:nvSpPr>
          <p:spPr>
            <a:xfrm rot="0">
              <a:off x="355600" y="844550"/>
              <a:ext cx="5969000" cy="346710"/>
            </a:xfrm>
            <a:prstGeom prst="rect">
              <a:avLst/>
            </a:prstGeom>
          </p:spPr>
          <p:txBody>
            <a:bodyPr anchor="t" rtlCol="false" tIns="0" lIns="0" bIns="0" rIns="0">
              <a:spAutoFit/>
            </a:bodyPr>
            <a:lstStyle/>
            <a:p>
              <a:pPr algn="l">
                <a:lnSpc>
                  <a:spcPts val="2145"/>
                </a:lnSpc>
              </a:pPr>
              <a:r>
                <a:rPr lang="en-US" sz="1650">
                  <a:solidFill>
                    <a:srgbClr val="F4FBFF"/>
                  </a:solidFill>
                  <a:latin typeface="IBM Plex Sans"/>
                  <a:ea typeface="IBM Plex Sans"/>
                  <a:cs typeface="IBM Plex Sans"/>
                  <a:sym typeface="IBM Plex Sans"/>
                </a:rPr>
                <a:t>Manual estimation takes time.</a:t>
              </a:r>
            </a:p>
          </p:txBody>
        </p:sp>
      </p:grpSp>
      <p:grpSp>
        <p:nvGrpSpPr>
          <p:cNvPr name="Group 53" id="53"/>
          <p:cNvGrpSpPr/>
          <p:nvPr/>
        </p:nvGrpSpPr>
        <p:grpSpPr>
          <a:xfrm rot="0">
            <a:off x="876300" y="6572250"/>
            <a:ext cx="5048250" cy="1714500"/>
            <a:chOff x="0" y="0"/>
            <a:chExt cx="6731000" cy="2286000"/>
          </a:xfrm>
        </p:grpSpPr>
        <p:grpSp>
          <p:nvGrpSpPr>
            <p:cNvPr name="Group 54" id="54"/>
            <p:cNvGrpSpPr/>
            <p:nvPr/>
          </p:nvGrpSpPr>
          <p:grpSpPr>
            <a:xfrm rot="0">
              <a:off x="0" y="0"/>
              <a:ext cx="6731000" cy="2286000"/>
              <a:chOff x="0" y="0"/>
              <a:chExt cx="6731000" cy="2286000"/>
            </a:xfrm>
          </p:grpSpPr>
          <p:sp>
            <p:nvSpPr>
              <p:cNvPr name="Freeform 55" id="55"/>
              <p:cNvSpPr/>
              <p:nvPr/>
            </p:nvSpPr>
            <p:spPr>
              <a:xfrm flipH="false" flipV="false" rot="0">
                <a:off x="0" y="0"/>
                <a:ext cx="6731000" cy="2286000"/>
              </a:xfrm>
              <a:custGeom>
                <a:avLst/>
                <a:gdLst/>
                <a:ahLst/>
                <a:cxnLst/>
                <a:rect r="r" b="b" t="t" l="l"/>
                <a:pathLst>
                  <a:path h="2286000" w="6731000">
                    <a:moveTo>
                      <a:pt x="0" y="0"/>
                    </a:moveTo>
                    <a:lnTo>
                      <a:pt x="6731000" y="0"/>
                    </a:lnTo>
                    <a:lnTo>
                      <a:pt x="6731000" y="2286000"/>
                    </a:lnTo>
                    <a:lnTo>
                      <a:pt x="0" y="2286000"/>
                    </a:lnTo>
                    <a:close/>
                  </a:path>
                </a:pathLst>
              </a:custGeom>
              <a:solidFill>
                <a:srgbClr val="0B223B"/>
              </a:solidFill>
              <a:ln w="9525" cap="sq">
                <a:solidFill>
                  <a:srgbClr val="1B5873"/>
                </a:solidFill>
                <a:prstDash val="solid"/>
                <a:miter/>
              </a:ln>
            </p:spPr>
          </p:sp>
          <p:sp>
            <p:nvSpPr>
              <p:cNvPr name="TextBox 56" id="56"/>
              <p:cNvSpPr txBox="true"/>
              <p:nvPr/>
            </p:nvSpPr>
            <p:spPr>
              <a:xfrm>
                <a:off x="0" y="-38100"/>
                <a:ext cx="6731000" cy="2324100"/>
              </a:xfrm>
              <a:prstGeom prst="rect">
                <a:avLst/>
              </a:prstGeom>
            </p:spPr>
            <p:txBody>
              <a:bodyPr anchor="ctr" rtlCol="false" tIns="50800" lIns="50800" bIns="50800" rIns="50800"/>
              <a:lstStyle/>
              <a:p>
                <a:pPr algn="l">
                  <a:lnSpc>
                    <a:spcPts val="1679"/>
                  </a:lnSpc>
                </a:pPr>
              </a:p>
            </p:txBody>
          </p:sp>
        </p:grpSp>
        <p:sp>
          <p:nvSpPr>
            <p:cNvPr name="TextBox 57" id="57"/>
            <p:cNvSpPr txBox="true"/>
            <p:nvPr/>
          </p:nvSpPr>
          <p:spPr>
            <a:xfrm rot="0">
              <a:off x="355600" y="288925"/>
              <a:ext cx="1397000" cy="343535"/>
            </a:xfrm>
            <a:prstGeom prst="rect">
              <a:avLst/>
            </a:prstGeom>
          </p:spPr>
          <p:txBody>
            <a:bodyPr anchor="t" rtlCol="false" tIns="0" lIns="0" bIns="0" rIns="0">
              <a:spAutoFit/>
            </a:bodyPr>
            <a:lstStyle/>
            <a:p>
              <a:pPr algn="l">
                <a:lnSpc>
                  <a:spcPts val="2204"/>
                </a:lnSpc>
              </a:pPr>
              <a:r>
                <a:rPr lang="en-US" sz="1575" b="true">
                  <a:solidFill>
                    <a:srgbClr val="FFB547"/>
                  </a:solidFill>
                  <a:latin typeface="IBM Plex Mono Bold"/>
                  <a:ea typeface="IBM Plex Mono Bold"/>
                  <a:cs typeface="IBM Plex Mono Bold"/>
                  <a:sym typeface="IBM Plex Mono Bold"/>
                </a:rPr>
                <a:t>!  04</a:t>
              </a:r>
            </a:p>
          </p:txBody>
        </p:sp>
        <p:sp>
          <p:nvSpPr>
            <p:cNvPr name="TextBox 58" id="58"/>
            <p:cNvSpPr txBox="true"/>
            <p:nvPr/>
          </p:nvSpPr>
          <p:spPr>
            <a:xfrm rot="0">
              <a:off x="355600" y="844550"/>
              <a:ext cx="5969000" cy="346710"/>
            </a:xfrm>
            <a:prstGeom prst="rect">
              <a:avLst/>
            </a:prstGeom>
          </p:spPr>
          <p:txBody>
            <a:bodyPr anchor="t" rtlCol="false" tIns="0" lIns="0" bIns="0" rIns="0">
              <a:spAutoFit/>
            </a:bodyPr>
            <a:lstStyle/>
            <a:p>
              <a:pPr algn="l">
                <a:lnSpc>
                  <a:spcPts val="2145"/>
                </a:lnSpc>
              </a:pPr>
              <a:r>
                <a:rPr lang="en-US" sz="1650">
                  <a:solidFill>
                    <a:srgbClr val="F4FBFF"/>
                  </a:solidFill>
                  <a:latin typeface="IBM Plex Sans"/>
                  <a:ea typeface="IBM Plex Sans"/>
                  <a:cs typeface="IBM Plex Sans"/>
                  <a:sym typeface="IBM Plex Sans"/>
                </a:rPr>
                <a:t>Acceptance criteria must be written manually.</a:t>
              </a:r>
            </a:p>
          </p:txBody>
        </p:sp>
      </p:grpSp>
      <p:grpSp>
        <p:nvGrpSpPr>
          <p:cNvPr name="Group 59" id="59"/>
          <p:cNvGrpSpPr/>
          <p:nvPr/>
        </p:nvGrpSpPr>
        <p:grpSpPr>
          <a:xfrm rot="0">
            <a:off x="6400800" y="6572250"/>
            <a:ext cx="5048250" cy="1714500"/>
            <a:chOff x="0" y="0"/>
            <a:chExt cx="6731000" cy="2286000"/>
          </a:xfrm>
        </p:grpSpPr>
        <p:grpSp>
          <p:nvGrpSpPr>
            <p:cNvPr name="Group 60" id="60"/>
            <p:cNvGrpSpPr/>
            <p:nvPr/>
          </p:nvGrpSpPr>
          <p:grpSpPr>
            <a:xfrm rot="0">
              <a:off x="0" y="0"/>
              <a:ext cx="6731000" cy="2286000"/>
              <a:chOff x="0" y="0"/>
              <a:chExt cx="6731000" cy="2286000"/>
            </a:xfrm>
          </p:grpSpPr>
          <p:sp>
            <p:nvSpPr>
              <p:cNvPr name="Freeform 61" id="61"/>
              <p:cNvSpPr/>
              <p:nvPr/>
            </p:nvSpPr>
            <p:spPr>
              <a:xfrm flipH="false" flipV="false" rot="0">
                <a:off x="0" y="0"/>
                <a:ext cx="6731000" cy="2286000"/>
              </a:xfrm>
              <a:custGeom>
                <a:avLst/>
                <a:gdLst/>
                <a:ahLst/>
                <a:cxnLst/>
                <a:rect r="r" b="b" t="t" l="l"/>
                <a:pathLst>
                  <a:path h="2286000" w="6731000">
                    <a:moveTo>
                      <a:pt x="0" y="0"/>
                    </a:moveTo>
                    <a:lnTo>
                      <a:pt x="6731000" y="0"/>
                    </a:lnTo>
                    <a:lnTo>
                      <a:pt x="6731000" y="2286000"/>
                    </a:lnTo>
                    <a:lnTo>
                      <a:pt x="0" y="2286000"/>
                    </a:lnTo>
                    <a:close/>
                  </a:path>
                </a:pathLst>
              </a:custGeom>
              <a:solidFill>
                <a:srgbClr val="0B223B"/>
              </a:solidFill>
              <a:ln w="9525" cap="sq">
                <a:solidFill>
                  <a:srgbClr val="1B5873"/>
                </a:solidFill>
                <a:prstDash val="solid"/>
                <a:miter/>
              </a:ln>
            </p:spPr>
          </p:sp>
          <p:sp>
            <p:nvSpPr>
              <p:cNvPr name="TextBox 62" id="62"/>
              <p:cNvSpPr txBox="true"/>
              <p:nvPr/>
            </p:nvSpPr>
            <p:spPr>
              <a:xfrm>
                <a:off x="0" y="-38100"/>
                <a:ext cx="6731000" cy="2324100"/>
              </a:xfrm>
              <a:prstGeom prst="rect">
                <a:avLst/>
              </a:prstGeom>
            </p:spPr>
            <p:txBody>
              <a:bodyPr anchor="ctr" rtlCol="false" tIns="50800" lIns="50800" bIns="50800" rIns="50800"/>
              <a:lstStyle/>
              <a:p>
                <a:pPr algn="l">
                  <a:lnSpc>
                    <a:spcPts val="1679"/>
                  </a:lnSpc>
                </a:pPr>
              </a:p>
            </p:txBody>
          </p:sp>
        </p:grpSp>
        <p:sp>
          <p:nvSpPr>
            <p:cNvPr name="TextBox 63" id="63"/>
            <p:cNvSpPr txBox="true"/>
            <p:nvPr/>
          </p:nvSpPr>
          <p:spPr>
            <a:xfrm rot="0">
              <a:off x="355600" y="288925"/>
              <a:ext cx="1397000" cy="343535"/>
            </a:xfrm>
            <a:prstGeom prst="rect">
              <a:avLst/>
            </a:prstGeom>
          </p:spPr>
          <p:txBody>
            <a:bodyPr anchor="t" rtlCol="false" tIns="0" lIns="0" bIns="0" rIns="0">
              <a:spAutoFit/>
            </a:bodyPr>
            <a:lstStyle/>
            <a:p>
              <a:pPr algn="l">
                <a:lnSpc>
                  <a:spcPts val="2204"/>
                </a:lnSpc>
              </a:pPr>
              <a:r>
                <a:rPr lang="en-US" sz="1575" b="true">
                  <a:solidFill>
                    <a:srgbClr val="FFB547"/>
                  </a:solidFill>
                  <a:latin typeface="IBM Plex Mono Bold"/>
                  <a:ea typeface="IBM Plex Mono Bold"/>
                  <a:cs typeface="IBM Plex Mono Bold"/>
                  <a:sym typeface="IBM Plex Mono Bold"/>
                </a:rPr>
                <a:t>!  05</a:t>
              </a:r>
            </a:p>
          </p:txBody>
        </p:sp>
        <p:sp>
          <p:nvSpPr>
            <p:cNvPr name="TextBox 64" id="64"/>
            <p:cNvSpPr txBox="true"/>
            <p:nvPr/>
          </p:nvSpPr>
          <p:spPr>
            <a:xfrm rot="0">
              <a:off x="355600" y="844550"/>
              <a:ext cx="5969000" cy="702310"/>
            </a:xfrm>
            <a:prstGeom prst="rect">
              <a:avLst/>
            </a:prstGeom>
          </p:spPr>
          <p:txBody>
            <a:bodyPr anchor="t" rtlCol="false" tIns="0" lIns="0" bIns="0" rIns="0">
              <a:spAutoFit/>
            </a:bodyPr>
            <a:lstStyle/>
            <a:p>
              <a:pPr algn="l">
                <a:lnSpc>
                  <a:spcPts val="2145"/>
                </a:lnSpc>
              </a:pPr>
              <a:r>
                <a:rPr lang="en-US" sz="1650">
                  <a:solidFill>
                    <a:srgbClr val="F4FBFF"/>
                  </a:solidFill>
                  <a:latin typeface="IBM Plex Sans"/>
                  <a:ea typeface="IBM Plex Sans"/>
                  <a:cs typeface="IBM Plex Sans"/>
                  <a:sym typeface="IBM Plex Sans"/>
                </a:rPr>
                <a:t>Large backlogs are difficult to evaluate consistently.</a:t>
              </a:r>
            </a:p>
          </p:txBody>
        </p:sp>
      </p:grpSp>
      <p:grpSp>
        <p:nvGrpSpPr>
          <p:cNvPr name="Group 65" id="65"/>
          <p:cNvGrpSpPr/>
          <p:nvPr/>
        </p:nvGrpSpPr>
        <p:grpSpPr>
          <a:xfrm rot="0">
            <a:off x="11925300" y="6572250"/>
            <a:ext cx="5048250" cy="1714500"/>
            <a:chOff x="0" y="0"/>
            <a:chExt cx="6731000" cy="2286000"/>
          </a:xfrm>
        </p:grpSpPr>
        <p:grpSp>
          <p:nvGrpSpPr>
            <p:cNvPr name="Group 66" id="66"/>
            <p:cNvGrpSpPr/>
            <p:nvPr/>
          </p:nvGrpSpPr>
          <p:grpSpPr>
            <a:xfrm rot="0">
              <a:off x="0" y="0"/>
              <a:ext cx="6731000" cy="2286000"/>
              <a:chOff x="0" y="0"/>
              <a:chExt cx="6731000" cy="2286000"/>
            </a:xfrm>
          </p:grpSpPr>
          <p:sp>
            <p:nvSpPr>
              <p:cNvPr name="Freeform 67" id="67"/>
              <p:cNvSpPr/>
              <p:nvPr/>
            </p:nvSpPr>
            <p:spPr>
              <a:xfrm flipH="false" flipV="false" rot="0">
                <a:off x="0" y="0"/>
                <a:ext cx="6731000" cy="2286000"/>
              </a:xfrm>
              <a:custGeom>
                <a:avLst/>
                <a:gdLst/>
                <a:ahLst/>
                <a:cxnLst/>
                <a:rect r="r" b="b" t="t" l="l"/>
                <a:pathLst>
                  <a:path h="2286000" w="6731000">
                    <a:moveTo>
                      <a:pt x="0" y="0"/>
                    </a:moveTo>
                    <a:lnTo>
                      <a:pt x="6731000" y="0"/>
                    </a:lnTo>
                    <a:lnTo>
                      <a:pt x="6731000" y="2286000"/>
                    </a:lnTo>
                    <a:lnTo>
                      <a:pt x="0" y="2286000"/>
                    </a:lnTo>
                    <a:close/>
                  </a:path>
                </a:pathLst>
              </a:custGeom>
              <a:solidFill>
                <a:srgbClr val="0B223B"/>
              </a:solidFill>
              <a:ln w="9525" cap="sq">
                <a:solidFill>
                  <a:srgbClr val="1B5873"/>
                </a:solidFill>
                <a:prstDash val="solid"/>
                <a:miter/>
              </a:ln>
            </p:spPr>
          </p:sp>
          <p:sp>
            <p:nvSpPr>
              <p:cNvPr name="TextBox 68" id="68"/>
              <p:cNvSpPr txBox="true"/>
              <p:nvPr/>
            </p:nvSpPr>
            <p:spPr>
              <a:xfrm>
                <a:off x="0" y="-38100"/>
                <a:ext cx="6731000" cy="2324100"/>
              </a:xfrm>
              <a:prstGeom prst="rect">
                <a:avLst/>
              </a:prstGeom>
            </p:spPr>
            <p:txBody>
              <a:bodyPr anchor="ctr" rtlCol="false" tIns="50800" lIns="50800" bIns="50800" rIns="50800"/>
              <a:lstStyle/>
              <a:p>
                <a:pPr algn="l">
                  <a:lnSpc>
                    <a:spcPts val="1679"/>
                  </a:lnSpc>
                </a:pPr>
              </a:p>
            </p:txBody>
          </p:sp>
        </p:grpSp>
        <p:sp>
          <p:nvSpPr>
            <p:cNvPr name="TextBox 69" id="69"/>
            <p:cNvSpPr txBox="true"/>
            <p:nvPr/>
          </p:nvSpPr>
          <p:spPr>
            <a:xfrm rot="0">
              <a:off x="355600" y="288925"/>
              <a:ext cx="1397000" cy="343535"/>
            </a:xfrm>
            <a:prstGeom prst="rect">
              <a:avLst/>
            </a:prstGeom>
          </p:spPr>
          <p:txBody>
            <a:bodyPr anchor="t" rtlCol="false" tIns="0" lIns="0" bIns="0" rIns="0">
              <a:spAutoFit/>
            </a:bodyPr>
            <a:lstStyle/>
            <a:p>
              <a:pPr algn="l">
                <a:lnSpc>
                  <a:spcPts val="2204"/>
                </a:lnSpc>
              </a:pPr>
              <a:r>
                <a:rPr lang="en-US" sz="1575" b="true">
                  <a:solidFill>
                    <a:srgbClr val="FFB547"/>
                  </a:solidFill>
                  <a:latin typeface="IBM Plex Mono Bold"/>
                  <a:ea typeface="IBM Plex Mono Bold"/>
                  <a:cs typeface="IBM Plex Mono Bold"/>
                  <a:sym typeface="IBM Plex Mono Bold"/>
                </a:rPr>
                <a:t>!  06</a:t>
              </a:r>
            </a:p>
          </p:txBody>
        </p:sp>
        <p:sp>
          <p:nvSpPr>
            <p:cNvPr name="TextBox 70" id="70"/>
            <p:cNvSpPr txBox="true"/>
            <p:nvPr/>
          </p:nvSpPr>
          <p:spPr>
            <a:xfrm rot="0">
              <a:off x="355600" y="844550"/>
              <a:ext cx="5969000" cy="702310"/>
            </a:xfrm>
            <a:prstGeom prst="rect">
              <a:avLst/>
            </a:prstGeom>
          </p:spPr>
          <p:txBody>
            <a:bodyPr anchor="t" rtlCol="false" tIns="0" lIns="0" bIns="0" rIns="0">
              <a:spAutoFit/>
            </a:bodyPr>
            <a:lstStyle/>
            <a:p>
              <a:pPr algn="l">
                <a:lnSpc>
                  <a:spcPts val="2145"/>
                </a:lnSpc>
              </a:pPr>
              <a:r>
                <a:rPr lang="en-US" sz="1650">
                  <a:solidFill>
                    <a:srgbClr val="F4FBFF"/>
                  </a:solidFill>
                  <a:latin typeface="IBM Plex Sans"/>
                  <a:ea typeface="IBM Plex Sans"/>
                  <a:cs typeface="IBM Plex Sans"/>
                  <a:sym typeface="IBM Plex Sans"/>
                </a:rPr>
                <a:t>No intelligent recommendation for story quality and risk.</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061426"/>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PROPOSED SYSTEM — AI STORYFORGE</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05</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0" id="10"/>
          <p:cNvGrpSpPr/>
          <p:nvPr/>
        </p:nvGrpSpPr>
        <p:grpSpPr>
          <a:xfrm rot="0">
            <a:off x="685800" y="2333625"/>
            <a:ext cx="17173575" cy="1066800"/>
            <a:chOff x="0" y="0"/>
            <a:chExt cx="22898100" cy="1422400"/>
          </a:xfrm>
        </p:grpSpPr>
        <p:grpSp>
          <p:nvGrpSpPr>
            <p:cNvPr name="Group 11" id="11"/>
            <p:cNvGrpSpPr/>
            <p:nvPr/>
          </p:nvGrpSpPr>
          <p:grpSpPr>
            <a:xfrm rot="0">
              <a:off x="0" y="0"/>
              <a:ext cx="2857500" cy="1422400"/>
              <a:chOff x="0" y="0"/>
              <a:chExt cx="2857500" cy="1422400"/>
            </a:xfrm>
          </p:grpSpPr>
          <p:sp>
            <p:nvSpPr>
              <p:cNvPr name="Freeform 12" id="12"/>
              <p:cNvSpPr/>
              <p:nvPr/>
            </p:nvSpPr>
            <p:spPr>
              <a:xfrm flipH="false" flipV="false" rot="0">
                <a:off x="0" y="0"/>
                <a:ext cx="2857500" cy="1422400"/>
              </a:xfrm>
              <a:custGeom>
                <a:avLst/>
                <a:gdLst/>
                <a:ahLst/>
                <a:cxnLst/>
                <a:rect r="r" b="b" t="t" l="l"/>
                <a:pathLst>
                  <a:path h="1422400" w="2857500">
                    <a:moveTo>
                      <a:pt x="0" y="0"/>
                    </a:moveTo>
                    <a:lnTo>
                      <a:pt x="2857500" y="0"/>
                    </a:lnTo>
                    <a:lnTo>
                      <a:pt x="2857500" y="1422400"/>
                    </a:lnTo>
                    <a:lnTo>
                      <a:pt x="0" y="1422400"/>
                    </a:lnTo>
                    <a:close/>
                  </a:path>
                </a:pathLst>
              </a:custGeom>
              <a:solidFill>
                <a:srgbClr val="0B223B"/>
              </a:solidFill>
              <a:ln w="9525" cap="sq">
                <a:solidFill>
                  <a:srgbClr val="27E7FF"/>
                </a:solidFill>
                <a:prstDash val="solid"/>
                <a:miter/>
              </a:ln>
            </p:spPr>
          </p:sp>
          <p:sp>
            <p:nvSpPr>
              <p:cNvPr name="TextBox 13" id="13"/>
              <p:cNvSpPr txBox="true"/>
              <p:nvPr/>
            </p:nvSpPr>
            <p:spPr>
              <a:xfrm>
                <a:off x="0" y="-38100"/>
                <a:ext cx="2857500" cy="1460500"/>
              </a:xfrm>
              <a:prstGeom prst="rect">
                <a:avLst/>
              </a:prstGeom>
            </p:spPr>
            <p:txBody>
              <a:bodyPr anchor="ctr" rtlCol="false" tIns="50800" lIns="50800" bIns="50800" rIns="50800"/>
              <a:lstStyle/>
              <a:p>
                <a:pPr algn="l">
                  <a:lnSpc>
                    <a:spcPts val="1679"/>
                  </a:lnSpc>
                </a:pPr>
              </a:p>
            </p:txBody>
          </p:sp>
        </p:grpSp>
        <p:sp>
          <p:nvSpPr>
            <p:cNvPr name="AutoShape 14" id="14"/>
            <p:cNvSpPr/>
            <p:nvPr/>
          </p:nvSpPr>
          <p:spPr>
            <a:xfrm>
              <a:off x="2857500" y="711200"/>
              <a:ext cx="381000" cy="0"/>
            </a:xfrm>
            <a:prstGeom prst="line">
              <a:avLst/>
            </a:prstGeom>
            <a:ln cap="rnd" w="38100">
              <a:solidFill>
                <a:srgbClr val="27E7FF"/>
              </a:solidFill>
              <a:prstDash val="solid"/>
              <a:headEnd type="none" len="sm" w="sm"/>
              <a:tailEnd type="none" len="sm" w="sm"/>
            </a:ln>
          </p:spPr>
        </p:sp>
        <p:grpSp>
          <p:nvGrpSpPr>
            <p:cNvPr name="Group 15" id="15"/>
            <p:cNvGrpSpPr/>
            <p:nvPr/>
          </p:nvGrpSpPr>
          <p:grpSpPr>
            <a:xfrm rot="0">
              <a:off x="3340100" y="0"/>
              <a:ext cx="2857500" cy="1422400"/>
              <a:chOff x="0" y="0"/>
              <a:chExt cx="2857500" cy="1422400"/>
            </a:xfrm>
          </p:grpSpPr>
          <p:sp>
            <p:nvSpPr>
              <p:cNvPr name="Freeform 16" id="16"/>
              <p:cNvSpPr/>
              <p:nvPr/>
            </p:nvSpPr>
            <p:spPr>
              <a:xfrm flipH="false" flipV="false" rot="0">
                <a:off x="0" y="0"/>
                <a:ext cx="2857500" cy="1422400"/>
              </a:xfrm>
              <a:custGeom>
                <a:avLst/>
                <a:gdLst/>
                <a:ahLst/>
                <a:cxnLst/>
                <a:rect r="r" b="b" t="t" l="l"/>
                <a:pathLst>
                  <a:path h="1422400" w="2857500">
                    <a:moveTo>
                      <a:pt x="0" y="0"/>
                    </a:moveTo>
                    <a:lnTo>
                      <a:pt x="2857500" y="0"/>
                    </a:lnTo>
                    <a:lnTo>
                      <a:pt x="2857500" y="1422400"/>
                    </a:lnTo>
                    <a:lnTo>
                      <a:pt x="0" y="1422400"/>
                    </a:lnTo>
                    <a:close/>
                  </a:path>
                </a:pathLst>
              </a:custGeom>
              <a:solidFill>
                <a:srgbClr val="103B59"/>
              </a:solidFill>
              <a:ln w="9525" cap="sq">
                <a:solidFill>
                  <a:srgbClr val="27E7FF"/>
                </a:solidFill>
                <a:prstDash val="solid"/>
                <a:miter/>
              </a:ln>
            </p:spPr>
          </p:sp>
          <p:sp>
            <p:nvSpPr>
              <p:cNvPr name="TextBox 17" id="17"/>
              <p:cNvSpPr txBox="true"/>
              <p:nvPr/>
            </p:nvSpPr>
            <p:spPr>
              <a:xfrm>
                <a:off x="0" y="-38100"/>
                <a:ext cx="2857500" cy="1460500"/>
              </a:xfrm>
              <a:prstGeom prst="rect">
                <a:avLst/>
              </a:prstGeom>
            </p:spPr>
            <p:txBody>
              <a:bodyPr anchor="ctr" rtlCol="false" tIns="50800" lIns="50800" bIns="50800" rIns="50800"/>
              <a:lstStyle/>
              <a:p>
                <a:pPr algn="l">
                  <a:lnSpc>
                    <a:spcPts val="1679"/>
                  </a:lnSpc>
                </a:pPr>
              </a:p>
            </p:txBody>
          </p:sp>
        </p:grpSp>
        <p:sp>
          <p:nvSpPr>
            <p:cNvPr name="AutoShape 18" id="18"/>
            <p:cNvSpPr/>
            <p:nvPr/>
          </p:nvSpPr>
          <p:spPr>
            <a:xfrm>
              <a:off x="6197600" y="711200"/>
              <a:ext cx="381000" cy="0"/>
            </a:xfrm>
            <a:prstGeom prst="line">
              <a:avLst/>
            </a:prstGeom>
            <a:ln cap="rnd" w="38100">
              <a:solidFill>
                <a:srgbClr val="27E7FF"/>
              </a:solidFill>
              <a:prstDash val="solid"/>
              <a:headEnd type="none" len="sm" w="sm"/>
              <a:tailEnd type="none" len="sm" w="sm"/>
            </a:ln>
          </p:spPr>
        </p:sp>
        <p:grpSp>
          <p:nvGrpSpPr>
            <p:cNvPr name="Group 19" id="19"/>
            <p:cNvGrpSpPr/>
            <p:nvPr/>
          </p:nvGrpSpPr>
          <p:grpSpPr>
            <a:xfrm rot="0">
              <a:off x="6680200" y="0"/>
              <a:ext cx="3111500" cy="1422400"/>
              <a:chOff x="0" y="0"/>
              <a:chExt cx="3111500" cy="1422400"/>
            </a:xfrm>
          </p:grpSpPr>
          <p:sp>
            <p:nvSpPr>
              <p:cNvPr name="Freeform 20" id="20"/>
              <p:cNvSpPr/>
              <p:nvPr/>
            </p:nvSpPr>
            <p:spPr>
              <a:xfrm flipH="false" flipV="false" rot="0">
                <a:off x="0" y="0"/>
                <a:ext cx="3111500" cy="1422400"/>
              </a:xfrm>
              <a:custGeom>
                <a:avLst/>
                <a:gdLst/>
                <a:ahLst/>
                <a:cxnLst/>
                <a:rect r="r" b="b" t="t" l="l"/>
                <a:pathLst>
                  <a:path h="1422400" w="3111500">
                    <a:moveTo>
                      <a:pt x="0" y="0"/>
                    </a:moveTo>
                    <a:lnTo>
                      <a:pt x="3111500" y="0"/>
                    </a:lnTo>
                    <a:lnTo>
                      <a:pt x="3111500" y="1422400"/>
                    </a:lnTo>
                    <a:lnTo>
                      <a:pt x="0" y="1422400"/>
                    </a:lnTo>
                    <a:close/>
                  </a:path>
                </a:pathLst>
              </a:custGeom>
              <a:solidFill>
                <a:srgbClr val="0B223B"/>
              </a:solidFill>
              <a:ln w="9525" cap="sq">
                <a:solidFill>
                  <a:srgbClr val="27E7FF"/>
                </a:solidFill>
                <a:prstDash val="solid"/>
                <a:miter/>
              </a:ln>
            </p:spPr>
          </p:sp>
          <p:sp>
            <p:nvSpPr>
              <p:cNvPr name="TextBox 21" id="21"/>
              <p:cNvSpPr txBox="true"/>
              <p:nvPr/>
            </p:nvSpPr>
            <p:spPr>
              <a:xfrm>
                <a:off x="0" y="-38100"/>
                <a:ext cx="3111500" cy="1460500"/>
              </a:xfrm>
              <a:prstGeom prst="rect">
                <a:avLst/>
              </a:prstGeom>
            </p:spPr>
            <p:txBody>
              <a:bodyPr anchor="ctr" rtlCol="false" tIns="50800" lIns="50800" bIns="50800" rIns="50800"/>
              <a:lstStyle/>
              <a:p>
                <a:pPr algn="l">
                  <a:lnSpc>
                    <a:spcPts val="1679"/>
                  </a:lnSpc>
                </a:pPr>
              </a:p>
            </p:txBody>
          </p:sp>
        </p:grpSp>
        <p:sp>
          <p:nvSpPr>
            <p:cNvPr name="AutoShape 22" id="22"/>
            <p:cNvSpPr/>
            <p:nvPr/>
          </p:nvSpPr>
          <p:spPr>
            <a:xfrm>
              <a:off x="9791700" y="711200"/>
              <a:ext cx="127000" cy="0"/>
            </a:xfrm>
            <a:prstGeom prst="line">
              <a:avLst/>
            </a:prstGeom>
            <a:ln cap="rnd" w="38100">
              <a:solidFill>
                <a:srgbClr val="27E7FF"/>
              </a:solidFill>
              <a:prstDash val="solid"/>
              <a:headEnd type="none" len="sm" w="sm"/>
              <a:tailEnd type="none" len="sm" w="sm"/>
            </a:ln>
          </p:spPr>
        </p:sp>
        <p:grpSp>
          <p:nvGrpSpPr>
            <p:cNvPr name="Group 23" id="23"/>
            <p:cNvGrpSpPr/>
            <p:nvPr/>
          </p:nvGrpSpPr>
          <p:grpSpPr>
            <a:xfrm rot="0">
              <a:off x="10020300" y="0"/>
              <a:ext cx="2857500" cy="1422400"/>
              <a:chOff x="0" y="0"/>
              <a:chExt cx="2857500" cy="1422400"/>
            </a:xfrm>
          </p:grpSpPr>
          <p:sp>
            <p:nvSpPr>
              <p:cNvPr name="Freeform 24" id="24"/>
              <p:cNvSpPr/>
              <p:nvPr/>
            </p:nvSpPr>
            <p:spPr>
              <a:xfrm flipH="false" flipV="false" rot="0">
                <a:off x="0" y="0"/>
                <a:ext cx="2857500" cy="1422400"/>
              </a:xfrm>
              <a:custGeom>
                <a:avLst/>
                <a:gdLst/>
                <a:ahLst/>
                <a:cxnLst/>
                <a:rect r="r" b="b" t="t" l="l"/>
                <a:pathLst>
                  <a:path h="1422400" w="2857500">
                    <a:moveTo>
                      <a:pt x="0" y="0"/>
                    </a:moveTo>
                    <a:lnTo>
                      <a:pt x="2857500" y="0"/>
                    </a:lnTo>
                    <a:lnTo>
                      <a:pt x="2857500" y="1422400"/>
                    </a:lnTo>
                    <a:lnTo>
                      <a:pt x="0" y="1422400"/>
                    </a:lnTo>
                    <a:close/>
                  </a:path>
                </a:pathLst>
              </a:custGeom>
              <a:solidFill>
                <a:srgbClr val="0B223B"/>
              </a:solidFill>
              <a:ln w="9525" cap="sq">
                <a:solidFill>
                  <a:srgbClr val="27E7FF"/>
                </a:solidFill>
                <a:prstDash val="solid"/>
                <a:miter/>
              </a:ln>
            </p:spPr>
          </p:sp>
          <p:sp>
            <p:nvSpPr>
              <p:cNvPr name="TextBox 25" id="25"/>
              <p:cNvSpPr txBox="true"/>
              <p:nvPr/>
            </p:nvSpPr>
            <p:spPr>
              <a:xfrm>
                <a:off x="0" y="-38100"/>
                <a:ext cx="2857500" cy="1460500"/>
              </a:xfrm>
              <a:prstGeom prst="rect">
                <a:avLst/>
              </a:prstGeom>
            </p:spPr>
            <p:txBody>
              <a:bodyPr anchor="ctr" rtlCol="false" tIns="50800" lIns="50800" bIns="50800" rIns="50800"/>
              <a:lstStyle/>
              <a:p>
                <a:pPr algn="l">
                  <a:lnSpc>
                    <a:spcPts val="1679"/>
                  </a:lnSpc>
                </a:pPr>
              </a:p>
            </p:txBody>
          </p:sp>
        </p:grpSp>
        <p:sp>
          <p:nvSpPr>
            <p:cNvPr name="AutoShape 26" id="26"/>
            <p:cNvSpPr/>
            <p:nvPr/>
          </p:nvSpPr>
          <p:spPr>
            <a:xfrm>
              <a:off x="12877800" y="711200"/>
              <a:ext cx="381000" cy="0"/>
            </a:xfrm>
            <a:prstGeom prst="line">
              <a:avLst/>
            </a:prstGeom>
            <a:ln cap="rnd" w="38100">
              <a:solidFill>
                <a:srgbClr val="27E7FF"/>
              </a:solidFill>
              <a:prstDash val="solid"/>
              <a:headEnd type="none" len="sm" w="sm"/>
              <a:tailEnd type="none" len="sm" w="sm"/>
            </a:ln>
          </p:spPr>
        </p:sp>
        <p:grpSp>
          <p:nvGrpSpPr>
            <p:cNvPr name="Group 27" id="27"/>
            <p:cNvGrpSpPr/>
            <p:nvPr/>
          </p:nvGrpSpPr>
          <p:grpSpPr>
            <a:xfrm rot="0">
              <a:off x="13360400" y="0"/>
              <a:ext cx="2857500" cy="1422400"/>
              <a:chOff x="0" y="0"/>
              <a:chExt cx="2857500" cy="1422400"/>
            </a:xfrm>
          </p:grpSpPr>
          <p:sp>
            <p:nvSpPr>
              <p:cNvPr name="Freeform 28" id="28"/>
              <p:cNvSpPr/>
              <p:nvPr/>
            </p:nvSpPr>
            <p:spPr>
              <a:xfrm flipH="false" flipV="false" rot="0">
                <a:off x="0" y="0"/>
                <a:ext cx="2857500" cy="1422400"/>
              </a:xfrm>
              <a:custGeom>
                <a:avLst/>
                <a:gdLst/>
                <a:ahLst/>
                <a:cxnLst/>
                <a:rect r="r" b="b" t="t" l="l"/>
                <a:pathLst>
                  <a:path h="1422400" w="2857500">
                    <a:moveTo>
                      <a:pt x="0" y="0"/>
                    </a:moveTo>
                    <a:lnTo>
                      <a:pt x="2857500" y="0"/>
                    </a:lnTo>
                    <a:lnTo>
                      <a:pt x="2857500" y="1422400"/>
                    </a:lnTo>
                    <a:lnTo>
                      <a:pt x="0" y="1422400"/>
                    </a:lnTo>
                    <a:close/>
                  </a:path>
                </a:pathLst>
              </a:custGeom>
              <a:solidFill>
                <a:srgbClr val="0B223B"/>
              </a:solidFill>
              <a:ln w="9525" cap="sq">
                <a:solidFill>
                  <a:srgbClr val="27E7FF"/>
                </a:solidFill>
                <a:prstDash val="solid"/>
                <a:miter/>
              </a:ln>
            </p:spPr>
          </p:sp>
          <p:sp>
            <p:nvSpPr>
              <p:cNvPr name="TextBox 29" id="29"/>
              <p:cNvSpPr txBox="true"/>
              <p:nvPr/>
            </p:nvSpPr>
            <p:spPr>
              <a:xfrm>
                <a:off x="0" y="-38100"/>
                <a:ext cx="2857500" cy="1460500"/>
              </a:xfrm>
              <a:prstGeom prst="rect">
                <a:avLst/>
              </a:prstGeom>
            </p:spPr>
            <p:txBody>
              <a:bodyPr anchor="ctr" rtlCol="false" tIns="50800" lIns="50800" bIns="50800" rIns="50800"/>
              <a:lstStyle/>
              <a:p>
                <a:pPr algn="l">
                  <a:lnSpc>
                    <a:spcPts val="1679"/>
                  </a:lnSpc>
                </a:pPr>
              </a:p>
            </p:txBody>
          </p:sp>
        </p:grpSp>
        <p:sp>
          <p:nvSpPr>
            <p:cNvPr name="AutoShape 30" id="30"/>
            <p:cNvSpPr/>
            <p:nvPr/>
          </p:nvSpPr>
          <p:spPr>
            <a:xfrm>
              <a:off x="16217900" y="711200"/>
              <a:ext cx="381000" cy="0"/>
            </a:xfrm>
            <a:prstGeom prst="line">
              <a:avLst/>
            </a:prstGeom>
            <a:ln cap="rnd" w="38100">
              <a:solidFill>
                <a:srgbClr val="27E7FF"/>
              </a:solidFill>
              <a:prstDash val="solid"/>
              <a:headEnd type="none" len="sm" w="sm"/>
              <a:tailEnd type="none" len="sm" w="sm"/>
            </a:ln>
          </p:spPr>
        </p:sp>
        <p:grpSp>
          <p:nvGrpSpPr>
            <p:cNvPr name="Group 31" id="31"/>
            <p:cNvGrpSpPr/>
            <p:nvPr/>
          </p:nvGrpSpPr>
          <p:grpSpPr>
            <a:xfrm rot="0">
              <a:off x="16700500" y="0"/>
              <a:ext cx="2857500" cy="1422400"/>
              <a:chOff x="0" y="0"/>
              <a:chExt cx="2857500" cy="1422400"/>
            </a:xfrm>
          </p:grpSpPr>
          <p:sp>
            <p:nvSpPr>
              <p:cNvPr name="Freeform 32" id="32"/>
              <p:cNvSpPr/>
              <p:nvPr/>
            </p:nvSpPr>
            <p:spPr>
              <a:xfrm flipH="false" flipV="false" rot="0">
                <a:off x="0" y="0"/>
                <a:ext cx="2857500" cy="1422400"/>
              </a:xfrm>
              <a:custGeom>
                <a:avLst/>
                <a:gdLst/>
                <a:ahLst/>
                <a:cxnLst/>
                <a:rect r="r" b="b" t="t" l="l"/>
                <a:pathLst>
                  <a:path h="1422400" w="2857500">
                    <a:moveTo>
                      <a:pt x="0" y="0"/>
                    </a:moveTo>
                    <a:lnTo>
                      <a:pt x="2857500" y="0"/>
                    </a:lnTo>
                    <a:lnTo>
                      <a:pt x="2857500" y="1422400"/>
                    </a:lnTo>
                    <a:lnTo>
                      <a:pt x="0" y="1422400"/>
                    </a:lnTo>
                    <a:close/>
                  </a:path>
                </a:pathLst>
              </a:custGeom>
              <a:solidFill>
                <a:srgbClr val="0B223B"/>
              </a:solidFill>
              <a:ln w="9525" cap="sq">
                <a:solidFill>
                  <a:srgbClr val="27E7FF"/>
                </a:solidFill>
                <a:prstDash val="solid"/>
                <a:miter/>
              </a:ln>
            </p:spPr>
          </p:sp>
          <p:sp>
            <p:nvSpPr>
              <p:cNvPr name="TextBox 33" id="33"/>
              <p:cNvSpPr txBox="true"/>
              <p:nvPr/>
            </p:nvSpPr>
            <p:spPr>
              <a:xfrm>
                <a:off x="0" y="-38100"/>
                <a:ext cx="2857500" cy="1460500"/>
              </a:xfrm>
              <a:prstGeom prst="rect">
                <a:avLst/>
              </a:prstGeom>
            </p:spPr>
            <p:txBody>
              <a:bodyPr anchor="ctr" rtlCol="false" tIns="50800" lIns="50800" bIns="50800" rIns="50800"/>
              <a:lstStyle/>
              <a:p>
                <a:pPr algn="l">
                  <a:lnSpc>
                    <a:spcPts val="1679"/>
                  </a:lnSpc>
                </a:pPr>
              </a:p>
            </p:txBody>
          </p:sp>
        </p:grpSp>
        <p:sp>
          <p:nvSpPr>
            <p:cNvPr name="AutoShape 34" id="34"/>
            <p:cNvSpPr/>
            <p:nvPr/>
          </p:nvSpPr>
          <p:spPr>
            <a:xfrm>
              <a:off x="19558000" y="711200"/>
              <a:ext cx="381000" cy="0"/>
            </a:xfrm>
            <a:prstGeom prst="line">
              <a:avLst/>
            </a:prstGeom>
            <a:ln cap="rnd" w="38100">
              <a:solidFill>
                <a:srgbClr val="27E7FF"/>
              </a:solidFill>
              <a:prstDash val="solid"/>
              <a:headEnd type="none" len="sm" w="sm"/>
              <a:tailEnd type="none" len="sm" w="sm"/>
            </a:ln>
          </p:spPr>
        </p:sp>
        <p:grpSp>
          <p:nvGrpSpPr>
            <p:cNvPr name="Group 35" id="35"/>
            <p:cNvGrpSpPr/>
            <p:nvPr/>
          </p:nvGrpSpPr>
          <p:grpSpPr>
            <a:xfrm rot="0">
              <a:off x="20040600" y="0"/>
              <a:ext cx="2857500" cy="1422400"/>
              <a:chOff x="0" y="0"/>
              <a:chExt cx="2857500" cy="1422400"/>
            </a:xfrm>
          </p:grpSpPr>
          <p:sp>
            <p:nvSpPr>
              <p:cNvPr name="Freeform 36" id="36"/>
              <p:cNvSpPr/>
              <p:nvPr/>
            </p:nvSpPr>
            <p:spPr>
              <a:xfrm flipH="false" flipV="false" rot="0">
                <a:off x="0" y="0"/>
                <a:ext cx="2857500" cy="1422400"/>
              </a:xfrm>
              <a:custGeom>
                <a:avLst/>
                <a:gdLst/>
                <a:ahLst/>
                <a:cxnLst/>
                <a:rect r="r" b="b" t="t" l="l"/>
                <a:pathLst>
                  <a:path h="1422400" w="2857500">
                    <a:moveTo>
                      <a:pt x="0" y="0"/>
                    </a:moveTo>
                    <a:lnTo>
                      <a:pt x="2857500" y="0"/>
                    </a:lnTo>
                    <a:lnTo>
                      <a:pt x="2857500" y="1422400"/>
                    </a:lnTo>
                    <a:lnTo>
                      <a:pt x="0" y="1422400"/>
                    </a:lnTo>
                    <a:close/>
                  </a:path>
                </a:pathLst>
              </a:custGeom>
              <a:solidFill>
                <a:srgbClr val="0B223B"/>
              </a:solidFill>
              <a:ln w="9525" cap="sq">
                <a:solidFill>
                  <a:srgbClr val="27E7FF"/>
                </a:solidFill>
                <a:prstDash val="solid"/>
                <a:miter/>
              </a:ln>
            </p:spPr>
          </p:sp>
          <p:sp>
            <p:nvSpPr>
              <p:cNvPr name="TextBox 37" id="37"/>
              <p:cNvSpPr txBox="true"/>
              <p:nvPr/>
            </p:nvSpPr>
            <p:spPr>
              <a:xfrm>
                <a:off x="0" y="-38100"/>
                <a:ext cx="2857500" cy="14605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152400" y="390525"/>
              <a:ext cx="25527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USER STORY</a:t>
              </a:r>
            </a:p>
          </p:txBody>
        </p:sp>
        <p:sp>
          <p:nvSpPr>
            <p:cNvPr name="TextBox 39" id="39"/>
            <p:cNvSpPr txBox="true"/>
            <p:nvPr/>
          </p:nvSpPr>
          <p:spPr>
            <a:xfrm rot="0">
              <a:off x="3492500" y="390525"/>
              <a:ext cx="2552700" cy="310515"/>
            </a:xfrm>
            <a:prstGeom prst="rect">
              <a:avLst/>
            </a:prstGeom>
          </p:spPr>
          <p:txBody>
            <a:bodyPr anchor="t" rtlCol="false" tIns="0" lIns="0" bIns="0" rIns="0">
              <a:spAutoFit/>
            </a:bodyPr>
            <a:lstStyle/>
            <a:p>
              <a:pPr algn="ctr">
                <a:lnSpc>
                  <a:spcPts val="1995"/>
                </a:lnSpc>
              </a:pPr>
              <a:r>
                <a:rPr lang="en-US" sz="1425" b="true">
                  <a:solidFill>
                    <a:srgbClr val="27E7FF"/>
                  </a:solidFill>
                  <a:latin typeface="Rajdhani Bold"/>
                  <a:ea typeface="Rajdhani Bold"/>
                  <a:cs typeface="Rajdhani Bold"/>
                  <a:sym typeface="Rajdhani Bold"/>
                </a:rPr>
                <a:t>AI ANALYSIS</a:t>
              </a:r>
            </a:p>
          </p:txBody>
        </p:sp>
        <p:sp>
          <p:nvSpPr>
            <p:cNvPr name="TextBox 40" id="40"/>
            <p:cNvSpPr txBox="true"/>
            <p:nvPr/>
          </p:nvSpPr>
          <p:spPr>
            <a:xfrm rot="0">
              <a:off x="6832600" y="390525"/>
              <a:ext cx="2806700" cy="6407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QUALITY • AMBIGUITY • COMPLEXITY</a:t>
              </a:r>
            </a:p>
          </p:txBody>
        </p:sp>
        <p:sp>
          <p:nvSpPr>
            <p:cNvPr name="TextBox 41" id="41"/>
            <p:cNvSpPr txBox="true"/>
            <p:nvPr/>
          </p:nvSpPr>
          <p:spPr>
            <a:xfrm rot="0">
              <a:off x="10172700" y="390525"/>
              <a:ext cx="25527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RISK + STORY POINTS</a:t>
              </a:r>
            </a:p>
          </p:txBody>
        </p:sp>
        <p:sp>
          <p:nvSpPr>
            <p:cNvPr name="TextBox 42" id="42"/>
            <p:cNvSpPr txBox="true"/>
            <p:nvPr/>
          </p:nvSpPr>
          <p:spPr>
            <a:xfrm rot="0">
              <a:off x="13512800" y="390525"/>
              <a:ext cx="25527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IMPROVED STORY</a:t>
              </a:r>
            </a:p>
          </p:txBody>
        </p:sp>
        <p:sp>
          <p:nvSpPr>
            <p:cNvPr name="TextBox 43" id="43"/>
            <p:cNvSpPr txBox="true"/>
            <p:nvPr/>
          </p:nvSpPr>
          <p:spPr>
            <a:xfrm rot="0">
              <a:off x="16852900" y="390525"/>
              <a:ext cx="25527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ACCEPTANCE CRITERIA</a:t>
              </a:r>
            </a:p>
          </p:txBody>
        </p:sp>
        <p:sp>
          <p:nvSpPr>
            <p:cNvPr name="TextBox 44" id="44"/>
            <p:cNvSpPr txBox="true"/>
            <p:nvPr/>
          </p:nvSpPr>
          <p:spPr>
            <a:xfrm rot="0">
              <a:off x="20193000" y="390525"/>
              <a:ext cx="25527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AGILE BACKLOG</a:t>
              </a:r>
            </a:p>
          </p:txBody>
        </p:sp>
      </p:grpSp>
      <p:grpSp>
        <p:nvGrpSpPr>
          <p:cNvPr name="Group 45" id="45"/>
          <p:cNvGrpSpPr/>
          <p:nvPr/>
        </p:nvGrpSpPr>
        <p:grpSpPr>
          <a:xfrm rot="0">
            <a:off x="2095500" y="4238625"/>
            <a:ext cx="6286500" cy="838200"/>
            <a:chOff x="0" y="0"/>
            <a:chExt cx="8382000" cy="1117600"/>
          </a:xfrm>
        </p:grpSpPr>
        <p:grpSp>
          <p:nvGrpSpPr>
            <p:cNvPr name="Group 46" id="46"/>
            <p:cNvGrpSpPr/>
            <p:nvPr/>
          </p:nvGrpSpPr>
          <p:grpSpPr>
            <a:xfrm rot="0">
              <a:off x="0" y="0"/>
              <a:ext cx="8382000" cy="1117600"/>
              <a:chOff x="0" y="0"/>
              <a:chExt cx="8382000" cy="1117600"/>
            </a:xfrm>
          </p:grpSpPr>
          <p:sp>
            <p:nvSpPr>
              <p:cNvPr name="Freeform 47" id="47"/>
              <p:cNvSpPr/>
              <p:nvPr/>
            </p:nvSpPr>
            <p:spPr>
              <a:xfrm flipH="false" flipV="false" rot="0">
                <a:off x="0" y="0"/>
                <a:ext cx="8382000" cy="1117600"/>
              </a:xfrm>
              <a:custGeom>
                <a:avLst/>
                <a:gdLst/>
                <a:ahLst/>
                <a:cxnLst/>
                <a:rect r="r" b="b" t="t" l="l"/>
                <a:pathLst>
                  <a:path h="1117600" w="8382000">
                    <a:moveTo>
                      <a:pt x="0" y="0"/>
                    </a:moveTo>
                    <a:lnTo>
                      <a:pt x="8382000" y="0"/>
                    </a:lnTo>
                    <a:lnTo>
                      <a:pt x="8382000" y="1117600"/>
                    </a:lnTo>
                    <a:lnTo>
                      <a:pt x="0" y="1117600"/>
                    </a:lnTo>
                    <a:close/>
                  </a:path>
                </a:pathLst>
              </a:custGeom>
              <a:solidFill>
                <a:srgbClr val="0D2946"/>
              </a:solidFill>
              <a:ln w="9525" cap="sq">
                <a:solidFill>
                  <a:srgbClr val="1B5873"/>
                </a:solidFill>
                <a:prstDash val="solid"/>
                <a:miter/>
              </a:ln>
            </p:spPr>
          </p:sp>
          <p:sp>
            <p:nvSpPr>
              <p:cNvPr name="TextBox 48" id="48"/>
              <p:cNvSpPr txBox="true"/>
              <p:nvPr/>
            </p:nvSpPr>
            <p:spPr>
              <a:xfrm>
                <a:off x="0" y="-38100"/>
                <a:ext cx="8382000" cy="1155700"/>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330200" y="279400"/>
              <a:ext cx="7620000" cy="419100"/>
            </a:xfrm>
            <a:prstGeom prst="rect">
              <a:avLst/>
            </a:prstGeom>
          </p:spPr>
          <p:txBody>
            <a:bodyPr anchor="t" rtlCol="false" tIns="0" lIns="0" bIns="0" rIns="0">
              <a:spAutoFit/>
            </a:bodyPr>
            <a:lstStyle/>
            <a:p>
              <a:pPr algn="l">
                <a:lnSpc>
                  <a:spcPts val="2625"/>
                </a:lnSpc>
              </a:pPr>
              <a:r>
                <a:rPr lang="en-US" sz="1875" b="true">
                  <a:solidFill>
                    <a:srgbClr val="F4FBFF"/>
                  </a:solidFill>
                  <a:latin typeface="Rajdhani Bold"/>
                  <a:ea typeface="Rajdhani Bold"/>
                  <a:cs typeface="Rajdhani Bold"/>
                  <a:sym typeface="Rajdhani Bold"/>
                </a:rPr>
                <a:t>1  Faster user-story review</a:t>
              </a:r>
            </a:p>
          </p:txBody>
        </p:sp>
      </p:grpSp>
      <p:grpSp>
        <p:nvGrpSpPr>
          <p:cNvPr name="Group 50" id="50"/>
          <p:cNvGrpSpPr/>
          <p:nvPr/>
        </p:nvGrpSpPr>
        <p:grpSpPr>
          <a:xfrm rot="0">
            <a:off x="2095500" y="5381625"/>
            <a:ext cx="6286500" cy="838200"/>
            <a:chOff x="0" y="0"/>
            <a:chExt cx="8382000" cy="1117600"/>
          </a:xfrm>
        </p:grpSpPr>
        <p:grpSp>
          <p:nvGrpSpPr>
            <p:cNvPr name="Group 51" id="51"/>
            <p:cNvGrpSpPr/>
            <p:nvPr/>
          </p:nvGrpSpPr>
          <p:grpSpPr>
            <a:xfrm rot="0">
              <a:off x="0" y="0"/>
              <a:ext cx="8382000" cy="1117600"/>
              <a:chOff x="0" y="0"/>
              <a:chExt cx="8382000" cy="1117600"/>
            </a:xfrm>
          </p:grpSpPr>
          <p:sp>
            <p:nvSpPr>
              <p:cNvPr name="Freeform 52" id="52"/>
              <p:cNvSpPr/>
              <p:nvPr/>
            </p:nvSpPr>
            <p:spPr>
              <a:xfrm flipH="false" flipV="false" rot="0">
                <a:off x="0" y="0"/>
                <a:ext cx="8382000" cy="1117600"/>
              </a:xfrm>
              <a:custGeom>
                <a:avLst/>
                <a:gdLst/>
                <a:ahLst/>
                <a:cxnLst/>
                <a:rect r="r" b="b" t="t" l="l"/>
                <a:pathLst>
                  <a:path h="1117600" w="8382000">
                    <a:moveTo>
                      <a:pt x="0" y="0"/>
                    </a:moveTo>
                    <a:lnTo>
                      <a:pt x="8382000" y="0"/>
                    </a:lnTo>
                    <a:lnTo>
                      <a:pt x="8382000" y="1117600"/>
                    </a:lnTo>
                    <a:lnTo>
                      <a:pt x="0" y="1117600"/>
                    </a:lnTo>
                    <a:close/>
                  </a:path>
                </a:pathLst>
              </a:custGeom>
              <a:solidFill>
                <a:srgbClr val="0D2946"/>
              </a:solidFill>
              <a:ln w="9525" cap="sq">
                <a:solidFill>
                  <a:srgbClr val="1B5873"/>
                </a:solidFill>
                <a:prstDash val="solid"/>
                <a:miter/>
              </a:ln>
            </p:spPr>
          </p:sp>
          <p:sp>
            <p:nvSpPr>
              <p:cNvPr name="TextBox 53" id="53"/>
              <p:cNvSpPr txBox="true"/>
              <p:nvPr/>
            </p:nvSpPr>
            <p:spPr>
              <a:xfrm>
                <a:off x="0" y="-38100"/>
                <a:ext cx="8382000" cy="1155700"/>
              </a:xfrm>
              <a:prstGeom prst="rect">
                <a:avLst/>
              </a:prstGeom>
            </p:spPr>
            <p:txBody>
              <a:bodyPr anchor="ctr" rtlCol="false" tIns="50800" lIns="50800" bIns="50800" rIns="50800"/>
              <a:lstStyle/>
              <a:p>
                <a:pPr algn="l">
                  <a:lnSpc>
                    <a:spcPts val="1679"/>
                  </a:lnSpc>
                </a:pPr>
              </a:p>
            </p:txBody>
          </p:sp>
        </p:grpSp>
        <p:sp>
          <p:nvSpPr>
            <p:cNvPr name="TextBox 54" id="54"/>
            <p:cNvSpPr txBox="true"/>
            <p:nvPr/>
          </p:nvSpPr>
          <p:spPr>
            <a:xfrm rot="0">
              <a:off x="330200" y="279400"/>
              <a:ext cx="7620000" cy="419100"/>
            </a:xfrm>
            <a:prstGeom prst="rect">
              <a:avLst/>
            </a:prstGeom>
          </p:spPr>
          <p:txBody>
            <a:bodyPr anchor="t" rtlCol="false" tIns="0" lIns="0" bIns="0" rIns="0">
              <a:spAutoFit/>
            </a:bodyPr>
            <a:lstStyle/>
            <a:p>
              <a:pPr algn="l">
                <a:lnSpc>
                  <a:spcPts val="2625"/>
                </a:lnSpc>
              </a:pPr>
              <a:r>
                <a:rPr lang="en-US" sz="1875" b="true">
                  <a:solidFill>
                    <a:srgbClr val="F4FBFF"/>
                  </a:solidFill>
                  <a:latin typeface="Rajdhani Bold"/>
                  <a:ea typeface="Rajdhani Bold"/>
                  <a:cs typeface="Rajdhani Bold"/>
                  <a:sym typeface="Rajdhani Bold"/>
                </a:rPr>
                <a:t>2  Detects unclear requirements</a:t>
              </a:r>
            </a:p>
          </p:txBody>
        </p:sp>
      </p:grpSp>
      <p:grpSp>
        <p:nvGrpSpPr>
          <p:cNvPr name="Group 55" id="55"/>
          <p:cNvGrpSpPr/>
          <p:nvPr/>
        </p:nvGrpSpPr>
        <p:grpSpPr>
          <a:xfrm rot="0">
            <a:off x="2095500" y="6524625"/>
            <a:ext cx="6286500" cy="838200"/>
            <a:chOff x="0" y="0"/>
            <a:chExt cx="8382000" cy="1117600"/>
          </a:xfrm>
        </p:grpSpPr>
        <p:grpSp>
          <p:nvGrpSpPr>
            <p:cNvPr name="Group 56" id="56"/>
            <p:cNvGrpSpPr/>
            <p:nvPr/>
          </p:nvGrpSpPr>
          <p:grpSpPr>
            <a:xfrm rot="0">
              <a:off x="0" y="0"/>
              <a:ext cx="8382000" cy="1117600"/>
              <a:chOff x="0" y="0"/>
              <a:chExt cx="8382000" cy="1117600"/>
            </a:xfrm>
          </p:grpSpPr>
          <p:sp>
            <p:nvSpPr>
              <p:cNvPr name="Freeform 57" id="57"/>
              <p:cNvSpPr/>
              <p:nvPr/>
            </p:nvSpPr>
            <p:spPr>
              <a:xfrm flipH="false" flipV="false" rot="0">
                <a:off x="0" y="0"/>
                <a:ext cx="8382000" cy="1117600"/>
              </a:xfrm>
              <a:custGeom>
                <a:avLst/>
                <a:gdLst/>
                <a:ahLst/>
                <a:cxnLst/>
                <a:rect r="r" b="b" t="t" l="l"/>
                <a:pathLst>
                  <a:path h="1117600" w="8382000">
                    <a:moveTo>
                      <a:pt x="0" y="0"/>
                    </a:moveTo>
                    <a:lnTo>
                      <a:pt x="8382000" y="0"/>
                    </a:lnTo>
                    <a:lnTo>
                      <a:pt x="8382000" y="1117600"/>
                    </a:lnTo>
                    <a:lnTo>
                      <a:pt x="0" y="1117600"/>
                    </a:lnTo>
                    <a:close/>
                  </a:path>
                </a:pathLst>
              </a:custGeom>
              <a:solidFill>
                <a:srgbClr val="0D2946"/>
              </a:solidFill>
              <a:ln w="9525" cap="sq">
                <a:solidFill>
                  <a:srgbClr val="1B5873"/>
                </a:solidFill>
                <a:prstDash val="solid"/>
                <a:miter/>
              </a:ln>
            </p:spPr>
          </p:sp>
          <p:sp>
            <p:nvSpPr>
              <p:cNvPr name="TextBox 58" id="58"/>
              <p:cNvSpPr txBox="true"/>
              <p:nvPr/>
            </p:nvSpPr>
            <p:spPr>
              <a:xfrm>
                <a:off x="0" y="-38100"/>
                <a:ext cx="8382000" cy="1155700"/>
              </a:xfrm>
              <a:prstGeom prst="rect">
                <a:avLst/>
              </a:prstGeom>
            </p:spPr>
            <p:txBody>
              <a:bodyPr anchor="ctr" rtlCol="false" tIns="50800" lIns="50800" bIns="50800" rIns="50800"/>
              <a:lstStyle/>
              <a:p>
                <a:pPr algn="l">
                  <a:lnSpc>
                    <a:spcPts val="1679"/>
                  </a:lnSpc>
                </a:pPr>
              </a:p>
            </p:txBody>
          </p:sp>
        </p:grpSp>
        <p:sp>
          <p:nvSpPr>
            <p:cNvPr name="TextBox 59" id="59"/>
            <p:cNvSpPr txBox="true"/>
            <p:nvPr/>
          </p:nvSpPr>
          <p:spPr>
            <a:xfrm rot="0">
              <a:off x="330200" y="279400"/>
              <a:ext cx="7620000" cy="419100"/>
            </a:xfrm>
            <a:prstGeom prst="rect">
              <a:avLst/>
            </a:prstGeom>
          </p:spPr>
          <p:txBody>
            <a:bodyPr anchor="t" rtlCol="false" tIns="0" lIns="0" bIns="0" rIns="0">
              <a:spAutoFit/>
            </a:bodyPr>
            <a:lstStyle/>
            <a:p>
              <a:pPr algn="l">
                <a:lnSpc>
                  <a:spcPts val="2625"/>
                </a:lnSpc>
              </a:pPr>
              <a:r>
                <a:rPr lang="en-US" sz="1875" b="true">
                  <a:solidFill>
                    <a:srgbClr val="F4FBFF"/>
                  </a:solidFill>
                  <a:latin typeface="Rajdhani Bold"/>
                  <a:ea typeface="Rajdhani Bold"/>
                  <a:cs typeface="Rajdhani Bold"/>
                  <a:sym typeface="Rajdhani Bold"/>
                </a:rPr>
                <a:t>3  AI-assisted estimation</a:t>
              </a:r>
            </a:p>
          </p:txBody>
        </p:sp>
      </p:grpSp>
      <p:grpSp>
        <p:nvGrpSpPr>
          <p:cNvPr name="Group 60" id="60"/>
          <p:cNvGrpSpPr/>
          <p:nvPr/>
        </p:nvGrpSpPr>
        <p:grpSpPr>
          <a:xfrm rot="0">
            <a:off x="2095500" y="7667625"/>
            <a:ext cx="6286500" cy="838200"/>
            <a:chOff x="0" y="0"/>
            <a:chExt cx="8382000" cy="1117600"/>
          </a:xfrm>
        </p:grpSpPr>
        <p:grpSp>
          <p:nvGrpSpPr>
            <p:cNvPr name="Group 61" id="61"/>
            <p:cNvGrpSpPr/>
            <p:nvPr/>
          </p:nvGrpSpPr>
          <p:grpSpPr>
            <a:xfrm rot="0">
              <a:off x="0" y="0"/>
              <a:ext cx="8382000" cy="1117600"/>
              <a:chOff x="0" y="0"/>
              <a:chExt cx="8382000" cy="1117600"/>
            </a:xfrm>
          </p:grpSpPr>
          <p:sp>
            <p:nvSpPr>
              <p:cNvPr name="Freeform 62" id="62"/>
              <p:cNvSpPr/>
              <p:nvPr/>
            </p:nvSpPr>
            <p:spPr>
              <a:xfrm flipH="false" flipV="false" rot="0">
                <a:off x="0" y="0"/>
                <a:ext cx="8382000" cy="1117600"/>
              </a:xfrm>
              <a:custGeom>
                <a:avLst/>
                <a:gdLst/>
                <a:ahLst/>
                <a:cxnLst/>
                <a:rect r="r" b="b" t="t" l="l"/>
                <a:pathLst>
                  <a:path h="1117600" w="8382000">
                    <a:moveTo>
                      <a:pt x="0" y="0"/>
                    </a:moveTo>
                    <a:lnTo>
                      <a:pt x="8382000" y="0"/>
                    </a:lnTo>
                    <a:lnTo>
                      <a:pt x="8382000" y="1117600"/>
                    </a:lnTo>
                    <a:lnTo>
                      <a:pt x="0" y="1117600"/>
                    </a:lnTo>
                    <a:close/>
                  </a:path>
                </a:pathLst>
              </a:custGeom>
              <a:solidFill>
                <a:srgbClr val="0D2946"/>
              </a:solidFill>
              <a:ln w="9525" cap="sq">
                <a:solidFill>
                  <a:srgbClr val="1B5873"/>
                </a:solidFill>
                <a:prstDash val="solid"/>
                <a:miter/>
              </a:ln>
            </p:spPr>
          </p:sp>
          <p:sp>
            <p:nvSpPr>
              <p:cNvPr name="TextBox 63" id="63"/>
              <p:cNvSpPr txBox="true"/>
              <p:nvPr/>
            </p:nvSpPr>
            <p:spPr>
              <a:xfrm>
                <a:off x="0" y="-38100"/>
                <a:ext cx="8382000" cy="1155700"/>
              </a:xfrm>
              <a:prstGeom prst="rect">
                <a:avLst/>
              </a:prstGeom>
            </p:spPr>
            <p:txBody>
              <a:bodyPr anchor="ctr" rtlCol="false" tIns="50800" lIns="50800" bIns="50800" rIns="50800"/>
              <a:lstStyle/>
              <a:p>
                <a:pPr algn="l">
                  <a:lnSpc>
                    <a:spcPts val="1679"/>
                  </a:lnSpc>
                </a:pPr>
              </a:p>
            </p:txBody>
          </p:sp>
        </p:grpSp>
        <p:sp>
          <p:nvSpPr>
            <p:cNvPr name="TextBox 64" id="64"/>
            <p:cNvSpPr txBox="true"/>
            <p:nvPr/>
          </p:nvSpPr>
          <p:spPr>
            <a:xfrm rot="0">
              <a:off x="330200" y="279400"/>
              <a:ext cx="7620000" cy="419100"/>
            </a:xfrm>
            <a:prstGeom prst="rect">
              <a:avLst/>
            </a:prstGeom>
          </p:spPr>
          <p:txBody>
            <a:bodyPr anchor="t" rtlCol="false" tIns="0" lIns="0" bIns="0" rIns="0">
              <a:spAutoFit/>
            </a:bodyPr>
            <a:lstStyle/>
            <a:p>
              <a:pPr algn="l">
                <a:lnSpc>
                  <a:spcPts val="2625"/>
                </a:lnSpc>
              </a:pPr>
              <a:r>
                <a:rPr lang="en-US" sz="1875" b="true">
                  <a:solidFill>
                    <a:srgbClr val="F4FBFF"/>
                  </a:solidFill>
                  <a:latin typeface="Rajdhani Bold"/>
                  <a:ea typeface="Rajdhani Bold"/>
                  <a:cs typeface="Rajdhani Bold"/>
                  <a:sym typeface="Rajdhani Bold"/>
                </a:rPr>
                <a:t>4  Generates acceptance criteria</a:t>
              </a:r>
            </a:p>
          </p:txBody>
        </p:sp>
      </p:grpSp>
      <p:grpSp>
        <p:nvGrpSpPr>
          <p:cNvPr name="Group 65" id="65"/>
          <p:cNvGrpSpPr/>
          <p:nvPr/>
        </p:nvGrpSpPr>
        <p:grpSpPr>
          <a:xfrm rot="0">
            <a:off x="9906000" y="4238625"/>
            <a:ext cx="6286500" cy="838200"/>
            <a:chOff x="0" y="0"/>
            <a:chExt cx="8382000" cy="1117600"/>
          </a:xfrm>
        </p:grpSpPr>
        <p:grpSp>
          <p:nvGrpSpPr>
            <p:cNvPr name="Group 66" id="66"/>
            <p:cNvGrpSpPr/>
            <p:nvPr/>
          </p:nvGrpSpPr>
          <p:grpSpPr>
            <a:xfrm rot="0">
              <a:off x="0" y="0"/>
              <a:ext cx="8382000" cy="1117600"/>
              <a:chOff x="0" y="0"/>
              <a:chExt cx="8382000" cy="1117600"/>
            </a:xfrm>
          </p:grpSpPr>
          <p:sp>
            <p:nvSpPr>
              <p:cNvPr name="Freeform 67" id="67"/>
              <p:cNvSpPr/>
              <p:nvPr/>
            </p:nvSpPr>
            <p:spPr>
              <a:xfrm flipH="false" flipV="false" rot="0">
                <a:off x="0" y="0"/>
                <a:ext cx="8382000" cy="1117600"/>
              </a:xfrm>
              <a:custGeom>
                <a:avLst/>
                <a:gdLst/>
                <a:ahLst/>
                <a:cxnLst/>
                <a:rect r="r" b="b" t="t" l="l"/>
                <a:pathLst>
                  <a:path h="1117600" w="8382000">
                    <a:moveTo>
                      <a:pt x="0" y="0"/>
                    </a:moveTo>
                    <a:lnTo>
                      <a:pt x="8382000" y="0"/>
                    </a:lnTo>
                    <a:lnTo>
                      <a:pt x="8382000" y="1117600"/>
                    </a:lnTo>
                    <a:lnTo>
                      <a:pt x="0" y="1117600"/>
                    </a:lnTo>
                    <a:close/>
                  </a:path>
                </a:pathLst>
              </a:custGeom>
              <a:solidFill>
                <a:srgbClr val="0D2946"/>
              </a:solidFill>
              <a:ln w="9525" cap="sq">
                <a:solidFill>
                  <a:srgbClr val="1B5873"/>
                </a:solidFill>
                <a:prstDash val="solid"/>
                <a:miter/>
              </a:ln>
            </p:spPr>
          </p:sp>
          <p:sp>
            <p:nvSpPr>
              <p:cNvPr name="TextBox 68" id="68"/>
              <p:cNvSpPr txBox="true"/>
              <p:nvPr/>
            </p:nvSpPr>
            <p:spPr>
              <a:xfrm>
                <a:off x="0" y="-38100"/>
                <a:ext cx="8382000" cy="1155700"/>
              </a:xfrm>
              <a:prstGeom prst="rect">
                <a:avLst/>
              </a:prstGeom>
            </p:spPr>
            <p:txBody>
              <a:bodyPr anchor="ctr" rtlCol="false" tIns="50800" lIns="50800" bIns="50800" rIns="50800"/>
              <a:lstStyle/>
              <a:p>
                <a:pPr algn="l">
                  <a:lnSpc>
                    <a:spcPts val="1679"/>
                  </a:lnSpc>
                </a:pPr>
              </a:p>
            </p:txBody>
          </p:sp>
        </p:grpSp>
        <p:sp>
          <p:nvSpPr>
            <p:cNvPr name="TextBox 69" id="69"/>
            <p:cNvSpPr txBox="true"/>
            <p:nvPr/>
          </p:nvSpPr>
          <p:spPr>
            <a:xfrm rot="0">
              <a:off x="330200" y="279400"/>
              <a:ext cx="7620000" cy="419100"/>
            </a:xfrm>
            <a:prstGeom prst="rect">
              <a:avLst/>
            </a:prstGeom>
          </p:spPr>
          <p:txBody>
            <a:bodyPr anchor="t" rtlCol="false" tIns="0" lIns="0" bIns="0" rIns="0">
              <a:spAutoFit/>
            </a:bodyPr>
            <a:lstStyle/>
            <a:p>
              <a:pPr algn="l">
                <a:lnSpc>
                  <a:spcPts val="2625"/>
                </a:lnSpc>
              </a:pPr>
              <a:r>
                <a:rPr lang="en-US" sz="1875" b="true">
                  <a:solidFill>
                    <a:srgbClr val="F4FBFF"/>
                  </a:solidFill>
                  <a:latin typeface="Rajdhani Bold"/>
                  <a:ea typeface="Rajdhani Bold"/>
                  <a:cs typeface="Rajdhani Bold"/>
                  <a:sym typeface="Rajdhani Bold"/>
                </a:rPr>
                <a:t>5  Identifies risks early</a:t>
              </a:r>
            </a:p>
          </p:txBody>
        </p:sp>
      </p:grpSp>
      <p:grpSp>
        <p:nvGrpSpPr>
          <p:cNvPr name="Group 70" id="70"/>
          <p:cNvGrpSpPr/>
          <p:nvPr/>
        </p:nvGrpSpPr>
        <p:grpSpPr>
          <a:xfrm rot="0">
            <a:off x="9906000" y="5381625"/>
            <a:ext cx="6286500" cy="838200"/>
            <a:chOff x="0" y="0"/>
            <a:chExt cx="8382000" cy="1117600"/>
          </a:xfrm>
        </p:grpSpPr>
        <p:grpSp>
          <p:nvGrpSpPr>
            <p:cNvPr name="Group 71" id="71"/>
            <p:cNvGrpSpPr/>
            <p:nvPr/>
          </p:nvGrpSpPr>
          <p:grpSpPr>
            <a:xfrm rot="0">
              <a:off x="0" y="0"/>
              <a:ext cx="8382000" cy="1117600"/>
              <a:chOff x="0" y="0"/>
              <a:chExt cx="8382000" cy="1117600"/>
            </a:xfrm>
          </p:grpSpPr>
          <p:sp>
            <p:nvSpPr>
              <p:cNvPr name="Freeform 72" id="72"/>
              <p:cNvSpPr/>
              <p:nvPr/>
            </p:nvSpPr>
            <p:spPr>
              <a:xfrm flipH="false" flipV="false" rot="0">
                <a:off x="0" y="0"/>
                <a:ext cx="8382000" cy="1117600"/>
              </a:xfrm>
              <a:custGeom>
                <a:avLst/>
                <a:gdLst/>
                <a:ahLst/>
                <a:cxnLst/>
                <a:rect r="r" b="b" t="t" l="l"/>
                <a:pathLst>
                  <a:path h="1117600" w="8382000">
                    <a:moveTo>
                      <a:pt x="0" y="0"/>
                    </a:moveTo>
                    <a:lnTo>
                      <a:pt x="8382000" y="0"/>
                    </a:lnTo>
                    <a:lnTo>
                      <a:pt x="8382000" y="1117600"/>
                    </a:lnTo>
                    <a:lnTo>
                      <a:pt x="0" y="1117600"/>
                    </a:lnTo>
                    <a:close/>
                  </a:path>
                </a:pathLst>
              </a:custGeom>
              <a:solidFill>
                <a:srgbClr val="0D2946"/>
              </a:solidFill>
              <a:ln w="9525" cap="sq">
                <a:solidFill>
                  <a:srgbClr val="1B5873"/>
                </a:solidFill>
                <a:prstDash val="solid"/>
                <a:miter/>
              </a:ln>
            </p:spPr>
          </p:sp>
          <p:sp>
            <p:nvSpPr>
              <p:cNvPr name="TextBox 73" id="73"/>
              <p:cNvSpPr txBox="true"/>
              <p:nvPr/>
            </p:nvSpPr>
            <p:spPr>
              <a:xfrm>
                <a:off x="0" y="-38100"/>
                <a:ext cx="8382000" cy="1155700"/>
              </a:xfrm>
              <a:prstGeom prst="rect">
                <a:avLst/>
              </a:prstGeom>
            </p:spPr>
            <p:txBody>
              <a:bodyPr anchor="ctr" rtlCol="false" tIns="50800" lIns="50800" bIns="50800" rIns="50800"/>
              <a:lstStyle/>
              <a:p>
                <a:pPr algn="l">
                  <a:lnSpc>
                    <a:spcPts val="1679"/>
                  </a:lnSpc>
                </a:pPr>
              </a:p>
            </p:txBody>
          </p:sp>
        </p:grpSp>
        <p:sp>
          <p:nvSpPr>
            <p:cNvPr name="TextBox 74" id="74"/>
            <p:cNvSpPr txBox="true"/>
            <p:nvPr/>
          </p:nvSpPr>
          <p:spPr>
            <a:xfrm rot="0">
              <a:off x="330200" y="279400"/>
              <a:ext cx="7620000" cy="419100"/>
            </a:xfrm>
            <a:prstGeom prst="rect">
              <a:avLst/>
            </a:prstGeom>
          </p:spPr>
          <p:txBody>
            <a:bodyPr anchor="t" rtlCol="false" tIns="0" lIns="0" bIns="0" rIns="0">
              <a:spAutoFit/>
            </a:bodyPr>
            <a:lstStyle/>
            <a:p>
              <a:pPr algn="l">
                <a:lnSpc>
                  <a:spcPts val="2625"/>
                </a:lnSpc>
              </a:pPr>
              <a:r>
                <a:rPr lang="en-US" sz="1875" b="true">
                  <a:solidFill>
                    <a:srgbClr val="F4FBFF"/>
                  </a:solidFill>
                  <a:latin typeface="Rajdhani Bold"/>
                  <a:ea typeface="Rajdhani Bold"/>
                  <a:cs typeface="Rajdhani Bold"/>
                  <a:sym typeface="Rajdhani Bold"/>
                </a:rPr>
                <a:t>6  Supports backlog grooming</a:t>
              </a:r>
            </a:p>
          </p:txBody>
        </p:sp>
      </p:grpSp>
      <p:grpSp>
        <p:nvGrpSpPr>
          <p:cNvPr name="Group 75" id="75"/>
          <p:cNvGrpSpPr/>
          <p:nvPr/>
        </p:nvGrpSpPr>
        <p:grpSpPr>
          <a:xfrm rot="0">
            <a:off x="9906000" y="6524625"/>
            <a:ext cx="6286500" cy="838200"/>
            <a:chOff x="0" y="0"/>
            <a:chExt cx="8382000" cy="1117600"/>
          </a:xfrm>
        </p:grpSpPr>
        <p:grpSp>
          <p:nvGrpSpPr>
            <p:cNvPr name="Group 76" id="76"/>
            <p:cNvGrpSpPr/>
            <p:nvPr/>
          </p:nvGrpSpPr>
          <p:grpSpPr>
            <a:xfrm rot="0">
              <a:off x="0" y="0"/>
              <a:ext cx="8382000" cy="1117600"/>
              <a:chOff x="0" y="0"/>
              <a:chExt cx="8382000" cy="1117600"/>
            </a:xfrm>
          </p:grpSpPr>
          <p:sp>
            <p:nvSpPr>
              <p:cNvPr name="Freeform 77" id="77"/>
              <p:cNvSpPr/>
              <p:nvPr/>
            </p:nvSpPr>
            <p:spPr>
              <a:xfrm flipH="false" flipV="false" rot="0">
                <a:off x="0" y="0"/>
                <a:ext cx="8382000" cy="1117600"/>
              </a:xfrm>
              <a:custGeom>
                <a:avLst/>
                <a:gdLst/>
                <a:ahLst/>
                <a:cxnLst/>
                <a:rect r="r" b="b" t="t" l="l"/>
                <a:pathLst>
                  <a:path h="1117600" w="8382000">
                    <a:moveTo>
                      <a:pt x="0" y="0"/>
                    </a:moveTo>
                    <a:lnTo>
                      <a:pt x="8382000" y="0"/>
                    </a:lnTo>
                    <a:lnTo>
                      <a:pt x="8382000" y="1117600"/>
                    </a:lnTo>
                    <a:lnTo>
                      <a:pt x="0" y="1117600"/>
                    </a:lnTo>
                    <a:close/>
                  </a:path>
                </a:pathLst>
              </a:custGeom>
              <a:solidFill>
                <a:srgbClr val="0D2946"/>
              </a:solidFill>
              <a:ln w="9525" cap="sq">
                <a:solidFill>
                  <a:srgbClr val="1B5873"/>
                </a:solidFill>
                <a:prstDash val="solid"/>
                <a:miter/>
              </a:ln>
            </p:spPr>
          </p:sp>
          <p:sp>
            <p:nvSpPr>
              <p:cNvPr name="TextBox 78" id="78"/>
              <p:cNvSpPr txBox="true"/>
              <p:nvPr/>
            </p:nvSpPr>
            <p:spPr>
              <a:xfrm>
                <a:off x="0" y="-38100"/>
                <a:ext cx="8382000" cy="1155700"/>
              </a:xfrm>
              <a:prstGeom prst="rect">
                <a:avLst/>
              </a:prstGeom>
            </p:spPr>
            <p:txBody>
              <a:bodyPr anchor="ctr" rtlCol="false" tIns="50800" lIns="50800" bIns="50800" rIns="50800"/>
              <a:lstStyle/>
              <a:p>
                <a:pPr algn="l">
                  <a:lnSpc>
                    <a:spcPts val="1679"/>
                  </a:lnSpc>
                </a:pPr>
              </a:p>
            </p:txBody>
          </p:sp>
        </p:grpSp>
        <p:sp>
          <p:nvSpPr>
            <p:cNvPr name="TextBox 79" id="79"/>
            <p:cNvSpPr txBox="true"/>
            <p:nvPr/>
          </p:nvSpPr>
          <p:spPr>
            <a:xfrm rot="0">
              <a:off x="330200" y="279400"/>
              <a:ext cx="7620000" cy="419100"/>
            </a:xfrm>
            <a:prstGeom prst="rect">
              <a:avLst/>
            </a:prstGeom>
          </p:spPr>
          <p:txBody>
            <a:bodyPr anchor="t" rtlCol="false" tIns="0" lIns="0" bIns="0" rIns="0">
              <a:spAutoFit/>
            </a:bodyPr>
            <a:lstStyle/>
            <a:p>
              <a:pPr algn="l">
                <a:lnSpc>
                  <a:spcPts val="2625"/>
                </a:lnSpc>
              </a:pPr>
              <a:r>
                <a:rPr lang="en-US" sz="1875" b="true">
                  <a:solidFill>
                    <a:srgbClr val="F4FBFF"/>
                  </a:solidFill>
                  <a:latin typeface="Rajdhani Bold"/>
                  <a:ea typeface="Rajdhani Bold"/>
                  <a:cs typeface="Rajdhani Bold"/>
                  <a:sym typeface="Rajdhani Bold"/>
                </a:rPr>
                <a:t>7  Adapts requirements iteratively</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07182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TECHNOLOGY STACK</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06</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0" id="10"/>
          <p:cNvGrpSpPr/>
          <p:nvPr/>
        </p:nvGrpSpPr>
        <p:grpSpPr>
          <a:xfrm rot="0">
            <a:off x="876300" y="2266950"/>
            <a:ext cx="5048250" cy="2667000"/>
            <a:chOff x="0" y="0"/>
            <a:chExt cx="6731000" cy="3556000"/>
          </a:xfrm>
        </p:grpSpPr>
        <p:grpSp>
          <p:nvGrpSpPr>
            <p:cNvPr name="Group 11" id="11"/>
            <p:cNvGrpSpPr/>
            <p:nvPr/>
          </p:nvGrpSpPr>
          <p:grpSpPr>
            <a:xfrm rot="0">
              <a:off x="0" y="0"/>
              <a:ext cx="6731000" cy="3556000"/>
              <a:chOff x="0" y="0"/>
              <a:chExt cx="6731000" cy="3556000"/>
            </a:xfrm>
          </p:grpSpPr>
          <p:sp>
            <p:nvSpPr>
              <p:cNvPr name="Freeform 12" id="12"/>
              <p:cNvSpPr/>
              <p:nvPr/>
            </p:nvSpPr>
            <p:spPr>
              <a:xfrm flipH="false" flipV="false" rot="0">
                <a:off x="0" y="0"/>
                <a:ext cx="6731000" cy="3556000"/>
              </a:xfrm>
              <a:custGeom>
                <a:avLst/>
                <a:gdLst/>
                <a:ahLst/>
                <a:cxnLst/>
                <a:rect r="r" b="b" t="t" l="l"/>
                <a:pathLst>
                  <a:path h="3556000" w="6731000">
                    <a:moveTo>
                      <a:pt x="0" y="0"/>
                    </a:moveTo>
                    <a:lnTo>
                      <a:pt x="6731000" y="0"/>
                    </a:lnTo>
                    <a:lnTo>
                      <a:pt x="6731000" y="3556000"/>
                    </a:lnTo>
                    <a:lnTo>
                      <a:pt x="0" y="3556000"/>
                    </a:lnTo>
                    <a:close/>
                  </a:path>
                </a:pathLst>
              </a:custGeom>
              <a:solidFill>
                <a:srgbClr val="0B223B"/>
              </a:solidFill>
              <a:ln w="9525" cap="sq">
                <a:solidFill>
                  <a:srgbClr val="1B5873"/>
                </a:solidFill>
                <a:prstDash val="solid"/>
                <a:miter/>
              </a:ln>
            </p:spPr>
          </p:sp>
          <p:sp>
            <p:nvSpPr>
              <p:cNvPr name="TextBox 13" id="13"/>
              <p:cNvSpPr txBox="true"/>
              <p:nvPr/>
            </p:nvSpPr>
            <p:spPr>
              <a:xfrm>
                <a:off x="0" y="-38100"/>
                <a:ext cx="6731000" cy="3594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444500" y="415925"/>
              <a:ext cx="5842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FRONTEND</a:t>
              </a:r>
            </a:p>
          </p:txBody>
        </p:sp>
        <p:sp>
          <p:nvSpPr>
            <p:cNvPr name="TextBox 15" id="15"/>
            <p:cNvSpPr txBox="true"/>
            <p:nvPr/>
          </p:nvSpPr>
          <p:spPr>
            <a:xfrm rot="0">
              <a:off x="444500" y="1266825"/>
              <a:ext cx="5842000" cy="468630"/>
            </a:xfrm>
            <a:prstGeom prst="rect">
              <a:avLst/>
            </a:prstGeom>
          </p:spPr>
          <p:txBody>
            <a:bodyPr anchor="t" rtlCol="false" tIns="0" lIns="0" bIns="0" rIns="0">
              <a:spAutoFit/>
            </a:bodyPr>
            <a:lstStyle/>
            <a:p>
              <a:pPr algn="l">
                <a:lnSpc>
                  <a:spcPts val="2936"/>
                </a:lnSpc>
              </a:pPr>
              <a:r>
                <a:rPr lang="en-US" sz="2175" b="true">
                  <a:solidFill>
                    <a:srgbClr val="F4FBFF"/>
                  </a:solidFill>
                  <a:latin typeface="Rajdhani Bold"/>
                  <a:ea typeface="Rajdhani Bold"/>
                  <a:cs typeface="Rajdhani Bold"/>
                  <a:sym typeface="Rajdhani Bold"/>
                </a:rPr>
                <a:t>HTML5  •  CSS3  •  JavaScript</a:t>
              </a:r>
            </a:p>
          </p:txBody>
        </p:sp>
      </p:grpSp>
      <p:grpSp>
        <p:nvGrpSpPr>
          <p:cNvPr name="Group 16" id="16"/>
          <p:cNvGrpSpPr/>
          <p:nvPr/>
        </p:nvGrpSpPr>
        <p:grpSpPr>
          <a:xfrm rot="0">
            <a:off x="6400800" y="2266950"/>
            <a:ext cx="5048250" cy="2667000"/>
            <a:chOff x="0" y="0"/>
            <a:chExt cx="6731000" cy="3556000"/>
          </a:xfrm>
        </p:grpSpPr>
        <p:grpSp>
          <p:nvGrpSpPr>
            <p:cNvPr name="Group 17" id="17"/>
            <p:cNvGrpSpPr/>
            <p:nvPr/>
          </p:nvGrpSpPr>
          <p:grpSpPr>
            <a:xfrm rot="0">
              <a:off x="0" y="0"/>
              <a:ext cx="6731000" cy="3556000"/>
              <a:chOff x="0" y="0"/>
              <a:chExt cx="6731000" cy="3556000"/>
            </a:xfrm>
          </p:grpSpPr>
          <p:sp>
            <p:nvSpPr>
              <p:cNvPr name="Freeform 18" id="18"/>
              <p:cNvSpPr/>
              <p:nvPr/>
            </p:nvSpPr>
            <p:spPr>
              <a:xfrm flipH="false" flipV="false" rot="0">
                <a:off x="0" y="0"/>
                <a:ext cx="6731000" cy="3556000"/>
              </a:xfrm>
              <a:custGeom>
                <a:avLst/>
                <a:gdLst/>
                <a:ahLst/>
                <a:cxnLst/>
                <a:rect r="r" b="b" t="t" l="l"/>
                <a:pathLst>
                  <a:path h="3556000" w="6731000">
                    <a:moveTo>
                      <a:pt x="0" y="0"/>
                    </a:moveTo>
                    <a:lnTo>
                      <a:pt x="6731000" y="0"/>
                    </a:lnTo>
                    <a:lnTo>
                      <a:pt x="6731000" y="3556000"/>
                    </a:lnTo>
                    <a:lnTo>
                      <a:pt x="0" y="3556000"/>
                    </a:lnTo>
                    <a:close/>
                  </a:path>
                </a:pathLst>
              </a:custGeom>
              <a:solidFill>
                <a:srgbClr val="0B223B"/>
              </a:solidFill>
              <a:ln w="9525" cap="sq">
                <a:solidFill>
                  <a:srgbClr val="1B5873"/>
                </a:solidFill>
                <a:prstDash val="solid"/>
                <a:miter/>
              </a:ln>
            </p:spPr>
          </p:sp>
          <p:sp>
            <p:nvSpPr>
              <p:cNvPr name="TextBox 19" id="19"/>
              <p:cNvSpPr txBox="true"/>
              <p:nvPr/>
            </p:nvSpPr>
            <p:spPr>
              <a:xfrm>
                <a:off x="0" y="-38100"/>
                <a:ext cx="6731000" cy="3594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444500" y="415925"/>
              <a:ext cx="5842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BACKEND</a:t>
              </a:r>
            </a:p>
          </p:txBody>
        </p:sp>
        <p:sp>
          <p:nvSpPr>
            <p:cNvPr name="TextBox 21" id="21"/>
            <p:cNvSpPr txBox="true"/>
            <p:nvPr/>
          </p:nvSpPr>
          <p:spPr>
            <a:xfrm rot="0">
              <a:off x="444500" y="1266825"/>
              <a:ext cx="5842000" cy="468630"/>
            </a:xfrm>
            <a:prstGeom prst="rect">
              <a:avLst/>
            </a:prstGeom>
          </p:spPr>
          <p:txBody>
            <a:bodyPr anchor="t" rtlCol="false" tIns="0" lIns="0" bIns="0" rIns="0">
              <a:spAutoFit/>
            </a:bodyPr>
            <a:lstStyle/>
            <a:p>
              <a:pPr algn="l">
                <a:lnSpc>
                  <a:spcPts val="2936"/>
                </a:lnSpc>
              </a:pPr>
              <a:r>
                <a:rPr lang="en-US" sz="2175" b="true">
                  <a:solidFill>
                    <a:srgbClr val="F4FBFF"/>
                  </a:solidFill>
                  <a:latin typeface="Rajdhani Bold"/>
                  <a:ea typeface="Rajdhani Bold"/>
                  <a:cs typeface="Rajdhani Bold"/>
                  <a:sym typeface="Rajdhani Bold"/>
                </a:rPr>
                <a:t>Python  •  Flask  •  REST API</a:t>
              </a:r>
            </a:p>
          </p:txBody>
        </p:sp>
      </p:grpSp>
      <p:grpSp>
        <p:nvGrpSpPr>
          <p:cNvPr name="Group 22" id="22"/>
          <p:cNvGrpSpPr/>
          <p:nvPr/>
        </p:nvGrpSpPr>
        <p:grpSpPr>
          <a:xfrm rot="0">
            <a:off x="11925300" y="2266950"/>
            <a:ext cx="5048250" cy="2667000"/>
            <a:chOff x="0" y="0"/>
            <a:chExt cx="6731000" cy="3556000"/>
          </a:xfrm>
        </p:grpSpPr>
        <p:grpSp>
          <p:nvGrpSpPr>
            <p:cNvPr name="Group 23" id="23"/>
            <p:cNvGrpSpPr/>
            <p:nvPr/>
          </p:nvGrpSpPr>
          <p:grpSpPr>
            <a:xfrm rot="0">
              <a:off x="0" y="0"/>
              <a:ext cx="6731000" cy="3556000"/>
              <a:chOff x="0" y="0"/>
              <a:chExt cx="6731000" cy="3556000"/>
            </a:xfrm>
          </p:grpSpPr>
          <p:sp>
            <p:nvSpPr>
              <p:cNvPr name="Freeform 24" id="24"/>
              <p:cNvSpPr/>
              <p:nvPr/>
            </p:nvSpPr>
            <p:spPr>
              <a:xfrm flipH="false" flipV="false" rot="0">
                <a:off x="0" y="0"/>
                <a:ext cx="6731000" cy="3556000"/>
              </a:xfrm>
              <a:custGeom>
                <a:avLst/>
                <a:gdLst/>
                <a:ahLst/>
                <a:cxnLst/>
                <a:rect r="r" b="b" t="t" l="l"/>
                <a:pathLst>
                  <a:path h="3556000" w="6731000">
                    <a:moveTo>
                      <a:pt x="0" y="0"/>
                    </a:moveTo>
                    <a:lnTo>
                      <a:pt x="6731000" y="0"/>
                    </a:lnTo>
                    <a:lnTo>
                      <a:pt x="6731000" y="3556000"/>
                    </a:lnTo>
                    <a:lnTo>
                      <a:pt x="0" y="3556000"/>
                    </a:lnTo>
                    <a:close/>
                  </a:path>
                </a:pathLst>
              </a:custGeom>
              <a:solidFill>
                <a:srgbClr val="103B59"/>
              </a:solidFill>
              <a:ln w="9525" cap="sq">
                <a:solidFill>
                  <a:srgbClr val="27E7FF"/>
                </a:solidFill>
                <a:prstDash val="solid"/>
                <a:miter/>
              </a:ln>
            </p:spPr>
          </p:sp>
          <p:sp>
            <p:nvSpPr>
              <p:cNvPr name="TextBox 25" id="25"/>
              <p:cNvSpPr txBox="true"/>
              <p:nvPr/>
            </p:nvSpPr>
            <p:spPr>
              <a:xfrm>
                <a:off x="0" y="-38100"/>
                <a:ext cx="6731000" cy="35941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444500" y="415925"/>
              <a:ext cx="5842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a:t>
              </a:r>
            </a:p>
          </p:txBody>
        </p:sp>
        <p:sp>
          <p:nvSpPr>
            <p:cNvPr name="TextBox 27" id="27"/>
            <p:cNvSpPr txBox="true"/>
            <p:nvPr/>
          </p:nvSpPr>
          <p:spPr>
            <a:xfrm rot="0">
              <a:off x="444500" y="1266825"/>
              <a:ext cx="5842000" cy="963930"/>
            </a:xfrm>
            <a:prstGeom prst="rect">
              <a:avLst/>
            </a:prstGeom>
          </p:spPr>
          <p:txBody>
            <a:bodyPr anchor="t" rtlCol="false" tIns="0" lIns="0" bIns="0" rIns="0">
              <a:spAutoFit/>
            </a:bodyPr>
            <a:lstStyle/>
            <a:p>
              <a:pPr algn="l">
                <a:lnSpc>
                  <a:spcPts val="2936"/>
                </a:lnSpc>
              </a:pPr>
              <a:r>
                <a:rPr lang="en-US" sz="2175" b="true">
                  <a:solidFill>
                    <a:srgbClr val="F4FBFF"/>
                  </a:solidFill>
                  <a:latin typeface="Rajdhani Bold"/>
                  <a:ea typeface="Rajdhani Bold"/>
                  <a:cs typeface="Rajdhani Bold"/>
                  <a:sym typeface="Rajdhani Bold"/>
                </a:rPr>
                <a:t>OpenAI API  •  Prompt Engineering  •  NLP / Generative AI</a:t>
              </a:r>
            </a:p>
          </p:txBody>
        </p:sp>
      </p:grpSp>
      <p:grpSp>
        <p:nvGrpSpPr>
          <p:cNvPr name="Group 28" id="28"/>
          <p:cNvGrpSpPr/>
          <p:nvPr/>
        </p:nvGrpSpPr>
        <p:grpSpPr>
          <a:xfrm rot="0">
            <a:off x="876300" y="5410200"/>
            <a:ext cx="5048250" cy="2667000"/>
            <a:chOff x="0" y="0"/>
            <a:chExt cx="6731000" cy="3556000"/>
          </a:xfrm>
        </p:grpSpPr>
        <p:grpSp>
          <p:nvGrpSpPr>
            <p:cNvPr name="Group 29" id="29"/>
            <p:cNvGrpSpPr/>
            <p:nvPr/>
          </p:nvGrpSpPr>
          <p:grpSpPr>
            <a:xfrm rot="0">
              <a:off x="0" y="0"/>
              <a:ext cx="6731000" cy="3556000"/>
              <a:chOff x="0" y="0"/>
              <a:chExt cx="6731000" cy="3556000"/>
            </a:xfrm>
          </p:grpSpPr>
          <p:sp>
            <p:nvSpPr>
              <p:cNvPr name="Freeform 30" id="30"/>
              <p:cNvSpPr/>
              <p:nvPr/>
            </p:nvSpPr>
            <p:spPr>
              <a:xfrm flipH="false" flipV="false" rot="0">
                <a:off x="0" y="0"/>
                <a:ext cx="6731000" cy="3556000"/>
              </a:xfrm>
              <a:custGeom>
                <a:avLst/>
                <a:gdLst/>
                <a:ahLst/>
                <a:cxnLst/>
                <a:rect r="r" b="b" t="t" l="l"/>
                <a:pathLst>
                  <a:path h="3556000" w="6731000">
                    <a:moveTo>
                      <a:pt x="0" y="0"/>
                    </a:moveTo>
                    <a:lnTo>
                      <a:pt x="6731000" y="0"/>
                    </a:lnTo>
                    <a:lnTo>
                      <a:pt x="6731000" y="3556000"/>
                    </a:lnTo>
                    <a:lnTo>
                      <a:pt x="0" y="3556000"/>
                    </a:lnTo>
                    <a:close/>
                  </a:path>
                </a:pathLst>
              </a:custGeom>
              <a:solidFill>
                <a:srgbClr val="0B223B"/>
              </a:solidFill>
              <a:ln w="9525" cap="sq">
                <a:solidFill>
                  <a:srgbClr val="1B5873"/>
                </a:solidFill>
                <a:prstDash val="solid"/>
                <a:miter/>
              </a:ln>
            </p:spPr>
          </p:sp>
          <p:sp>
            <p:nvSpPr>
              <p:cNvPr name="TextBox 31" id="31"/>
              <p:cNvSpPr txBox="true"/>
              <p:nvPr/>
            </p:nvSpPr>
            <p:spPr>
              <a:xfrm>
                <a:off x="0" y="-38100"/>
                <a:ext cx="6731000" cy="3594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444500" y="415925"/>
              <a:ext cx="5842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DATABASE + VISUALIZATION</a:t>
              </a:r>
            </a:p>
          </p:txBody>
        </p:sp>
        <p:sp>
          <p:nvSpPr>
            <p:cNvPr name="TextBox 33" id="33"/>
            <p:cNvSpPr txBox="true"/>
            <p:nvPr/>
          </p:nvSpPr>
          <p:spPr>
            <a:xfrm rot="0">
              <a:off x="444500" y="1266825"/>
              <a:ext cx="5842000" cy="468630"/>
            </a:xfrm>
            <a:prstGeom prst="rect">
              <a:avLst/>
            </a:prstGeom>
          </p:spPr>
          <p:txBody>
            <a:bodyPr anchor="t" rtlCol="false" tIns="0" lIns="0" bIns="0" rIns="0">
              <a:spAutoFit/>
            </a:bodyPr>
            <a:lstStyle/>
            <a:p>
              <a:pPr algn="l">
                <a:lnSpc>
                  <a:spcPts val="2936"/>
                </a:lnSpc>
              </a:pPr>
              <a:r>
                <a:rPr lang="en-US" sz="2175" b="true">
                  <a:solidFill>
                    <a:srgbClr val="F4FBFF"/>
                  </a:solidFill>
                  <a:latin typeface="Rajdhani Bold"/>
                  <a:ea typeface="Rajdhani Bold"/>
                  <a:cs typeface="Rajdhani Bold"/>
                  <a:sym typeface="Rajdhani Bold"/>
                </a:rPr>
                <a:t>SQLite  •  Chart.js</a:t>
              </a:r>
            </a:p>
          </p:txBody>
        </p:sp>
      </p:grpSp>
      <p:grpSp>
        <p:nvGrpSpPr>
          <p:cNvPr name="Group 34" id="34"/>
          <p:cNvGrpSpPr/>
          <p:nvPr/>
        </p:nvGrpSpPr>
        <p:grpSpPr>
          <a:xfrm rot="0">
            <a:off x="6400800" y="5410200"/>
            <a:ext cx="5048250" cy="2667000"/>
            <a:chOff x="0" y="0"/>
            <a:chExt cx="6731000" cy="3556000"/>
          </a:xfrm>
        </p:grpSpPr>
        <p:grpSp>
          <p:nvGrpSpPr>
            <p:cNvPr name="Group 35" id="35"/>
            <p:cNvGrpSpPr/>
            <p:nvPr/>
          </p:nvGrpSpPr>
          <p:grpSpPr>
            <a:xfrm rot="0">
              <a:off x="0" y="0"/>
              <a:ext cx="6731000" cy="3556000"/>
              <a:chOff x="0" y="0"/>
              <a:chExt cx="6731000" cy="3556000"/>
            </a:xfrm>
          </p:grpSpPr>
          <p:sp>
            <p:nvSpPr>
              <p:cNvPr name="Freeform 36" id="36"/>
              <p:cNvSpPr/>
              <p:nvPr/>
            </p:nvSpPr>
            <p:spPr>
              <a:xfrm flipH="false" flipV="false" rot="0">
                <a:off x="0" y="0"/>
                <a:ext cx="6731000" cy="3556000"/>
              </a:xfrm>
              <a:custGeom>
                <a:avLst/>
                <a:gdLst/>
                <a:ahLst/>
                <a:cxnLst/>
                <a:rect r="r" b="b" t="t" l="l"/>
                <a:pathLst>
                  <a:path h="3556000" w="6731000">
                    <a:moveTo>
                      <a:pt x="0" y="0"/>
                    </a:moveTo>
                    <a:lnTo>
                      <a:pt x="6731000" y="0"/>
                    </a:lnTo>
                    <a:lnTo>
                      <a:pt x="6731000" y="3556000"/>
                    </a:lnTo>
                    <a:lnTo>
                      <a:pt x="0" y="3556000"/>
                    </a:lnTo>
                    <a:close/>
                  </a:path>
                </a:pathLst>
              </a:custGeom>
              <a:solidFill>
                <a:srgbClr val="0B223B"/>
              </a:solidFill>
              <a:ln w="9525" cap="sq">
                <a:solidFill>
                  <a:srgbClr val="1B5873"/>
                </a:solidFill>
                <a:prstDash val="solid"/>
                <a:miter/>
              </a:ln>
            </p:spPr>
          </p:sp>
          <p:sp>
            <p:nvSpPr>
              <p:cNvPr name="TextBox 37" id="37"/>
              <p:cNvSpPr txBox="true"/>
              <p:nvPr/>
            </p:nvSpPr>
            <p:spPr>
              <a:xfrm>
                <a:off x="0" y="-38100"/>
                <a:ext cx="6731000" cy="35941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444500" y="415925"/>
              <a:ext cx="5842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DEVELOPMENT + VERSION CONTROL</a:t>
              </a:r>
            </a:p>
          </p:txBody>
        </p:sp>
        <p:sp>
          <p:nvSpPr>
            <p:cNvPr name="TextBox 39" id="39"/>
            <p:cNvSpPr txBox="true"/>
            <p:nvPr/>
          </p:nvSpPr>
          <p:spPr>
            <a:xfrm rot="0">
              <a:off x="444500" y="1266825"/>
              <a:ext cx="5842000" cy="963930"/>
            </a:xfrm>
            <a:prstGeom prst="rect">
              <a:avLst/>
            </a:prstGeom>
          </p:spPr>
          <p:txBody>
            <a:bodyPr anchor="t" rtlCol="false" tIns="0" lIns="0" bIns="0" rIns="0">
              <a:spAutoFit/>
            </a:bodyPr>
            <a:lstStyle/>
            <a:p>
              <a:pPr algn="l">
                <a:lnSpc>
                  <a:spcPts val="2936"/>
                </a:lnSpc>
              </a:pPr>
              <a:r>
                <a:rPr lang="en-US" sz="2175" b="true">
                  <a:solidFill>
                    <a:srgbClr val="F4FBFF"/>
                  </a:solidFill>
                  <a:latin typeface="Rajdhani Bold"/>
                  <a:ea typeface="Rajdhani Bold"/>
                  <a:cs typeface="Rajdhani Bold"/>
                  <a:sym typeface="Rajdhani Bold"/>
                </a:rPr>
                <a:t>Visual Studio Code  •  Git  •  GitHub  •  Postman</a:t>
              </a:r>
            </a:p>
          </p:txBody>
        </p:sp>
      </p:grpSp>
      <p:grpSp>
        <p:nvGrpSpPr>
          <p:cNvPr name="Group 40" id="40"/>
          <p:cNvGrpSpPr/>
          <p:nvPr/>
        </p:nvGrpSpPr>
        <p:grpSpPr>
          <a:xfrm rot="0">
            <a:off x="11925300" y="5410200"/>
            <a:ext cx="5048250" cy="2667000"/>
            <a:chOff x="0" y="0"/>
            <a:chExt cx="6731000" cy="3556000"/>
          </a:xfrm>
        </p:grpSpPr>
        <p:grpSp>
          <p:nvGrpSpPr>
            <p:cNvPr name="Group 41" id="41"/>
            <p:cNvGrpSpPr/>
            <p:nvPr/>
          </p:nvGrpSpPr>
          <p:grpSpPr>
            <a:xfrm rot="0">
              <a:off x="0" y="0"/>
              <a:ext cx="6731000" cy="3556000"/>
              <a:chOff x="0" y="0"/>
              <a:chExt cx="6731000" cy="3556000"/>
            </a:xfrm>
          </p:grpSpPr>
          <p:sp>
            <p:nvSpPr>
              <p:cNvPr name="Freeform 42" id="42"/>
              <p:cNvSpPr/>
              <p:nvPr/>
            </p:nvSpPr>
            <p:spPr>
              <a:xfrm flipH="false" flipV="false" rot="0">
                <a:off x="0" y="0"/>
                <a:ext cx="6731000" cy="3556000"/>
              </a:xfrm>
              <a:custGeom>
                <a:avLst/>
                <a:gdLst/>
                <a:ahLst/>
                <a:cxnLst/>
                <a:rect r="r" b="b" t="t" l="l"/>
                <a:pathLst>
                  <a:path h="3556000" w="6731000">
                    <a:moveTo>
                      <a:pt x="0" y="0"/>
                    </a:moveTo>
                    <a:lnTo>
                      <a:pt x="6731000" y="0"/>
                    </a:lnTo>
                    <a:lnTo>
                      <a:pt x="6731000" y="3556000"/>
                    </a:lnTo>
                    <a:lnTo>
                      <a:pt x="0" y="3556000"/>
                    </a:lnTo>
                    <a:close/>
                  </a:path>
                </a:pathLst>
              </a:custGeom>
              <a:solidFill>
                <a:srgbClr val="0B223B"/>
              </a:solidFill>
              <a:ln w="9525" cap="sq">
                <a:solidFill>
                  <a:srgbClr val="1B5873"/>
                </a:solidFill>
                <a:prstDash val="solid"/>
                <a:miter/>
              </a:ln>
            </p:spPr>
          </p:sp>
          <p:sp>
            <p:nvSpPr>
              <p:cNvPr name="TextBox 43" id="43"/>
              <p:cNvSpPr txBox="true"/>
              <p:nvPr/>
            </p:nvSpPr>
            <p:spPr>
              <a:xfrm>
                <a:off x="0" y="-38100"/>
                <a:ext cx="6731000" cy="3594100"/>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444500" y="415925"/>
              <a:ext cx="5842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SYLLABUS CONCEPTS</a:t>
              </a:r>
            </a:p>
          </p:txBody>
        </p:sp>
        <p:sp>
          <p:nvSpPr>
            <p:cNvPr name="TextBox 45" id="45"/>
            <p:cNvSpPr txBox="true"/>
            <p:nvPr/>
          </p:nvSpPr>
          <p:spPr>
            <a:xfrm rot="0">
              <a:off x="444500" y="1266825"/>
              <a:ext cx="5842000" cy="1459230"/>
            </a:xfrm>
            <a:prstGeom prst="rect">
              <a:avLst/>
            </a:prstGeom>
          </p:spPr>
          <p:txBody>
            <a:bodyPr anchor="t" rtlCol="false" tIns="0" lIns="0" bIns="0" rIns="0">
              <a:spAutoFit/>
            </a:bodyPr>
            <a:lstStyle/>
            <a:p>
              <a:pPr algn="l">
                <a:lnSpc>
                  <a:spcPts val="2936"/>
                </a:lnSpc>
              </a:pPr>
              <a:r>
                <a:rPr lang="en-US" sz="2175" b="true">
                  <a:solidFill>
                    <a:srgbClr val="F4FBFF"/>
                  </a:solidFill>
                  <a:latin typeface="Rajdhani Bold"/>
                  <a:ea typeface="Rajdhani Bold"/>
                  <a:cs typeface="Rajdhani Bold"/>
                  <a:sym typeface="Rajdhani Bold"/>
                </a:rPr>
                <a:t>Agile  •  Scrum  •  User Stories  •  Backlog Grooming  •  Estimation  •  Sprint Planning</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061426"/>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SYSTEM WORKFLOW</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07</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0" id="10"/>
          <p:cNvGrpSpPr/>
          <p:nvPr/>
        </p:nvGrpSpPr>
        <p:grpSpPr>
          <a:xfrm rot="0">
            <a:off x="876300" y="2143125"/>
            <a:ext cx="16430625" cy="5095875"/>
            <a:chOff x="0" y="0"/>
            <a:chExt cx="21907500" cy="6794500"/>
          </a:xfrm>
        </p:grpSpPr>
        <p:grpSp>
          <p:nvGrpSpPr>
            <p:cNvPr name="Group 11" id="11"/>
            <p:cNvGrpSpPr/>
            <p:nvPr/>
          </p:nvGrpSpPr>
          <p:grpSpPr>
            <a:xfrm rot="0">
              <a:off x="0" y="0"/>
              <a:ext cx="4445000" cy="1206500"/>
              <a:chOff x="0" y="0"/>
              <a:chExt cx="4445000" cy="1206500"/>
            </a:xfrm>
          </p:grpSpPr>
          <p:sp>
            <p:nvSpPr>
              <p:cNvPr name="Freeform 12" id="12"/>
              <p:cNvSpPr/>
              <p:nvPr/>
            </p:nvSpPr>
            <p:spPr>
              <a:xfrm flipH="false" flipV="false" rot="0">
                <a:off x="0" y="0"/>
                <a:ext cx="4445000" cy="1206500"/>
              </a:xfrm>
              <a:custGeom>
                <a:avLst/>
                <a:gdLst/>
                <a:ahLst/>
                <a:cxnLst/>
                <a:rect r="r" b="b" t="t" l="l"/>
                <a:pathLst>
                  <a:path h="1206500" w="4445000">
                    <a:moveTo>
                      <a:pt x="0" y="0"/>
                    </a:moveTo>
                    <a:lnTo>
                      <a:pt x="4445000" y="0"/>
                    </a:lnTo>
                    <a:lnTo>
                      <a:pt x="4445000" y="1206500"/>
                    </a:lnTo>
                    <a:lnTo>
                      <a:pt x="0" y="1206500"/>
                    </a:lnTo>
                    <a:close/>
                  </a:path>
                </a:pathLst>
              </a:custGeom>
              <a:solidFill>
                <a:srgbClr val="0B223B"/>
              </a:solidFill>
              <a:ln w="9525" cap="sq">
                <a:solidFill>
                  <a:srgbClr val="27E7FF"/>
                </a:solidFill>
                <a:prstDash val="solid"/>
                <a:miter/>
              </a:ln>
            </p:spPr>
          </p:sp>
          <p:sp>
            <p:nvSpPr>
              <p:cNvPr name="TextBox 13" id="13"/>
              <p:cNvSpPr txBox="true"/>
              <p:nvPr/>
            </p:nvSpPr>
            <p:spPr>
              <a:xfrm>
                <a:off x="0" y="-38100"/>
                <a:ext cx="4445000" cy="1244600"/>
              </a:xfrm>
              <a:prstGeom prst="rect">
                <a:avLst/>
              </a:prstGeom>
            </p:spPr>
            <p:txBody>
              <a:bodyPr anchor="ctr" rtlCol="false" tIns="50800" lIns="50800" bIns="50800" rIns="50800"/>
              <a:lstStyle/>
              <a:p>
                <a:pPr algn="l">
                  <a:lnSpc>
                    <a:spcPts val="1679"/>
                  </a:lnSpc>
                </a:pPr>
              </a:p>
            </p:txBody>
          </p:sp>
        </p:grpSp>
        <p:sp>
          <p:nvSpPr>
            <p:cNvPr name="AutoShape 14" id="14"/>
            <p:cNvSpPr/>
            <p:nvPr/>
          </p:nvSpPr>
          <p:spPr>
            <a:xfrm>
              <a:off x="4445000" y="596900"/>
              <a:ext cx="889000" cy="0"/>
            </a:xfrm>
            <a:prstGeom prst="line">
              <a:avLst/>
            </a:prstGeom>
            <a:ln cap="rnd" w="38100">
              <a:solidFill>
                <a:srgbClr val="27E7FF"/>
              </a:solidFill>
              <a:prstDash val="solid"/>
              <a:headEnd type="none" len="sm" w="sm"/>
              <a:tailEnd type="none" len="sm" w="sm"/>
            </a:ln>
          </p:spPr>
        </p:sp>
        <p:grpSp>
          <p:nvGrpSpPr>
            <p:cNvPr name="Group 15" id="15"/>
            <p:cNvGrpSpPr/>
            <p:nvPr/>
          </p:nvGrpSpPr>
          <p:grpSpPr>
            <a:xfrm rot="0">
              <a:off x="5461000" y="0"/>
              <a:ext cx="4445000" cy="1206500"/>
              <a:chOff x="0" y="0"/>
              <a:chExt cx="4445000" cy="1206500"/>
            </a:xfrm>
          </p:grpSpPr>
          <p:sp>
            <p:nvSpPr>
              <p:cNvPr name="Freeform 16" id="16"/>
              <p:cNvSpPr/>
              <p:nvPr/>
            </p:nvSpPr>
            <p:spPr>
              <a:xfrm flipH="false" flipV="false" rot="0">
                <a:off x="0" y="0"/>
                <a:ext cx="4445000" cy="1206500"/>
              </a:xfrm>
              <a:custGeom>
                <a:avLst/>
                <a:gdLst/>
                <a:ahLst/>
                <a:cxnLst/>
                <a:rect r="r" b="b" t="t" l="l"/>
                <a:pathLst>
                  <a:path h="1206500" w="4445000">
                    <a:moveTo>
                      <a:pt x="0" y="0"/>
                    </a:moveTo>
                    <a:lnTo>
                      <a:pt x="4445000" y="0"/>
                    </a:lnTo>
                    <a:lnTo>
                      <a:pt x="4445000" y="1206500"/>
                    </a:lnTo>
                    <a:lnTo>
                      <a:pt x="0" y="1206500"/>
                    </a:lnTo>
                    <a:close/>
                  </a:path>
                </a:pathLst>
              </a:custGeom>
              <a:solidFill>
                <a:srgbClr val="0B223B"/>
              </a:solidFill>
              <a:ln w="9525" cap="sq">
                <a:solidFill>
                  <a:srgbClr val="27E7FF"/>
                </a:solidFill>
                <a:prstDash val="solid"/>
                <a:miter/>
              </a:ln>
            </p:spPr>
          </p:sp>
          <p:sp>
            <p:nvSpPr>
              <p:cNvPr name="TextBox 17" id="17"/>
              <p:cNvSpPr txBox="true"/>
              <p:nvPr/>
            </p:nvSpPr>
            <p:spPr>
              <a:xfrm>
                <a:off x="0" y="-38100"/>
                <a:ext cx="4445000" cy="1244600"/>
              </a:xfrm>
              <a:prstGeom prst="rect">
                <a:avLst/>
              </a:prstGeom>
            </p:spPr>
            <p:txBody>
              <a:bodyPr anchor="ctr" rtlCol="false" tIns="50800" lIns="50800" bIns="50800" rIns="50800"/>
              <a:lstStyle/>
              <a:p>
                <a:pPr algn="l">
                  <a:lnSpc>
                    <a:spcPts val="1679"/>
                  </a:lnSpc>
                </a:pPr>
              </a:p>
            </p:txBody>
          </p:sp>
        </p:grpSp>
        <p:sp>
          <p:nvSpPr>
            <p:cNvPr name="AutoShape 18" id="18"/>
            <p:cNvSpPr/>
            <p:nvPr/>
          </p:nvSpPr>
          <p:spPr>
            <a:xfrm>
              <a:off x="9906000" y="596900"/>
              <a:ext cx="889000" cy="0"/>
            </a:xfrm>
            <a:prstGeom prst="line">
              <a:avLst/>
            </a:prstGeom>
            <a:ln cap="rnd" w="38100">
              <a:solidFill>
                <a:srgbClr val="27E7FF"/>
              </a:solidFill>
              <a:prstDash val="solid"/>
              <a:headEnd type="none" len="sm" w="sm"/>
              <a:tailEnd type="none" len="sm" w="sm"/>
            </a:ln>
          </p:spPr>
        </p:sp>
        <p:grpSp>
          <p:nvGrpSpPr>
            <p:cNvPr name="Group 19" id="19"/>
            <p:cNvGrpSpPr/>
            <p:nvPr/>
          </p:nvGrpSpPr>
          <p:grpSpPr>
            <a:xfrm rot="0">
              <a:off x="10922000" y="0"/>
              <a:ext cx="4445000" cy="1206500"/>
              <a:chOff x="0" y="0"/>
              <a:chExt cx="4445000" cy="1206500"/>
            </a:xfrm>
          </p:grpSpPr>
          <p:sp>
            <p:nvSpPr>
              <p:cNvPr name="Freeform 20" id="20"/>
              <p:cNvSpPr/>
              <p:nvPr/>
            </p:nvSpPr>
            <p:spPr>
              <a:xfrm flipH="false" flipV="false" rot="0">
                <a:off x="0" y="0"/>
                <a:ext cx="4445000" cy="1206500"/>
              </a:xfrm>
              <a:custGeom>
                <a:avLst/>
                <a:gdLst/>
                <a:ahLst/>
                <a:cxnLst/>
                <a:rect r="r" b="b" t="t" l="l"/>
                <a:pathLst>
                  <a:path h="1206500" w="4445000">
                    <a:moveTo>
                      <a:pt x="0" y="0"/>
                    </a:moveTo>
                    <a:lnTo>
                      <a:pt x="4445000" y="0"/>
                    </a:lnTo>
                    <a:lnTo>
                      <a:pt x="4445000" y="1206500"/>
                    </a:lnTo>
                    <a:lnTo>
                      <a:pt x="0" y="1206500"/>
                    </a:lnTo>
                    <a:close/>
                  </a:path>
                </a:pathLst>
              </a:custGeom>
              <a:solidFill>
                <a:srgbClr val="0B223B"/>
              </a:solidFill>
              <a:ln w="9525" cap="sq">
                <a:solidFill>
                  <a:srgbClr val="27E7FF"/>
                </a:solidFill>
                <a:prstDash val="solid"/>
                <a:miter/>
              </a:ln>
            </p:spPr>
          </p:sp>
          <p:sp>
            <p:nvSpPr>
              <p:cNvPr name="TextBox 21" id="21"/>
              <p:cNvSpPr txBox="true"/>
              <p:nvPr/>
            </p:nvSpPr>
            <p:spPr>
              <a:xfrm>
                <a:off x="0" y="-38100"/>
                <a:ext cx="4445000" cy="1244600"/>
              </a:xfrm>
              <a:prstGeom prst="rect">
                <a:avLst/>
              </a:prstGeom>
            </p:spPr>
            <p:txBody>
              <a:bodyPr anchor="ctr" rtlCol="false" tIns="50800" lIns="50800" bIns="50800" rIns="50800"/>
              <a:lstStyle/>
              <a:p>
                <a:pPr algn="l">
                  <a:lnSpc>
                    <a:spcPts val="1679"/>
                  </a:lnSpc>
                </a:pPr>
              </a:p>
            </p:txBody>
          </p:sp>
        </p:grpSp>
        <p:sp>
          <p:nvSpPr>
            <p:cNvPr name="AutoShape 22" id="22"/>
            <p:cNvSpPr/>
            <p:nvPr/>
          </p:nvSpPr>
          <p:spPr>
            <a:xfrm>
              <a:off x="15367000" y="596900"/>
              <a:ext cx="889000" cy="0"/>
            </a:xfrm>
            <a:prstGeom prst="line">
              <a:avLst/>
            </a:prstGeom>
            <a:ln cap="rnd" w="38100">
              <a:solidFill>
                <a:srgbClr val="27E7FF"/>
              </a:solidFill>
              <a:prstDash val="solid"/>
              <a:headEnd type="none" len="sm" w="sm"/>
              <a:tailEnd type="none" len="sm" w="sm"/>
            </a:ln>
          </p:spPr>
        </p:sp>
        <p:grpSp>
          <p:nvGrpSpPr>
            <p:cNvPr name="Group 23" id="23"/>
            <p:cNvGrpSpPr/>
            <p:nvPr/>
          </p:nvGrpSpPr>
          <p:grpSpPr>
            <a:xfrm rot="0">
              <a:off x="16383000" y="0"/>
              <a:ext cx="4445000" cy="1206500"/>
              <a:chOff x="0" y="0"/>
              <a:chExt cx="4445000" cy="1206500"/>
            </a:xfrm>
          </p:grpSpPr>
          <p:sp>
            <p:nvSpPr>
              <p:cNvPr name="Freeform 24" id="24"/>
              <p:cNvSpPr/>
              <p:nvPr/>
            </p:nvSpPr>
            <p:spPr>
              <a:xfrm flipH="false" flipV="false" rot="0">
                <a:off x="0" y="0"/>
                <a:ext cx="4445000" cy="1206500"/>
              </a:xfrm>
              <a:custGeom>
                <a:avLst/>
                <a:gdLst/>
                <a:ahLst/>
                <a:cxnLst/>
                <a:rect r="r" b="b" t="t" l="l"/>
                <a:pathLst>
                  <a:path h="1206500" w="4445000">
                    <a:moveTo>
                      <a:pt x="0" y="0"/>
                    </a:moveTo>
                    <a:lnTo>
                      <a:pt x="4445000" y="0"/>
                    </a:lnTo>
                    <a:lnTo>
                      <a:pt x="4445000" y="1206500"/>
                    </a:lnTo>
                    <a:lnTo>
                      <a:pt x="0" y="1206500"/>
                    </a:lnTo>
                    <a:close/>
                  </a:path>
                </a:pathLst>
              </a:custGeom>
              <a:solidFill>
                <a:srgbClr val="103B59"/>
              </a:solidFill>
              <a:ln w="9525" cap="sq">
                <a:solidFill>
                  <a:srgbClr val="27E7FF"/>
                </a:solidFill>
                <a:prstDash val="solid"/>
                <a:miter/>
              </a:ln>
            </p:spPr>
          </p:sp>
          <p:sp>
            <p:nvSpPr>
              <p:cNvPr name="TextBox 25" id="25"/>
              <p:cNvSpPr txBox="true"/>
              <p:nvPr/>
            </p:nvSpPr>
            <p:spPr>
              <a:xfrm>
                <a:off x="0" y="-38100"/>
                <a:ext cx="4445000" cy="12446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4546600" y="2349500"/>
              <a:ext cx="3556000" cy="1143000"/>
              <a:chOff x="0" y="0"/>
              <a:chExt cx="3556000" cy="1143000"/>
            </a:xfrm>
          </p:grpSpPr>
          <p:sp>
            <p:nvSpPr>
              <p:cNvPr name="Freeform 27" id="27"/>
              <p:cNvSpPr/>
              <p:nvPr/>
            </p:nvSpPr>
            <p:spPr>
              <a:xfrm flipH="false" flipV="false" rot="0">
                <a:off x="0" y="0"/>
                <a:ext cx="3556000" cy="1143000"/>
              </a:xfrm>
              <a:custGeom>
                <a:avLst/>
                <a:gdLst/>
                <a:ahLst/>
                <a:cxnLst/>
                <a:rect r="r" b="b" t="t" l="l"/>
                <a:pathLst>
                  <a:path h="1143000" w="3556000">
                    <a:moveTo>
                      <a:pt x="0" y="0"/>
                    </a:moveTo>
                    <a:lnTo>
                      <a:pt x="3556000" y="0"/>
                    </a:lnTo>
                    <a:lnTo>
                      <a:pt x="3556000" y="1143000"/>
                    </a:lnTo>
                    <a:lnTo>
                      <a:pt x="0" y="1143000"/>
                    </a:lnTo>
                    <a:close/>
                  </a:path>
                </a:pathLst>
              </a:custGeom>
              <a:solidFill>
                <a:srgbClr val="0D2946"/>
              </a:solidFill>
              <a:ln w="9525" cap="sq">
                <a:solidFill>
                  <a:srgbClr val="27E7FF"/>
                </a:solidFill>
                <a:prstDash val="solid"/>
                <a:miter/>
              </a:ln>
            </p:spPr>
          </p:sp>
          <p:sp>
            <p:nvSpPr>
              <p:cNvPr name="TextBox 28" id="28"/>
              <p:cNvSpPr txBox="true"/>
              <p:nvPr/>
            </p:nvSpPr>
            <p:spPr>
              <a:xfrm>
                <a:off x="0" y="-38100"/>
                <a:ext cx="3556000" cy="1181100"/>
              </a:xfrm>
              <a:prstGeom prst="rect">
                <a:avLst/>
              </a:prstGeom>
            </p:spPr>
            <p:txBody>
              <a:bodyPr anchor="ctr" rtlCol="false" tIns="50800" lIns="50800" bIns="50800" rIns="50800"/>
              <a:lstStyle/>
              <a:p>
                <a:pPr algn="l">
                  <a:lnSpc>
                    <a:spcPts val="1679"/>
                  </a:lnSpc>
                </a:pPr>
              </a:p>
            </p:txBody>
          </p:sp>
        </p:grpSp>
        <p:sp>
          <p:nvSpPr>
            <p:cNvPr name="AutoShape 29" id="29"/>
            <p:cNvSpPr/>
            <p:nvPr/>
          </p:nvSpPr>
          <p:spPr>
            <a:xfrm flipH="true">
              <a:off x="6324600" y="1206500"/>
              <a:ext cx="12788900" cy="1143000"/>
            </a:xfrm>
            <a:prstGeom prst="line">
              <a:avLst/>
            </a:prstGeom>
            <a:ln cap="flat" w="25400">
              <a:solidFill>
                <a:srgbClr val="1B5873"/>
              </a:solidFill>
              <a:prstDash val="solid"/>
              <a:headEnd type="none" len="sm" w="sm"/>
              <a:tailEnd type="none" len="sm" w="sm"/>
            </a:ln>
          </p:spPr>
        </p:sp>
        <p:grpSp>
          <p:nvGrpSpPr>
            <p:cNvPr name="Group 30" id="30"/>
            <p:cNvGrpSpPr/>
            <p:nvPr/>
          </p:nvGrpSpPr>
          <p:grpSpPr>
            <a:xfrm rot="0">
              <a:off x="9118600" y="2349500"/>
              <a:ext cx="3556000" cy="1143000"/>
              <a:chOff x="0" y="0"/>
              <a:chExt cx="3556000" cy="1143000"/>
            </a:xfrm>
          </p:grpSpPr>
          <p:sp>
            <p:nvSpPr>
              <p:cNvPr name="Freeform 31" id="31"/>
              <p:cNvSpPr/>
              <p:nvPr/>
            </p:nvSpPr>
            <p:spPr>
              <a:xfrm flipH="false" flipV="false" rot="0">
                <a:off x="0" y="0"/>
                <a:ext cx="3556000" cy="1143000"/>
              </a:xfrm>
              <a:custGeom>
                <a:avLst/>
                <a:gdLst/>
                <a:ahLst/>
                <a:cxnLst/>
                <a:rect r="r" b="b" t="t" l="l"/>
                <a:pathLst>
                  <a:path h="1143000" w="3556000">
                    <a:moveTo>
                      <a:pt x="0" y="0"/>
                    </a:moveTo>
                    <a:lnTo>
                      <a:pt x="3556000" y="0"/>
                    </a:lnTo>
                    <a:lnTo>
                      <a:pt x="3556000" y="1143000"/>
                    </a:lnTo>
                    <a:lnTo>
                      <a:pt x="0" y="1143000"/>
                    </a:lnTo>
                    <a:close/>
                  </a:path>
                </a:pathLst>
              </a:custGeom>
              <a:solidFill>
                <a:srgbClr val="0D2946"/>
              </a:solidFill>
              <a:ln w="9525" cap="sq">
                <a:solidFill>
                  <a:srgbClr val="27E7FF"/>
                </a:solidFill>
                <a:prstDash val="solid"/>
                <a:miter/>
              </a:ln>
            </p:spPr>
          </p:sp>
          <p:sp>
            <p:nvSpPr>
              <p:cNvPr name="TextBox 32" id="32"/>
              <p:cNvSpPr txBox="true"/>
              <p:nvPr/>
            </p:nvSpPr>
            <p:spPr>
              <a:xfrm>
                <a:off x="0" y="-38100"/>
                <a:ext cx="3556000" cy="1181100"/>
              </a:xfrm>
              <a:prstGeom prst="rect">
                <a:avLst/>
              </a:prstGeom>
            </p:spPr>
            <p:txBody>
              <a:bodyPr anchor="ctr" rtlCol="false" tIns="50800" lIns="50800" bIns="50800" rIns="50800"/>
              <a:lstStyle/>
              <a:p>
                <a:pPr algn="l">
                  <a:lnSpc>
                    <a:spcPts val="1679"/>
                  </a:lnSpc>
                </a:pPr>
              </a:p>
            </p:txBody>
          </p:sp>
        </p:grpSp>
        <p:sp>
          <p:nvSpPr>
            <p:cNvPr name="AutoShape 33" id="33"/>
            <p:cNvSpPr/>
            <p:nvPr/>
          </p:nvSpPr>
          <p:spPr>
            <a:xfrm flipH="true">
              <a:off x="10896600" y="1206500"/>
              <a:ext cx="8216900" cy="1143000"/>
            </a:xfrm>
            <a:prstGeom prst="line">
              <a:avLst/>
            </a:prstGeom>
            <a:ln cap="flat" w="25400">
              <a:solidFill>
                <a:srgbClr val="1B5873"/>
              </a:solidFill>
              <a:prstDash val="solid"/>
              <a:headEnd type="none" len="sm" w="sm"/>
              <a:tailEnd type="none" len="sm" w="sm"/>
            </a:ln>
          </p:spPr>
        </p:sp>
        <p:grpSp>
          <p:nvGrpSpPr>
            <p:cNvPr name="Group 34" id="34"/>
            <p:cNvGrpSpPr/>
            <p:nvPr/>
          </p:nvGrpSpPr>
          <p:grpSpPr>
            <a:xfrm rot="0">
              <a:off x="13690600" y="2349500"/>
              <a:ext cx="3556000" cy="1143000"/>
              <a:chOff x="0" y="0"/>
              <a:chExt cx="3556000" cy="1143000"/>
            </a:xfrm>
          </p:grpSpPr>
          <p:sp>
            <p:nvSpPr>
              <p:cNvPr name="Freeform 35" id="35"/>
              <p:cNvSpPr/>
              <p:nvPr/>
            </p:nvSpPr>
            <p:spPr>
              <a:xfrm flipH="false" flipV="false" rot="0">
                <a:off x="0" y="0"/>
                <a:ext cx="3556000" cy="1143000"/>
              </a:xfrm>
              <a:custGeom>
                <a:avLst/>
                <a:gdLst/>
                <a:ahLst/>
                <a:cxnLst/>
                <a:rect r="r" b="b" t="t" l="l"/>
                <a:pathLst>
                  <a:path h="1143000" w="3556000">
                    <a:moveTo>
                      <a:pt x="0" y="0"/>
                    </a:moveTo>
                    <a:lnTo>
                      <a:pt x="3556000" y="0"/>
                    </a:lnTo>
                    <a:lnTo>
                      <a:pt x="3556000" y="1143000"/>
                    </a:lnTo>
                    <a:lnTo>
                      <a:pt x="0" y="1143000"/>
                    </a:lnTo>
                    <a:close/>
                  </a:path>
                </a:pathLst>
              </a:custGeom>
              <a:solidFill>
                <a:srgbClr val="0D2946"/>
              </a:solidFill>
              <a:ln w="9525" cap="sq">
                <a:solidFill>
                  <a:srgbClr val="27E7FF"/>
                </a:solidFill>
                <a:prstDash val="solid"/>
                <a:miter/>
              </a:ln>
            </p:spPr>
          </p:sp>
          <p:sp>
            <p:nvSpPr>
              <p:cNvPr name="TextBox 36" id="36"/>
              <p:cNvSpPr txBox="true"/>
              <p:nvPr/>
            </p:nvSpPr>
            <p:spPr>
              <a:xfrm>
                <a:off x="0" y="-38100"/>
                <a:ext cx="3556000" cy="1181100"/>
              </a:xfrm>
              <a:prstGeom prst="rect">
                <a:avLst/>
              </a:prstGeom>
            </p:spPr>
            <p:txBody>
              <a:bodyPr anchor="ctr" rtlCol="false" tIns="50800" lIns="50800" bIns="50800" rIns="50800"/>
              <a:lstStyle/>
              <a:p>
                <a:pPr algn="l">
                  <a:lnSpc>
                    <a:spcPts val="1679"/>
                  </a:lnSpc>
                </a:pPr>
              </a:p>
            </p:txBody>
          </p:sp>
        </p:grpSp>
        <p:sp>
          <p:nvSpPr>
            <p:cNvPr name="AutoShape 37" id="37"/>
            <p:cNvSpPr/>
            <p:nvPr/>
          </p:nvSpPr>
          <p:spPr>
            <a:xfrm flipH="true">
              <a:off x="15468600" y="1206500"/>
              <a:ext cx="3644900" cy="1143000"/>
            </a:xfrm>
            <a:prstGeom prst="line">
              <a:avLst/>
            </a:prstGeom>
            <a:ln cap="flat" w="25400">
              <a:solidFill>
                <a:srgbClr val="1B5873"/>
              </a:solidFill>
              <a:prstDash val="solid"/>
              <a:headEnd type="none" len="sm" w="sm"/>
              <a:tailEnd type="none" len="sm" w="sm"/>
            </a:ln>
          </p:spPr>
        </p:sp>
        <p:grpSp>
          <p:nvGrpSpPr>
            <p:cNvPr name="Group 38" id="38"/>
            <p:cNvGrpSpPr/>
            <p:nvPr/>
          </p:nvGrpSpPr>
          <p:grpSpPr>
            <a:xfrm rot="0">
              <a:off x="0" y="5524500"/>
              <a:ext cx="3175000" cy="1270000"/>
              <a:chOff x="0" y="0"/>
              <a:chExt cx="3175000" cy="1270000"/>
            </a:xfrm>
          </p:grpSpPr>
          <p:sp>
            <p:nvSpPr>
              <p:cNvPr name="Freeform 39" id="39"/>
              <p:cNvSpPr/>
              <p:nvPr/>
            </p:nvSpPr>
            <p:spPr>
              <a:xfrm flipH="false" flipV="false" rot="0">
                <a:off x="0" y="0"/>
                <a:ext cx="3175000" cy="1270000"/>
              </a:xfrm>
              <a:custGeom>
                <a:avLst/>
                <a:gdLst/>
                <a:ahLst/>
                <a:cxnLst/>
                <a:rect r="r" b="b" t="t" l="l"/>
                <a:pathLst>
                  <a:path h="1270000" w="3175000">
                    <a:moveTo>
                      <a:pt x="0" y="0"/>
                    </a:moveTo>
                    <a:lnTo>
                      <a:pt x="3175000" y="0"/>
                    </a:lnTo>
                    <a:lnTo>
                      <a:pt x="3175000" y="1270000"/>
                    </a:lnTo>
                    <a:lnTo>
                      <a:pt x="0" y="1270000"/>
                    </a:lnTo>
                    <a:close/>
                  </a:path>
                </a:pathLst>
              </a:custGeom>
              <a:solidFill>
                <a:srgbClr val="0B223B"/>
              </a:solidFill>
              <a:ln w="9525" cap="sq">
                <a:solidFill>
                  <a:srgbClr val="27E7FF"/>
                </a:solidFill>
                <a:prstDash val="solid"/>
                <a:miter/>
              </a:ln>
            </p:spPr>
          </p:sp>
          <p:sp>
            <p:nvSpPr>
              <p:cNvPr name="TextBox 40" id="40"/>
              <p:cNvSpPr txBox="true"/>
              <p:nvPr/>
            </p:nvSpPr>
            <p:spPr>
              <a:xfrm>
                <a:off x="0" y="-38100"/>
                <a:ext cx="3175000" cy="1308100"/>
              </a:xfrm>
              <a:prstGeom prst="rect">
                <a:avLst/>
              </a:prstGeom>
            </p:spPr>
            <p:txBody>
              <a:bodyPr anchor="ctr" rtlCol="false" tIns="50800" lIns="50800" bIns="50800" rIns="50800"/>
              <a:lstStyle/>
              <a:p>
                <a:pPr algn="l">
                  <a:lnSpc>
                    <a:spcPts val="1679"/>
                  </a:lnSpc>
                </a:pPr>
              </a:p>
            </p:txBody>
          </p:sp>
        </p:grpSp>
        <p:sp>
          <p:nvSpPr>
            <p:cNvPr name="AutoShape 41" id="41"/>
            <p:cNvSpPr/>
            <p:nvPr/>
          </p:nvSpPr>
          <p:spPr>
            <a:xfrm>
              <a:off x="3175000" y="6159500"/>
              <a:ext cx="469900" cy="0"/>
            </a:xfrm>
            <a:prstGeom prst="line">
              <a:avLst/>
            </a:prstGeom>
            <a:ln cap="rnd" w="38100">
              <a:solidFill>
                <a:srgbClr val="27E7FF"/>
              </a:solidFill>
              <a:prstDash val="solid"/>
              <a:headEnd type="none" len="sm" w="sm"/>
              <a:tailEnd type="none" len="sm" w="sm"/>
            </a:ln>
          </p:spPr>
        </p:sp>
        <p:grpSp>
          <p:nvGrpSpPr>
            <p:cNvPr name="Group 42" id="42"/>
            <p:cNvGrpSpPr/>
            <p:nvPr/>
          </p:nvGrpSpPr>
          <p:grpSpPr>
            <a:xfrm rot="0">
              <a:off x="3746500" y="5524500"/>
              <a:ext cx="3175000" cy="1270000"/>
              <a:chOff x="0" y="0"/>
              <a:chExt cx="3175000" cy="1270000"/>
            </a:xfrm>
          </p:grpSpPr>
          <p:sp>
            <p:nvSpPr>
              <p:cNvPr name="Freeform 43" id="43"/>
              <p:cNvSpPr/>
              <p:nvPr/>
            </p:nvSpPr>
            <p:spPr>
              <a:xfrm flipH="false" flipV="false" rot="0">
                <a:off x="0" y="0"/>
                <a:ext cx="3175000" cy="1270000"/>
              </a:xfrm>
              <a:custGeom>
                <a:avLst/>
                <a:gdLst/>
                <a:ahLst/>
                <a:cxnLst/>
                <a:rect r="r" b="b" t="t" l="l"/>
                <a:pathLst>
                  <a:path h="1270000" w="3175000">
                    <a:moveTo>
                      <a:pt x="0" y="0"/>
                    </a:moveTo>
                    <a:lnTo>
                      <a:pt x="3175000" y="0"/>
                    </a:lnTo>
                    <a:lnTo>
                      <a:pt x="3175000" y="1270000"/>
                    </a:lnTo>
                    <a:lnTo>
                      <a:pt x="0" y="1270000"/>
                    </a:lnTo>
                    <a:close/>
                  </a:path>
                </a:pathLst>
              </a:custGeom>
              <a:solidFill>
                <a:srgbClr val="0B223B"/>
              </a:solidFill>
              <a:ln w="9525" cap="sq">
                <a:solidFill>
                  <a:srgbClr val="27E7FF"/>
                </a:solidFill>
                <a:prstDash val="solid"/>
                <a:miter/>
              </a:ln>
            </p:spPr>
          </p:sp>
          <p:sp>
            <p:nvSpPr>
              <p:cNvPr name="TextBox 44" id="44"/>
              <p:cNvSpPr txBox="true"/>
              <p:nvPr/>
            </p:nvSpPr>
            <p:spPr>
              <a:xfrm>
                <a:off x="0" y="-38100"/>
                <a:ext cx="3175000" cy="1308100"/>
              </a:xfrm>
              <a:prstGeom prst="rect">
                <a:avLst/>
              </a:prstGeom>
            </p:spPr>
            <p:txBody>
              <a:bodyPr anchor="ctr" rtlCol="false" tIns="50800" lIns="50800" bIns="50800" rIns="50800"/>
              <a:lstStyle/>
              <a:p>
                <a:pPr algn="l">
                  <a:lnSpc>
                    <a:spcPts val="1679"/>
                  </a:lnSpc>
                </a:pPr>
              </a:p>
            </p:txBody>
          </p:sp>
        </p:grpSp>
        <p:sp>
          <p:nvSpPr>
            <p:cNvPr name="AutoShape 45" id="45"/>
            <p:cNvSpPr/>
            <p:nvPr/>
          </p:nvSpPr>
          <p:spPr>
            <a:xfrm>
              <a:off x="6921500" y="6159500"/>
              <a:ext cx="469900" cy="0"/>
            </a:xfrm>
            <a:prstGeom prst="line">
              <a:avLst/>
            </a:prstGeom>
            <a:ln cap="rnd" w="38100">
              <a:solidFill>
                <a:srgbClr val="27E7FF"/>
              </a:solidFill>
              <a:prstDash val="solid"/>
              <a:headEnd type="none" len="sm" w="sm"/>
              <a:tailEnd type="none" len="sm" w="sm"/>
            </a:ln>
          </p:spPr>
        </p:sp>
        <p:grpSp>
          <p:nvGrpSpPr>
            <p:cNvPr name="Group 46" id="46"/>
            <p:cNvGrpSpPr/>
            <p:nvPr/>
          </p:nvGrpSpPr>
          <p:grpSpPr>
            <a:xfrm rot="0">
              <a:off x="7493000" y="5524500"/>
              <a:ext cx="3175000" cy="1270000"/>
              <a:chOff x="0" y="0"/>
              <a:chExt cx="3175000" cy="1270000"/>
            </a:xfrm>
          </p:grpSpPr>
          <p:sp>
            <p:nvSpPr>
              <p:cNvPr name="Freeform 47" id="47"/>
              <p:cNvSpPr/>
              <p:nvPr/>
            </p:nvSpPr>
            <p:spPr>
              <a:xfrm flipH="false" flipV="false" rot="0">
                <a:off x="0" y="0"/>
                <a:ext cx="3175000" cy="1270000"/>
              </a:xfrm>
              <a:custGeom>
                <a:avLst/>
                <a:gdLst/>
                <a:ahLst/>
                <a:cxnLst/>
                <a:rect r="r" b="b" t="t" l="l"/>
                <a:pathLst>
                  <a:path h="1270000" w="3175000">
                    <a:moveTo>
                      <a:pt x="0" y="0"/>
                    </a:moveTo>
                    <a:lnTo>
                      <a:pt x="3175000" y="0"/>
                    </a:lnTo>
                    <a:lnTo>
                      <a:pt x="3175000" y="1270000"/>
                    </a:lnTo>
                    <a:lnTo>
                      <a:pt x="0" y="1270000"/>
                    </a:lnTo>
                    <a:close/>
                  </a:path>
                </a:pathLst>
              </a:custGeom>
              <a:solidFill>
                <a:srgbClr val="0B223B"/>
              </a:solidFill>
              <a:ln w="9525" cap="sq">
                <a:solidFill>
                  <a:srgbClr val="27E7FF"/>
                </a:solidFill>
                <a:prstDash val="solid"/>
                <a:miter/>
              </a:ln>
            </p:spPr>
          </p:sp>
          <p:sp>
            <p:nvSpPr>
              <p:cNvPr name="TextBox 48" id="48"/>
              <p:cNvSpPr txBox="true"/>
              <p:nvPr/>
            </p:nvSpPr>
            <p:spPr>
              <a:xfrm>
                <a:off x="0" y="-38100"/>
                <a:ext cx="3175000" cy="1308100"/>
              </a:xfrm>
              <a:prstGeom prst="rect">
                <a:avLst/>
              </a:prstGeom>
            </p:spPr>
            <p:txBody>
              <a:bodyPr anchor="ctr" rtlCol="false" tIns="50800" lIns="50800" bIns="50800" rIns="50800"/>
              <a:lstStyle/>
              <a:p>
                <a:pPr algn="l">
                  <a:lnSpc>
                    <a:spcPts val="1679"/>
                  </a:lnSpc>
                </a:pPr>
              </a:p>
            </p:txBody>
          </p:sp>
        </p:grpSp>
        <p:sp>
          <p:nvSpPr>
            <p:cNvPr name="AutoShape 49" id="49"/>
            <p:cNvSpPr/>
            <p:nvPr/>
          </p:nvSpPr>
          <p:spPr>
            <a:xfrm>
              <a:off x="10668000" y="6159500"/>
              <a:ext cx="469900" cy="0"/>
            </a:xfrm>
            <a:prstGeom prst="line">
              <a:avLst/>
            </a:prstGeom>
            <a:ln cap="rnd" w="38100">
              <a:solidFill>
                <a:srgbClr val="27E7FF"/>
              </a:solidFill>
              <a:prstDash val="solid"/>
              <a:headEnd type="none" len="sm" w="sm"/>
              <a:tailEnd type="none" len="sm" w="sm"/>
            </a:ln>
          </p:spPr>
        </p:sp>
        <p:grpSp>
          <p:nvGrpSpPr>
            <p:cNvPr name="Group 50" id="50"/>
            <p:cNvGrpSpPr/>
            <p:nvPr/>
          </p:nvGrpSpPr>
          <p:grpSpPr>
            <a:xfrm rot="0">
              <a:off x="11239500" y="5524500"/>
              <a:ext cx="3175000" cy="1270000"/>
              <a:chOff x="0" y="0"/>
              <a:chExt cx="3175000" cy="1270000"/>
            </a:xfrm>
          </p:grpSpPr>
          <p:sp>
            <p:nvSpPr>
              <p:cNvPr name="Freeform 51" id="51"/>
              <p:cNvSpPr/>
              <p:nvPr/>
            </p:nvSpPr>
            <p:spPr>
              <a:xfrm flipH="false" flipV="false" rot="0">
                <a:off x="0" y="0"/>
                <a:ext cx="3175000" cy="1270000"/>
              </a:xfrm>
              <a:custGeom>
                <a:avLst/>
                <a:gdLst/>
                <a:ahLst/>
                <a:cxnLst/>
                <a:rect r="r" b="b" t="t" l="l"/>
                <a:pathLst>
                  <a:path h="1270000" w="3175000">
                    <a:moveTo>
                      <a:pt x="0" y="0"/>
                    </a:moveTo>
                    <a:lnTo>
                      <a:pt x="3175000" y="0"/>
                    </a:lnTo>
                    <a:lnTo>
                      <a:pt x="3175000" y="1270000"/>
                    </a:lnTo>
                    <a:lnTo>
                      <a:pt x="0" y="1270000"/>
                    </a:lnTo>
                    <a:close/>
                  </a:path>
                </a:pathLst>
              </a:custGeom>
              <a:solidFill>
                <a:srgbClr val="0B223B"/>
              </a:solidFill>
              <a:ln w="9525" cap="sq">
                <a:solidFill>
                  <a:srgbClr val="27E7FF"/>
                </a:solidFill>
                <a:prstDash val="solid"/>
                <a:miter/>
              </a:ln>
            </p:spPr>
          </p:sp>
          <p:sp>
            <p:nvSpPr>
              <p:cNvPr name="TextBox 52" id="52"/>
              <p:cNvSpPr txBox="true"/>
              <p:nvPr/>
            </p:nvSpPr>
            <p:spPr>
              <a:xfrm>
                <a:off x="0" y="-38100"/>
                <a:ext cx="3175000" cy="1308100"/>
              </a:xfrm>
              <a:prstGeom prst="rect">
                <a:avLst/>
              </a:prstGeom>
            </p:spPr>
            <p:txBody>
              <a:bodyPr anchor="ctr" rtlCol="false" tIns="50800" lIns="50800" bIns="50800" rIns="50800"/>
              <a:lstStyle/>
              <a:p>
                <a:pPr algn="l">
                  <a:lnSpc>
                    <a:spcPts val="1679"/>
                  </a:lnSpc>
                </a:pPr>
              </a:p>
            </p:txBody>
          </p:sp>
        </p:grpSp>
        <p:sp>
          <p:nvSpPr>
            <p:cNvPr name="AutoShape 53" id="53"/>
            <p:cNvSpPr/>
            <p:nvPr/>
          </p:nvSpPr>
          <p:spPr>
            <a:xfrm>
              <a:off x="14414500" y="6159500"/>
              <a:ext cx="469900" cy="0"/>
            </a:xfrm>
            <a:prstGeom prst="line">
              <a:avLst/>
            </a:prstGeom>
            <a:ln cap="rnd" w="38100">
              <a:solidFill>
                <a:srgbClr val="27E7FF"/>
              </a:solidFill>
              <a:prstDash val="solid"/>
              <a:headEnd type="none" len="sm" w="sm"/>
              <a:tailEnd type="none" len="sm" w="sm"/>
            </a:ln>
          </p:spPr>
        </p:sp>
        <p:grpSp>
          <p:nvGrpSpPr>
            <p:cNvPr name="Group 54" id="54"/>
            <p:cNvGrpSpPr/>
            <p:nvPr/>
          </p:nvGrpSpPr>
          <p:grpSpPr>
            <a:xfrm rot="0">
              <a:off x="14986000" y="5524500"/>
              <a:ext cx="3175000" cy="1270000"/>
              <a:chOff x="0" y="0"/>
              <a:chExt cx="3175000" cy="1270000"/>
            </a:xfrm>
          </p:grpSpPr>
          <p:sp>
            <p:nvSpPr>
              <p:cNvPr name="Freeform 55" id="55"/>
              <p:cNvSpPr/>
              <p:nvPr/>
            </p:nvSpPr>
            <p:spPr>
              <a:xfrm flipH="false" flipV="false" rot="0">
                <a:off x="0" y="0"/>
                <a:ext cx="3175000" cy="1270000"/>
              </a:xfrm>
              <a:custGeom>
                <a:avLst/>
                <a:gdLst/>
                <a:ahLst/>
                <a:cxnLst/>
                <a:rect r="r" b="b" t="t" l="l"/>
                <a:pathLst>
                  <a:path h="1270000" w="3175000">
                    <a:moveTo>
                      <a:pt x="0" y="0"/>
                    </a:moveTo>
                    <a:lnTo>
                      <a:pt x="3175000" y="0"/>
                    </a:lnTo>
                    <a:lnTo>
                      <a:pt x="3175000" y="1270000"/>
                    </a:lnTo>
                    <a:lnTo>
                      <a:pt x="0" y="1270000"/>
                    </a:lnTo>
                    <a:close/>
                  </a:path>
                </a:pathLst>
              </a:custGeom>
              <a:solidFill>
                <a:srgbClr val="0B223B"/>
              </a:solidFill>
              <a:ln w="9525" cap="sq">
                <a:solidFill>
                  <a:srgbClr val="27E7FF"/>
                </a:solidFill>
                <a:prstDash val="solid"/>
                <a:miter/>
              </a:ln>
            </p:spPr>
          </p:sp>
          <p:sp>
            <p:nvSpPr>
              <p:cNvPr name="TextBox 56" id="56"/>
              <p:cNvSpPr txBox="true"/>
              <p:nvPr/>
            </p:nvSpPr>
            <p:spPr>
              <a:xfrm>
                <a:off x="0" y="-38100"/>
                <a:ext cx="3175000" cy="1308100"/>
              </a:xfrm>
              <a:prstGeom prst="rect">
                <a:avLst/>
              </a:prstGeom>
            </p:spPr>
            <p:txBody>
              <a:bodyPr anchor="ctr" rtlCol="false" tIns="50800" lIns="50800" bIns="50800" rIns="50800"/>
              <a:lstStyle/>
              <a:p>
                <a:pPr algn="l">
                  <a:lnSpc>
                    <a:spcPts val="1679"/>
                  </a:lnSpc>
                </a:pPr>
              </a:p>
            </p:txBody>
          </p:sp>
        </p:grpSp>
        <p:sp>
          <p:nvSpPr>
            <p:cNvPr name="AutoShape 57" id="57"/>
            <p:cNvSpPr/>
            <p:nvPr/>
          </p:nvSpPr>
          <p:spPr>
            <a:xfrm>
              <a:off x="18161000" y="6159500"/>
              <a:ext cx="469900" cy="0"/>
            </a:xfrm>
            <a:prstGeom prst="line">
              <a:avLst/>
            </a:prstGeom>
            <a:ln cap="rnd" w="38100">
              <a:solidFill>
                <a:srgbClr val="27E7FF"/>
              </a:solidFill>
              <a:prstDash val="solid"/>
              <a:headEnd type="none" len="sm" w="sm"/>
              <a:tailEnd type="none" len="sm" w="sm"/>
            </a:ln>
          </p:spPr>
        </p:sp>
        <p:grpSp>
          <p:nvGrpSpPr>
            <p:cNvPr name="Group 58" id="58"/>
            <p:cNvGrpSpPr/>
            <p:nvPr/>
          </p:nvGrpSpPr>
          <p:grpSpPr>
            <a:xfrm rot="0">
              <a:off x="18732500" y="5524500"/>
              <a:ext cx="3175000" cy="1270000"/>
              <a:chOff x="0" y="0"/>
              <a:chExt cx="3175000" cy="1270000"/>
            </a:xfrm>
          </p:grpSpPr>
          <p:sp>
            <p:nvSpPr>
              <p:cNvPr name="Freeform 59" id="59"/>
              <p:cNvSpPr/>
              <p:nvPr/>
            </p:nvSpPr>
            <p:spPr>
              <a:xfrm flipH="false" flipV="false" rot="0">
                <a:off x="0" y="0"/>
                <a:ext cx="3175000" cy="1270000"/>
              </a:xfrm>
              <a:custGeom>
                <a:avLst/>
                <a:gdLst/>
                <a:ahLst/>
                <a:cxnLst/>
                <a:rect r="r" b="b" t="t" l="l"/>
                <a:pathLst>
                  <a:path h="1270000" w="3175000">
                    <a:moveTo>
                      <a:pt x="0" y="0"/>
                    </a:moveTo>
                    <a:lnTo>
                      <a:pt x="3175000" y="0"/>
                    </a:lnTo>
                    <a:lnTo>
                      <a:pt x="3175000" y="1270000"/>
                    </a:lnTo>
                    <a:lnTo>
                      <a:pt x="0" y="1270000"/>
                    </a:lnTo>
                    <a:close/>
                  </a:path>
                </a:pathLst>
              </a:custGeom>
              <a:solidFill>
                <a:srgbClr val="103B59"/>
              </a:solidFill>
              <a:ln w="9525" cap="sq">
                <a:solidFill>
                  <a:srgbClr val="27E7FF"/>
                </a:solidFill>
                <a:prstDash val="solid"/>
                <a:miter/>
              </a:ln>
            </p:spPr>
          </p:sp>
          <p:sp>
            <p:nvSpPr>
              <p:cNvPr name="TextBox 60" id="60"/>
              <p:cNvSpPr txBox="true"/>
              <p:nvPr/>
            </p:nvSpPr>
            <p:spPr>
              <a:xfrm>
                <a:off x="0" y="-38100"/>
                <a:ext cx="3175000" cy="1308100"/>
              </a:xfrm>
              <a:prstGeom prst="rect">
                <a:avLst/>
              </a:prstGeom>
            </p:spPr>
            <p:txBody>
              <a:bodyPr anchor="ctr" rtlCol="false" tIns="50800" lIns="50800" bIns="50800" rIns="50800"/>
              <a:lstStyle/>
              <a:p>
                <a:pPr algn="l">
                  <a:lnSpc>
                    <a:spcPts val="1679"/>
                  </a:lnSpc>
                </a:pPr>
              </a:p>
            </p:txBody>
          </p:sp>
        </p:grpSp>
        <p:sp>
          <p:nvSpPr>
            <p:cNvPr name="AutoShape 61" id="61"/>
            <p:cNvSpPr/>
            <p:nvPr/>
          </p:nvSpPr>
          <p:spPr>
            <a:xfrm flipH="true">
              <a:off x="1587500" y="3492500"/>
              <a:ext cx="9309100" cy="2032000"/>
            </a:xfrm>
            <a:prstGeom prst="line">
              <a:avLst/>
            </a:prstGeom>
            <a:ln cap="rnd" w="38100">
              <a:solidFill>
                <a:srgbClr val="27E7FF"/>
              </a:solidFill>
              <a:prstDash val="solid"/>
              <a:headEnd type="none" len="sm" w="sm"/>
              <a:tailEnd type="none" len="sm" w="sm"/>
            </a:ln>
          </p:spPr>
        </p:sp>
        <p:sp>
          <p:nvSpPr>
            <p:cNvPr name="TextBox 62" id="62"/>
            <p:cNvSpPr txBox="true"/>
            <p:nvPr/>
          </p:nvSpPr>
          <p:spPr>
            <a:xfrm rot="0">
              <a:off x="228600" y="368300"/>
              <a:ext cx="3987800" cy="363220"/>
            </a:xfrm>
            <a:prstGeom prst="rect">
              <a:avLst/>
            </a:prstGeom>
          </p:spPr>
          <p:txBody>
            <a:bodyPr anchor="t" rtlCol="false" tIns="0" lIns="0" bIns="0" rIns="0">
              <a:spAutoFit/>
            </a:bodyPr>
            <a:lstStyle/>
            <a:p>
              <a:pPr algn="ctr">
                <a:lnSpc>
                  <a:spcPts val="2310"/>
                </a:lnSpc>
              </a:pPr>
              <a:r>
                <a:rPr lang="en-US" sz="1650" b="true">
                  <a:solidFill>
                    <a:srgbClr val="F4FBFF"/>
                  </a:solidFill>
                  <a:latin typeface="Rajdhani Bold"/>
                  <a:ea typeface="Rajdhani Bold"/>
                  <a:cs typeface="Rajdhani Bold"/>
                  <a:sym typeface="Rajdhani Bold"/>
                </a:rPr>
                <a:t>START</a:t>
              </a:r>
            </a:p>
          </p:txBody>
        </p:sp>
        <p:sp>
          <p:nvSpPr>
            <p:cNvPr name="TextBox 63" id="63"/>
            <p:cNvSpPr txBox="true"/>
            <p:nvPr/>
          </p:nvSpPr>
          <p:spPr>
            <a:xfrm rot="0">
              <a:off x="5689600" y="368300"/>
              <a:ext cx="3987800" cy="363220"/>
            </a:xfrm>
            <a:prstGeom prst="rect">
              <a:avLst/>
            </a:prstGeom>
          </p:spPr>
          <p:txBody>
            <a:bodyPr anchor="t" rtlCol="false" tIns="0" lIns="0" bIns="0" rIns="0">
              <a:spAutoFit/>
            </a:bodyPr>
            <a:lstStyle/>
            <a:p>
              <a:pPr algn="ctr">
                <a:lnSpc>
                  <a:spcPts val="2310"/>
                </a:lnSpc>
              </a:pPr>
              <a:r>
                <a:rPr lang="en-US" sz="1650" b="true">
                  <a:solidFill>
                    <a:srgbClr val="F4FBFF"/>
                  </a:solidFill>
                  <a:latin typeface="Rajdhani Bold"/>
                  <a:ea typeface="Rajdhani Bold"/>
                  <a:cs typeface="Rajdhani Bold"/>
                  <a:sym typeface="Rajdhani Bold"/>
                </a:rPr>
                <a:t>ENTER USER STORY</a:t>
              </a:r>
            </a:p>
          </p:txBody>
        </p:sp>
        <p:sp>
          <p:nvSpPr>
            <p:cNvPr name="TextBox 64" id="64"/>
            <p:cNvSpPr txBox="true"/>
            <p:nvPr/>
          </p:nvSpPr>
          <p:spPr>
            <a:xfrm rot="0">
              <a:off x="11150600" y="368300"/>
              <a:ext cx="3987800" cy="363220"/>
            </a:xfrm>
            <a:prstGeom prst="rect">
              <a:avLst/>
            </a:prstGeom>
          </p:spPr>
          <p:txBody>
            <a:bodyPr anchor="t" rtlCol="false" tIns="0" lIns="0" bIns="0" rIns="0">
              <a:spAutoFit/>
            </a:bodyPr>
            <a:lstStyle/>
            <a:p>
              <a:pPr algn="ctr">
                <a:lnSpc>
                  <a:spcPts val="2310"/>
                </a:lnSpc>
              </a:pPr>
              <a:r>
                <a:rPr lang="en-US" sz="1650" b="true">
                  <a:solidFill>
                    <a:srgbClr val="F4FBFF"/>
                  </a:solidFill>
                  <a:latin typeface="Rajdhani Bold"/>
                  <a:ea typeface="Rajdhani Bold"/>
                  <a:cs typeface="Rajdhani Bold"/>
                  <a:sym typeface="Rajdhani Bold"/>
                </a:rPr>
                <a:t>SELECT PRIORITY / SPRINT</a:t>
              </a:r>
            </a:p>
          </p:txBody>
        </p:sp>
        <p:sp>
          <p:nvSpPr>
            <p:cNvPr name="TextBox 65" id="65"/>
            <p:cNvSpPr txBox="true"/>
            <p:nvPr/>
          </p:nvSpPr>
          <p:spPr>
            <a:xfrm rot="0">
              <a:off x="16611600" y="368300"/>
              <a:ext cx="3987800" cy="363220"/>
            </a:xfrm>
            <a:prstGeom prst="rect">
              <a:avLst/>
            </a:prstGeom>
          </p:spPr>
          <p:txBody>
            <a:bodyPr anchor="t" rtlCol="false" tIns="0" lIns="0" bIns="0" rIns="0">
              <a:spAutoFit/>
            </a:bodyPr>
            <a:lstStyle/>
            <a:p>
              <a:pPr algn="ctr">
                <a:lnSpc>
                  <a:spcPts val="2310"/>
                </a:lnSpc>
              </a:pPr>
              <a:r>
                <a:rPr lang="en-US" sz="1650" b="true">
                  <a:solidFill>
                    <a:srgbClr val="27E7FF"/>
                  </a:solidFill>
                  <a:latin typeface="Rajdhani Bold"/>
                  <a:ea typeface="Rajdhani Bold"/>
                  <a:cs typeface="Rajdhani Bold"/>
                  <a:sym typeface="Rajdhani Bold"/>
                </a:rPr>
                <a:t>AI ANALYSIS</a:t>
              </a:r>
            </a:p>
          </p:txBody>
        </p:sp>
        <p:sp>
          <p:nvSpPr>
            <p:cNvPr name="TextBox 66" id="66"/>
            <p:cNvSpPr txBox="true"/>
            <p:nvPr/>
          </p:nvSpPr>
          <p:spPr>
            <a:xfrm rot="0">
              <a:off x="4737100" y="2679700"/>
              <a:ext cx="3175000" cy="353060"/>
            </a:xfrm>
            <a:prstGeom prst="rect">
              <a:avLst/>
            </a:prstGeom>
          </p:spPr>
          <p:txBody>
            <a:bodyPr anchor="t" rtlCol="false" tIns="0" lIns="0" bIns="0" rIns="0">
              <a:spAutoFit/>
            </a:bodyPr>
            <a:lstStyle/>
            <a:p>
              <a:pPr algn="ctr">
                <a:lnSpc>
                  <a:spcPts val="2204"/>
                </a:lnSpc>
              </a:pPr>
              <a:r>
                <a:rPr lang="en-US" sz="1575" b="true">
                  <a:solidFill>
                    <a:srgbClr val="27E7FF"/>
                  </a:solidFill>
                  <a:latin typeface="Rajdhani Bold"/>
                  <a:ea typeface="Rajdhani Bold"/>
                  <a:cs typeface="Rajdhani Bold"/>
                  <a:sym typeface="Rajdhani Bold"/>
                </a:rPr>
                <a:t>QUALITY</a:t>
              </a:r>
            </a:p>
          </p:txBody>
        </p:sp>
        <p:sp>
          <p:nvSpPr>
            <p:cNvPr name="TextBox 67" id="67"/>
            <p:cNvSpPr txBox="true"/>
            <p:nvPr/>
          </p:nvSpPr>
          <p:spPr>
            <a:xfrm rot="0">
              <a:off x="9309100" y="2679700"/>
              <a:ext cx="3175000" cy="353060"/>
            </a:xfrm>
            <a:prstGeom prst="rect">
              <a:avLst/>
            </a:prstGeom>
          </p:spPr>
          <p:txBody>
            <a:bodyPr anchor="t" rtlCol="false" tIns="0" lIns="0" bIns="0" rIns="0">
              <a:spAutoFit/>
            </a:bodyPr>
            <a:lstStyle/>
            <a:p>
              <a:pPr algn="ctr">
                <a:lnSpc>
                  <a:spcPts val="2204"/>
                </a:lnSpc>
              </a:pPr>
              <a:r>
                <a:rPr lang="en-US" sz="1575" b="true">
                  <a:solidFill>
                    <a:srgbClr val="27E7FF"/>
                  </a:solidFill>
                  <a:latin typeface="Rajdhani Bold"/>
                  <a:ea typeface="Rajdhani Bold"/>
                  <a:cs typeface="Rajdhani Bold"/>
                  <a:sym typeface="Rajdhani Bold"/>
                </a:rPr>
                <a:t>AMBIGUITY</a:t>
              </a:r>
            </a:p>
          </p:txBody>
        </p:sp>
        <p:sp>
          <p:nvSpPr>
            <p:cNvPr name="TextBox 68" id="68"/>
            <p:cNvSpPr txBox="true"/>
            <p:nvPr/>
          </p:nvSpPr>
          <p:spPr>
            <a:xfrm rot="0">
              <a:off x="13881100" y="2679700"/>
              <a:ext cx="3175000" cy="353060"/>
            </a:xfrm>
            <a:prstGeom prst="rect">
              <a:avLst/>
            </a:prstGeom>
          </p:spPr>
          <p:txBody>
            <a:bodyPr anchor="t" rtlCol="false" tIns="0" lIns="0" bIns="0" rIns="0">
              <a:spAutoFit/>
            </a:bodyPr>
            <a:lstStyle/>
            <a:p>
              <a:pPr algn="ctr">
                <a:lnSpc>
                  <a:spcPts val="2204"/>
                </a:lnSpc>
              </a:pPr>
              <a:r>
                <a:rPr lang="en-US" sz="1575" b="true">
                  <a:solidFill>
                    <a:srgbClr val="27E7FF"/>
                  </a:solidFill>
                  <a:latin typeface="Rajdhani Bold"/>
                  <a:ea typeface="Rajdhani Bold"/>
                  <a:cs typeface="Rajdhani Bold"/>
                  <a:sym typeface="Rajdhani Bold"/>
                </a:rPr>
                <a:t>COMPLEXITY</a:t>
              </a:r>
            </a:p>
          </p:txBody>
        </p:sp>
        <p:sp>
          <p:nvSpPr>
            <p:cNvPr name="TextBox 69" id="69"/>
            <p:cNvSpPr txBox="true"/>
            <p:nvPr/>
          </p:nvSpPr>
          <p:spPr>
            <a:xfrm rot="0">
              <a:off x="177800" y="5864225"/>
              <a:ext cx="2819400" cy="6407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RISK + STORY POINT ESTIMATION</a:t>
              </a:r>
            </a:p>
          </p:txBody>
        </p:sp>
        <p:sp>
          <p:nvSpPr>
            <p:cNvPr name="TextBox 70" id="70"/>
            <p:cNvSpPr txBox="true"/>
            <p:nvPr/>
          </p:nvSpPr>
          <p:spPr>
            <a:xfrm rot="0">
              <a:off x="3924300" y="5864225"/>
              <a:ext cx="28194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IMPROVED USER STORY</a:t>
              </a:r>
            </a:p>
          </p:txBody>
        </p:sp>
        <p:sp>
          <p:nvSpPr>
            <p:cNvPr name="TextBox 71" id="71"/>
            <p:cNvSpPr txBox="true"/>
            <p:nvPr/>
          </p:nvSpPr>
          <p:spPr>
            <a:xfrm rot="0">
              <a:off x="7670800" y="5864225"/>
              <a:ext cx="28194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ACCEPTANCE CRITERIA</a:t>
              </a:r>
            </a:p>
          </p:txBody>
        </p:sp>
        <p:sp>
          <p:nvSpPr>
            <p:cNvPr name="TextBox 72" id="72"/>
            <p:cNvSpPr txBox="true"/>
            <p:nvPr/>
          </p:nvSpPr>
          <p:spPr>
            <a:xfrm rot="0">
              <a:off x="11417300" y="5864225"/>
              <a:ext cx="28194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SAVE TO BACKLOG</a:t>
              </a:r>
            </a:p>
          </p:txBody>
        </p:sp>
        <p:sp>
          <p:nvSpPr>
            <p:cNvPr name="TextBox 73" id="73"/>
            <p:cNvSpPr txBox="true"/>
            <p:nvPr/>
          </p:nvSpPr>
          <p:spPr>
            <a:xfrm rot="0">
              <a:off x="15163800" y="5864225"/>
              <a:ext cx="2819400" cy="310515"/>
            </a:xfrm>
            <a:prstGeom prst="rect">
              <a:avLst/>
            </a:prstGeom>
          </p:spPr>
          <p:txBody>
            <a:bodyPr anchor="t" rtlCol="false" tIns="0" lIns="0" bIns="0" rIns="0">
              <a:spAutoFit/>
            </a:bodyPr>
            <a:lstStyle/>
            <a:p>
              <a:pPr algn="ctr">
                <a:lnSpc>
                  <a:spcPts val="1995"/>
                </a:lnSpc>
              </a:pPr>
              <a:r>
                <a:rPr lang="en-US" sz="1425" b="true">
                  <a:solidFill>
                    <a:srgbClr val="F4FBFF"/>
                  </a:solidFill>
                  <a:latin typeface="Rajdhani Bold"/>
                  <a:ea typeface="Rajdhani Bold"/>
                  <a:cs typeface="Rajdhani Bold"/>
                  <a:sym typeface="Rajdhani Bold"/>
                </a:rPr>
                <a:t>SPRINT PLANNING</a:t>
              </a:r>
            </a:p>
          </p:txBody>
        </p:sp>
        <p:sp>
          <p:nvSpPr>
            <p:cNvPr name="TextBox 74" id="74"/>
            <p:cNvSpPr txBox="true"/>
            <p:nvPr/>
          </p:nvSpPr>
          <p:spPr>
            <a:xfrm rot="0">
              <a:off x="18910300" y="5864225"/>
              <a:ext cx="2819400" cy="310515"/>
            </a:xfrm>
            <a:prstGeom prst="rect">
              <a:avLst/>
            </a:prstGeom>
          </p:spPr>
          <p:txBody>
            <a:bodyPr anchor="t" rtlCol="false" tIns="0" lIns="0" bIns="0" rIns="0">
              <a:spAutoFit/>
            </a:bodyPr>
            <a:lstStyle/>
            <a:p>
              <a:pPr algn="ctr">
                <a:lnSpc>
                  <a:spcPts val="1995"/>
                </a:lnSpc>
              </a:pPr>
              <a:r>
                <a:rPr lang="en-US" sz="1425" b="true">
                  <a:solidFill>
                    <a:srgbClr val="27E7FF"/>
                  </a:solidFill>
                  <a:latin typeface="Rajdhani Bold"/>
                  <a:ea typeface="Rajdhani Bold"/>
                  <a:cs typeface="Rajdhani Bold"/>
                  <a:sym typeface="Rajdhani Bold"/>
                </a:rPr>
                <a:t>END</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07182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SYSTEM MODULES</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08</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0" id="10"/>
          <p:cNvGrpSpPr/>
          <p:nvPr/>
        </p:nvGrpSpPr>
        <p:grpSpPr>
          <a:xfrm rot="0">
            <a:off x="876300" y="2190750"/>
            <a:ext cx="5048250" cy="2762250"/>
            <a:chOff x="0" y="0"/>
            <a:chExt cx="6731000" cy="3683000"/>
          </a:xfrm>
        </p:grpSpPr>
        <p:grpSp>
          <p:nvGrpSpPr>
            <p:cNvPr name="Group 11" id="11"/>
            <p:cNvGrpSpPr/>
            <p:nvPr/>
          </p:nvGrpSpPr>
          <p:grpSpPr>
            <a:xfrm rot="0">
              <a:off x="0" y="0"/>
              <a:ext cx="6731000" cy="3683000"/>
              <a:chOff x="0" y="0"/>
              <a:chExt cx="6731000" cy="3683000"/>
            </a:xfrm>
          </p:grpSpPr>
          <p:sp>
            <p:nvSpPr>
              <p:cNvPr name="Freeform 12" id="12"/>
              <p:cNvSpPr/>
              <p:nvPr/>
            </p:nvSpPr>
            <p:spPr>
              <a:xfrm flipH="false" flipV="false" rot="0">
                <a:off x="0" y="0"/>
                <a:ext cx="6731000" cy="3683000"/>
              </a:xfrm>
              <a:custGeom>
                <a:avLst/>
                <a:gdLst/>
                <a:ahLst/>
                <a:cxnLst/>
                <a:rect r="r" b="b" t="t" l="l"/>
                <a:pathLst>
                  <a:path h="3683000" w="6731000">
                    <a:moveTo>
                      <a:pt x="0" y="0"/>
                    </a:moveTo>
                    <a:lnTo>
                      <a:pt x="6731000" y="0"/>
                    </a:lnTo>
                    <a:lnTo>
                      <a:pt x="6731000" y="3683000"/>
                    </a:lnTo>
                    <a:lnTo>
                      <a:pt x="0" y="3683000"/>
                    </a:lnTo>
                    <a:close/>
                  </a:path>
                </a:pathLst>
              </a:custGeom>
              <a:solidFill>
                <a:srgbClr val="0B223B"/>
              </a:solidFill>
              <a:ln w="9525" cap="sq">
                <a:solidFill>
                  <a:srgbClr val="1B5873"/>
                </a:solidFill>
                <a:prstDash val="solid"/>
                <a:miter/>
              </a:ln>
            </p:spPr>
          </p:sp>
          <p:sp>
            <p:nvSpPr>
              <p:cNvPr name="TextBox 13" id="13"/>
              <p:cNvSpPr txBox="true"/>
              <p:nvPr/>
            </p:nvSpPr>
            <p:spPr>
              <a:xfrm>
                <a:off x="0" y="-38100"/>
                <a:ext cx="6731000" cy="3721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381000" y="333375"/>
              <a:ext cx="1143000" cy="514985"/>
            </a:xfrm>
            <a:prstGeom prst="rect">
              <a:avLst/>
            </a:prstGeom>
          </p:spPr>
          <p:txBody>
            <a:bodyPr anchor="t" rtlCol="false" tIns="0" lIns="0" bIns="0" rIns="0">
              <a:spAutoFit/>
            </a:bodyPr>
            <a:lstStyle/>
            <a:p>
              <a:pPr algn="l">
                <a:lnSpc>
                  <a:spcPts val="3254"/>
                </a:lnSpc>
              </a:pPr>
              <a:r>
                <a:rPr lang="en-US" sz="2325" b="true">
                  <a:solidFill>
                    <a:srgbClr val="27E7FF"/>
                  </a:solidFill>
                  <a:latin typeface="IBM Plex Mono Bold"/>
                  <a:ea typeface="IBM Plex Mono Bold"/>
                  <a:cs typeface="IBM Plex Mono Bold"/>
                  <a:sym typeface="IBM Plex Mono Bold"/>
                </a:rPr>
                <a:t>01</a:t>
              </a:r>
            </a:p>
          </p:txBody>
        </p:sp>
        <p:sp>
          <p:nvSpPr>
            <p:cNvPr name="TextBox 15" id="15"/>
            <p:cNvSpPr txBox="true"/>
            <p:nvPr/>
          </p:nvSpPr>
          <p:spPr>
            <a:xfrm rot="0">
              <a:off x="381000" y="1079500"/>
              <a:ext cx="5905500" cy="462280"/>
            </a:xfrm>
            <a:prstGeom prst="rect">
              <a:avLst/>
            </a:prstGeom>
          </p:spPr>
          <p:txBody>
            <a:bodyPr anchor="t" rtlCol="false" tIns="0" lIns="0" bIns="0" rIns="0">
              <a:spAutoFit/>
            </a:bodyPr>
            <a:lstStyle/>
            <a:p>
              <a:pPr algn="l">
                <a:lnSpc>
                  <a:spcPts val="2940"/>
                </a:lnSpc>
              </a:pPr>
              <a:r>
                <a:rPr lang="en-US" sz="2100" b="true">
                  <a:solidFill>
                    <a:srgbClr val="F4FBFF"/>
                  </a:solidFill>
                  <a:latin typeface="Rajdhani Bold"/>
                  <a:ea typeface="Rajdhani Bold"/>
                  <a:cs typeface="Rajdhani Bold"/>
                  <a:sym typeface="Rajdhani Bold"/>
                </a:rPr>
                <a:t>USER STORY INPUT</a:t>
              </a:r>
            </a:p>
          </p:txBody>
        </p:sp>
        <p:sp>
          <p:nvSpPr>
            <p:cNvPr name="TextBox 16" id="16"/>
            <p:cNvSpPr txBox="true"/>
            <p:nvPr/>
          </p:nvSpPr>
          <p:spPr>
            <a:xfrm rot="0">
              <a:off x="381000" y="1803400"/>
              <a:ext cx="5905500" cy="755650"/>
            </a:xfrm>
            <a:prstGeom prst="rect">
              <a:avLst/>
            </a:prstGeom>
          </p:spPr>
          <p:txBody>
            <a:bodyPr anchor="t" rtlCol="false" tIns="0" lIns="0" bIns="0" rIns="0">
              <a:spAutoFit/>
            </a:bodyPr>
            <a:lstStyle/>
            <a:p>
              <a:pPr algn="l">
                <a:lnSpc>
                  <a:spcPts val="2392"/>
                </a:lnSpc>
              </a:pPr>
              <a:r>
                <a:rPr lang="en-US" sz="1650">
                  <a:solidFill>
                    <a:srgbClr val="9DB7CC"/>
                  </a:solidFill>
                  <a:latin typeface="IBM Plex Sans"/>
                  <a:ea typeface="IBM Plex Sans"/>
                  <a:cs typeface="IBM Plex Sans"/>
                  <a:sym typeface="IBM Plex Sans"/>
                </a:rPr>
                <a:t>Enter user story</a:t>
              </a:r>
            </a:p>
            <a:p>
              <a:pPr algn="l">
                <a:lnSpc>
                  <a:spcPts val="2392"/>
                </a:lnSpc>
              </a:pPr>
              <a:r>
                <a:rPr lang="en-US" sz="1650">
                  <a:solidFill>
                    <a:srgbClr val="9DB7CC"/>
                  </a:solidFill>
                  <a:latin typeface="IBM Plex Sans"/>
                  <a:ea typeface="IBM Plex Sans"/>
                  <a:cs typeface="IBM Plex Sans"/>
                  <a:sym typeface="IBM Plex Sans"/>
                </a:rPr>
                <a:t>Select priority and sprint</a:t>
              </a:r>
            </a:p>
          </p:txBody>
        </p:sp>
      </p:grpSp>
      <p:grpSp>
        <p:nvGrpSpPr>
          <p:cNvPr name="Group 17" id="17"/>
          <p:cNvGrpSpPr/>
          <p:nvPr/>
        </p:nvGrpSpPr>
        <p:grpSpPr>
          <a:xfrm rot="0">
            <a:off x="6400800" y="2190750"/>
            <a:ext cx="5048250" cy="2762250"/>
            <a:chOff x="0" y="0"/>
            <a:chExt cx="6731000" cy="3683000"/>
          </a:xfrm>
        </p:grpSpPr>
        <p:grpSp>
          <p:nvGrpSpPr>
            <p:cNvPr name="Group 18" id="18"/>
            <p:cNvGrpSpPr/>
            <p:nvPr/>
          </p:nvGrpSpPr>
          <p:grpSpPr>
            <a:xfrm rot="0">
              <a:off x="0" y="0"/>
              <a:ext cx="6731000" cy="3683000"/>
              <a:chOff x="0" y="0"/>
              <a:chExt cx="6731000" cy="3683000"/>
            </a:xfrm>
          </p:grpSpPr>
          <p:sp>
            <p:nvSpPr>
              <p:cNvPr name="Freeform 19" id="19"/>
              <p:cNvSpPr/>
              <p:nvPr/>
            </p:nvSpPr>
            <p:spPr>
              <a:xfrm flipH="false" flipV="false" rot="0">
                <a:off x="0" y="0"/>
                <a:ext cx="6731000" cy="3683000"/>
              </a:xfrm>
              <a:custGeom>
                <a:avLst/>
                <a:gdLst/>
                <a:ahLst/>
                <a:cxnLst/>
                <a:rect r="r" b="b" t="t" l="l"/>
                <a:pathLst>
                  <a:path h="3683000" w="6731000">
                    <a:moveTo>
                      <a:pt x="0" y="0"/>
                    </a:moveTo>
                    <a:lnTo>
                      <a:pt x="6731000" y="0"/>
                    </a:lnTo>
                    <a:lnTo>
                      <a:pt x="6731000" y="3683000"/>
                    </a:lnTo>
                    <a:lnTo>
                      <a:pt x="0" y="3683000"/>
                    </a:lnTo>
                    <a:close/>
                  </a:path>
                </a:pathLst>
              </a:custGeom>
              <a:solidFill>
                <a:srgbClr val="103B59"/>
              </a:solidFill>
              <a:ln w="9525" cap="sq">
                <a:solidFill>
                  <a:srgbClr val="27E7FF"/>
                </a:solidFill>
                <a:prstDash val="solid"/>
                <a:miter/>
              </a:ln>
            </p:spPr>
          </p:sp>
          <p:sp>
            <p:nvSpPr>
              <p:cNvPr name="TextBox 20" id="20"/>
              <p:cNvSpPr txBox="true"/>
              <p:nvPr/>
            </p:nvSpPr>
            <p:spPr>
              <a:xfrm>
                <a:off x="0" y="-38100"/>
                <a:ext cx="6731000" cy="37211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381000" y="333375"/>
              <a:ext cx="1143000" cy="514985"/>
            </a:xfrm>
            <a:prstGeom prst="rect">
              <a:avLst/>
            </a:prstGeom>
          </p:spPr>
          <p:txBody>
            <a:bodyPr anchor="t" rtlCol="false" tIns="0" lIns="0" bIns="0" rIns="0">
              <a:spAutoFit/>
            </a:bodyPr>
            <a:lstStyle/>
            <a:p>
              <a:pPr algn="l">
                <a:lnSpc>
                  <a:spcPts val="3254"/>
                </a:lnSpc>
              </a:pPr>
              <a:r>
                <a:rPr lang="en-US" sz="2325" b="true">
                  <a:solidFill>
                    <a:srgbClr val="27E7FF"/>
                  </a:solidFill>
                  <a:latin typeface="IBM Plex Mono Bold"/>
                  <a:ea typeface="IBM Plex Mono Bold"/>
                  <a:cs typeface="IBM Plex Mono Bold"/>
                  <a:sym typeface="IBM Plex Mono Bold"/>
                </a:rPr>
                <a:t>02</a:t>
              </a:r>
            </a:p>
          </p:txBody>
        </p:sp>
        <p:sp>
          <p:nvSpPr>
            <p:cNvPr name="TextBox 22" id="22"/>
            <p:cNvSpPr txBox="true"/>
            <p:nvPr/>
          </p:nvSpPr>
          <p:spPr>
            <a:xfrm rot="0">
              <a:off x="381000" y="1079500"/>
              <a:ext cx="5905500" cy="462280"/>
            </a:xfrm>
            <a:prstGeom prst="rect">
              <a:avLst/>
            </a:prstGeom>
          </p:spPr>
          <p:txBody>
            <a:bodyPr anchor="t" rtlCol="false" tIns="0" lIns="0" bIns="0" rIns="0">
              <a:spAutoFit/>
            </a:bodyPr>
            <a:lstStyle/>
            <a:p>
              <a:pPr algn="l">
                <a:lnSpc>
                  <a:spcPts val="2940"/>
                </a:lnSpc>
              </a:pPr>
              <a:r>
                <a:rPr lang="en-US" sz="2100" b="true">
                  <a:solidFill>
                    <a:srgbClr val="F4FBFF"/>
                  </a:solidFill>
                  <a:latin typeface="Rajdhani Bold"/>
                  <a:ea typeface="Rajdhani Bold"/>
                  <a:cs typeface="Rajdhani Bold"/>
                  <a:sym typeface="Rajdhani Bold"/>
                </a:rPr>
                <a:t>AI STORY ANALYZER</a:t>
              </a:r>
            </a:p>
          </p:txBody>
        </p:sp>
        <p:sp>
          <p:nvSpPr>
            <p:cNvPr name="TextBox 23" id="23"/>
            <p:cNvSpPr txBox="true"/>
            <p:nvPr/>
          </p:nvSpPr>
          <p:spPr>
            <a:xfrm rot="0">
              <a:off x="381000" y="1803400"/>
              <a:ext cx="5905500" cy="755650"/>
            </a:xfrm>
            <a:prstGeom prst="rect">
              <a:avLst/>
            </a:prstGeom>
          </p:spPr>
          <p:txBody>
            <a:bodyPr anchor="t" rtlCol="false" tIns="0" lIns="0" bIns="0" rIns="0">
              <a:spAutoFit/>
            </a:bodyPr>
            <a:lstStyle/>
            <a:p>
              <a:pPr algn="l">
                <a:lnSpc>
                  <a:spcPts val="2392"/>
                </a:lnSpc>
              </a:pPr>
              <a:r>
                <a:rPr lang="en-US" sz="1650">
                  <a:solidFill>
                    <a:srgbClr val="9DB7CC"/>
                  </a:solidFill>
                  <a:latin typeface="IBM Plex Sans"/>
                  <a:ea typeface="IBM Plex Sans"/>
                  <a:cs typeface="IBM Plex Sans"/>
                  <a:sym typeface="IBM Plex Sans"/>
                </a:rPr>
                <a:t>Analyze clarity and completeness</a:t>
              </a:r>
            </a:p>
            <a:p>
              <a:pPr algn="l">
                <a:lnSpc>
                  <a:spcPts val="2392"/>
                </a:lnSpc>
              </a:pPr>
              <a:r>
                <a:rPr lang="en-US" sz="1650">
                  <a:solidFill>
                    <a:srgbClr val="9DB7CC"/>
                  </a:solidFill>
                  <a:latin typeface="IBM Plex Sans"/>
                  <a:ea typeface="IBM Plex Sans"/>
                  <a:cs typeface="IBM Plex Sans"/>
                  <a:sym typeface="IBM Plex Sans"/>
                </a:rPr>
                <a:t>Detect ambiguity • Evaluate complexity</a:t>
              </a:r>
            </a:p>
          </p:txBody>
        </p:sp>
      </p:grpSp>
      <p:grpSp>
        <p:nvGrpSpPr>
          <p:cNvPr name="Group 24" id="24"/>
          <p:cNvGrpSpPr/>
          <p:nvPr/>
        </p:nvGrpSpPr>
        <p:grpSpPr>
          <a:xfrm rot="0">
            <a:off x="11925300" y="2190750"/>
            <a:ext cx="5048250" cy="2762250"/>
            <a:chOff x="0" y="0"/>
            <a:chExt cx="6731000" cy="3683000"/>
          </a:xfrm>
        </p:grpSpPr>
        <p:grpSp>
          <p:nvGrpSpPr>
            <p:cNvPr name="Group 25" id="25"/>
            <p:cNvGrpSpPr/>
            <p:nvPr/>
          </p:nvGrpSpPr>
          <p:grpSpPr>
            <a:xfrm rot="0">
              <a:off x="0" y="0"/>
              <a:ext cx="6731000" cy="3683000"/>
              <a:chOff x="0" y="0"/>
              <a:chExt cx="6731000" cy="3683000"/>
            </a:xfrm>
          </p:grpSpPr>
          <p:sp>
            <p:nvSpPr>
              <p:cNvPr name="Freeform 26" id="26"/>
              <p:cNvSpPr/>
              <p:nvPr/>
            </p:nvSpPr>
            <p:spPr>
              <a:xfrm flipH="false" flipV="false" rot="0">
                <a:off x="0" y="0"/>
                <a:ext cx="6731000" cy="3683000"/>
              </a:xfrm>
              <a:custGeom>
                <a:avLst/>
                <a:gdLst/>
                <a:ahLst/>
                <a:cxnLst/>
                <a:rect r="r" b="b" t="t" l="l"/>
                <a:pathLst>
                  <a:path h="3683000" w="6731000">
                    <a:moveTo>
                      <a:pt x="0" y="0"/>
                    </a:moveTo>
                    <a:lnTo>
                      <a:pt x="6731000" y="0"/>
                    </a:lnTo>
                    <a:lnTo>
                      <a:pt x="6731000" y="3683000"/>
                    </a:lnTo>
                    <a:lnTo>
                      <a:pt x="0" y="3683000"/>
                    </a:lnTo>
                    <a:close/>
                  </a:path>
                </a:pathLst>
              </a:custGeom>
              <a:solidFill>
                <a:srgbClr val="0B223B"/>
              </a:solidFill>
              <a:ln w="9525" cap="sq">
                <a:solidFill>
                  <a:srgbClr val="1B5873"/>
                </a:solidFill>
                <a:prstDash val="solid"/>
                <a:miter/>
              </a:ln>
            </p:spPr>
          </p:sp>
          <p:sp>
            <p:nvSpPr>
              <p:cNvPr name="TextBox 27" id="27"/>
              <p:cNvSpPr txBox="true"/>
              <p:nvPr/>
            </p:nvSpPr>
            <p:spPr>
              <a:xfrm>
                <a:off x="0" y="-38100"/>
                <a:ext cx="6731000" cy="3721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381000" y="333375"/>
              <a:ext cx="1143000" cy="514985"/>
            </a:xfrm>
            <a:prstGeom prst="rect">
              <a:avLst/>
            </a:prstGeom>
          </p:spPr>
          <p:txBody>
            <a:bodyPr anchor="t" rtlCol="false" tIns="0" lIns="0" bIns="0" rIns="0">
              <a:spAutoFit/>
            </a:bodyPr>
            <a:lstStyle/>
            <a:p>
              <a:pPr algn="l">
                <a:lnSpc>
                  <a:spcPts val="3254"/>
                </a:lnSpc>
              </a:pPr>
              <a:r>
                <a:rPr lang="en-US" sz="2325" b="true">
                  <a:solidFill>
                    <a:srgbClr val="27E7FF"/>
                  </a:solidFill>
                  <a:latin typeface="IBM Plex Mono Bold"/>
                  <a:ea typeface="IBM Plex Mono Bold"/>
                  <a:cs typeface="IBM Plex Mono Bold"/>
                  <a:sym typeface="IBM Plex Mono Bold"/>
                </a:rPr>
                <a:t>03</a:t>
              </a:r>
            </a:p>
          </p:txBody>
        </p:sp>
        <p:sp>
          <p:nvSpPr>
            <p:cNvPr name="TextBox 29" id="29"/>
            <p:cNvSpPr txBox="true"/>
            <p:nvPr/>
          </p:nvSpPr>
          <p:spPr>
            <a:xfrm rot="0">
              <a:off x="381000" y="1079500"/>
              <a:ext cx="5905500" cy="462280"/>
            </a:xfrm>
            <a:prstGeom prst="rect">
              <a:avLst/>
            </a:prstGeom>
          </p:spPr>
          <p:txBody>
            <a:bodyPr anchor="t" rtlCol="false" tIns="0" lIns="0" bIns="0" rIns="0">
              <a:spAutoFit/>
            </a:bodyPr>
            <a:lstStyle/>
            <a:p>
              <a:pPr algn="l">
                <a:lnSpc>
                  <a:spcPts val="2940"/>
                </a:lnSpc>
              </a:pPr>
              <a:r>
                <a:rPr lang="en-US" sz="2100" b="true">
                  <a:solidFill>
                    <a:srgbClr val="F4FBFF"/>
                  </a:solidFill>
                  <a:latin typeface="Rajdhani Bold"/>
                  <a:ea typeface="Rajdhani Bold"/>
                  <a:cs typeface="Rajdhani Bold"/>
                  <a:sym typeface="Rajdhani Bold"/>
                </a:rPr>
                <a:t>AI RECOMMENDATION</a:t>
              </a:r>
            </a:p>
          </p:txBody>
        </p:sp>
        <p:sp>
          <p:nvSpPr>
            <p:cNvPr name="TextBox 30" id="30"/>
            <p:cNvSpPr txBox="true"/>
            <p:nvPr/>
          </p:nvSpPr>
          <p:spPr>
            <a:xfrm rot="0">
              <a:off x="381000" y="1803400"/>
              <a:ext cx="5905500" cy="755650"/>
            </a:xfrm>
            <a:prstGeom prst="rect">
              <a:avLst/>
            </a:prstGeom>
          </p:spPr>
          <p:txBody>
            <a:bodyPr anchor="t" rtlCol="false" tIns="0" lIns="0" bIns="0" rIns="0">
              <a:spAutoFit/>
            </a:bodyPr>
            <a:lstStyle/>
            <a:p>
              <a:pPr algn="l">
                <a:lnSpc>
                  <a:spcPts val="2392"/>
                </a:lnSpc>
              </a:pPr>
              <a:r>
                <a:rPr lang="en-US" sz="1650">
                  <a:solidFill>
                    <a:srgbClr val="9DB7CC"/>
                  </a:solidFill>
                  <a:latin typeface="IBM Plex Sans"/>
                  <a:ea typeface="IBM Plex Sans"/>
                  <a:cs typeface="IBM Plex Sans"/>
                  <a:sym typeface="IBM Plex Sans"/>
                </a:rPr>
                <a:t>Improve user story</a:t>
              </a:r>
            </a:p>
            <a:p>
              <a:pPr algn="l">
                <a:lnSpc>
                  <a:spcPts val="2392"/>
                </a:lnSpc>
              </a:pPr>
              <a:r>
                <a:rPr lang="en-US" sz="1650">
                  <a:solidFill>
                    <a:srgbClr val="9DB7CC"/>
                  </a:solidFill>
                  <a:latin typeface="IBM Plex Sans"/>
                  <a:ea typeface="IBM Plex Sans"/>
                  <a:cs typeface="IBM Plex Sans"/>
                  <a:sym typeface="IBM Plex Sans"/>
                </a:rPr>
                <a:t>Generate criteria and suggestions</a:t>
              </a:r>
            </a:p>
          </p:txBody>
        </p:sp>
      </p:grpSp>
      <p:grpSp>
        <p:nvGrpSpPr>
          <p:cNvPr name="Group 31" id="31"/>
          <p:cNvGrpSpPr/>
          <p:nvPr/>
        </p:nvGrpSpPr>
        <p:grpSpPr>
          <a:xfrm rot="0">
            <a:off x="876300" y="5429250"/>
            <a:ext cx="5048250" cy="2762250"/>
            <a:chOff x="0" y="0"/>
            <a:chExt cx="6731000" cy="3683000"/>
          </a:xfrm>
        </p:grpSpPr>
        <p:grpSp>
          <p:nvGrpSpPr>
            <p:cNvPr name="Group 32" id="32"/>
            <p:cNvGrpSpPr/>
            <p:nvPr/>
          </p:nvGrpSpPr>
          <p:grpSpPr>
            <a:xfrm rot="0">
              <a:off x="0" y="0"/>
              <a:ext cx="6731000" cy="3683000"/>
              <a:chOff x="0" y="0"/>
              <a:chExt cx="6731000" cy="3683000"/>
            </a:xfrm>
          </p:grpSpPr>
          <p:sp>
            <p:nvSpPr>
              <p:cNvPr name="Freeform 33" id="33"/>
              <p:cNvSpPr/>
              <p:nvPr/>
            </p:nvSpPr>
            <p:spPr>
              <a:xfrm flipH="false" flipV="false" rot="0">
                <a:off x="0" y="0"/>
                <a:ext cx="6731000" cy="3683000"/>
              </a:xfrm>
              <a:custGeom>
                <a:avLst/>
                <a:gdLst/>
                <a:ahLst/>
                <a:cxnLst/>
                <a:rect r="r" b="b" t="t" l="l"/>
                <a:pathLst>
                  <a:path h="3683000" w="6731000">
                    <a:moveTo>
                      <a:pt x="0" y="0"/>
                    </a:moveTo>
                    <a:lnTo>
                      <a:pt x="6731000" y="0"/>
                    </a:lnTo>
                    <a:lnTo>
                      <a:pt x="6731000" y="3683000"/>
                    </a:lnTo>
                    <a:lnTo>
                      <a:pt x="0" y="3683000"/>
                    </a:lnTo>
                    <a:close/>
                  </a:path>
                </a:pathLst>
              </a:custGeom>
              <a:solidFill>
                <a:srgbClr val="0B223B"/>
              </a:solidFill>
              <a:ln w="9525" cap="sq">
                <a:solidFill>
                  <a:srgbClr val="1B5873"/>
                </a:solidFill>
                <a:prstDash val="solid"/>
                <a:miter/>
              </a:ln>
            </p:spPr>
          </p:sp>
          <p:sp>
            <p:nvSpPr>
              <p:cNvPr name="TextBox 34" id="34"/>
              <p:cNvSpPr txBox="true"/>
              <p:nvPr/>
            </p:nvSpPr>
            <p:spPr>
              <a:xfrm>
                <a:off x="0" y="-38100"/>
                <a:ext cx="6731000" cy="37211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381000" y="333375"/>
              <a:ext cx="1143000" cy="514985"/>
            </a:xfrm>
            <a:prstGeom prst="rect">
              <a:avLst/>
            </a:prstGeom>
          </p:spPr>
          <p:txBody>
            <a:bodyPr anchor="t" rtlCol="false" tIns="0" lIns="0" bIns="0" rIns="0">
              <a:spAutoFit/>
            </a:bodyPr>
            <a:lstStyle/>
            <a:p>
              <a:pPr algn="l">
                <a:lnSpc>
                  <a:spcPts val="3254"/>
                </a:lnSpc>
              </a:pPr>
              <a:r>
                <a:rPr lang="en-US" sz="2325" b="true">
                  <a:solidFill>
                    <a:srgbClr val="27E7FF"/>
                  </a:solidFill>
                  <a:latin typeface="IBM Plex Mono Bold"/>
                  <a:ea typeface="IBM Plex Mono Bold"/>
                  <a:cs typeface="IBM Plex Mono Bold"/>
                  <a:sym typeface="IBM Plex Mono Bold"/>
                </a:rPr>
                <a:t>04</a:t>
              </a:r>
            </a:p>
          </p:txBody>
        </p:sp>
        <p:sp>
          <p:nvSpPr>
            <p:cNvPr name="TextBox 36" id="36"/>
            <p:cNvSpPr txBox="true"/>
            <p:nvPr/>
          </p:nvSpPr>
          <p:spPr>
            <a:xfrm rot="0">
              <a:off x="381000" y="1079500"/>
              <a:ext cx="5905500" cy="462280"/>
            </a:xfrm>
            <a:prstGeom prst="rect">
              <a:avLst/>
            </a:prstGeom>
          </p:spPr>
          <p:txBody>
            <a:bodyPr anchor="t" rtlCol="false" tIns="0" lIns="0" bIns="0" rIns="0">
              <a:spAutoFit/>
            </a:bodyPr>
            <a:lstStyle/>
            <a:p>
              <a:pPr algn="l">
                <a:lnSpc>
                  <a:spcPts val="2940"/>
                </a:lnSpc>
              </a:pPr>
              <a:r>
                <a:rPr lang="en-US" sz="2100" b="true">
                  <a:solidFill>
                    <a:srgbClr val="F4FBFF"/>
                  </a:solidFill>
                  <a:latin typeface="Rajdhani Bold"/>
                  <a:ea typeface="Rajdhani Bold"/>
                  <a:cs typeface="Rajdhani Bold"/>
                  <a:sym typeface="Rajdhani Bold"/>
                </a:rPr>
                <a:t>ESTIMATION &amp; RISK</a:t>
              </a:r>
            </a:p>
          </p:txBody>
        </p:sp>
        <p:sp>
          <p:nvSpPr>
            <p:cNvPr name="TextBox 37" id="37"/>
            <p:cNvSpPr txBox="true"/>
            <p:nvPr/>
          </p:nvSpPr>
          <p:spPr>
            <a:xfrm rot="0">
              <a:off x="381000" y="1803400"/>
              <a:ext cx="5905500" cy="755650"/>
            </a:xfrm>
            <a:prstGeom prst="rect">
              <a:avLst/>
            </a:prstGeom>
          </p:spPr>
          <p:txBody>
            <a:bodyPr anchor="t" rtlCol="false" tIns="0" lIns="0" bIns="0" rIns="0">
              <a:spAutoFit/>
            </a:bodyPr>
            <a:lstStyle/>
            <a:p>
              <a:pPr algn="l">
                <a:lnSpc>
                  <a:spcPts val="2392"/>
                </a:lnSpc>
              </a:pPr>
              <a:r>
                <a:rPr lang="en-US" sz="1650">
                  <a:solidFill>
                    <a:srgbClr val="9DB7CC"/>
                  </a:solidFill>
                  <a:latin typeface="IBM Plex Sans"/>
                  <a:ea typeface="IBM Plex Sans"/>
                  <a:cs typeface="IBM Plex Sans"/>
                  <a:sym typeface="IBM Plex Sans"/>
                </a:rPr>
                <a:t>Quality score • Story points</a:t>
              </a:r>
            </a:p>
            <a:p>
              <a:pPr algn="l">
                <a:lnSpc>
                  <a:spcPts val="2392"/>
                </a:lnSpc>
              </a:pPr>
              <a:r>
                <a:rPr lang="en-US" sz="1650">
                  <a:solidFill>
                    <a:srgbClr val="9DB7CC"/>
                  </a:solidFill>
                  <a:latin typeface="IBM Plex Sans"/>
                  <a:ea typeface="IBM Plex Sans"/>
                  <a:cs typeface="IBM Plex Sans"/>
                  <a:sym typeface="IBM Plex Sans"/>
                </a:rPr>
                <a:t>Risk classification</a:t>
              </a:r>
            </a:p>
          </p:txBody>
        </p:sp>
      </p:grpSp>
      <p:grpSp>
        <p:nvGrpSpPr>
          <p:cNvPr name="Group 38" id="38"/>
          <p:cNvGrpSpPr/>
          <p:nvPr/>
        </p:nvGrpSpPr>
        <p:grpSpPr>
          <a:xfrm rot="0">
            <a:off x="6400800" y="5429250"/>
            <a:ext cx="5048250" cy="2762250"/>
            <a:chOff x="0" y="0"/>
            <a:chExt cx="6731000" cy="3683000"/>
          </a:xfrm>
        </p:grpSpPr>
        <p:grpSp>
          <p:nvGrpSpPr>
            <p:cNvPr name="Group 39" id="39"/>
            <p:cNvGrpSpPr/>
            <p:nvPr/>
          </p:nvGrpSpPr>
          <p:grpSpPr>
            <a:xfrm rot="0">
              <a:off x="0" y="0"/>
              <a:ext cx="6731000" cy="3683000"/>
              <a:chOff x="0" y="0"/>
              <a:chExt cx="6731000" cy="3683000"/>
            </a:xfrm>
          </p:grpSpPr>
          <p:sp>
            <p:nvSpPr>
              <p:cNvPr name="Freeform 40" id="40"/>
              <p:cNvSpPr/>
              <p:nvPr/>
            </p:nvSpPr>
            <p:spPr>
              <a:xfrm flipH="false" flipV="false" rot="0">
                <a:off x="0" y="0"/>
                <a:ext cx="6731000" cy="3683000"/>
              </a:xfrm>
              <a:custGeom>
                <a:avLst/>
                <a:gdLst/>
                <a:ahLst/>
                <a:cxnLst/>
                <a:rect r="r" b="b" t="t" l="l"/>
                <a:pathLst>
                  <a:path h="3683000" w="6731000">
                    <a:moveTo>
                      <a:pt x="0" y="0"/>
                    </a:moveTo>
                    <a:lnTo>
                      <a:pt x="6731000" y="0"/>
                    </a:lnTo>
                    <a:lnTo>
                      <a:pt x="6731000" y="3683000"/>
                    </a:lnTo>
                    <a:lnTo>
                      <a:pt x="0" y="3683000"/>
                    </a:lnTo>
                    <a:close/>
                  </a:path>
                </a:pathLst>
              </a:custGeom>
              <a:solidFill>
                <a:srgbClr val="0B223B"/>
              </a:solidFill>
              <a:ln w="9525" cap="sq">
                <a:solidFill>
                  <a:srgbClr val="1B5873"/>
                </a:solidFill>
                <a:prstDash val="solid"/>
                <a:miter/>
              </a:ln>
            </p:spPr>
          </p:sp>
          <p:sp>
            <p:nvSpPr>
              <p:cNvPr name="TextBox 41" id="41"/>
              <p:cNvSpPr txBox="true"/>
              <p:nvPr/>
            </p:nvSpPr>
            <p:spPr>
              <a:xfrm>
                <a:off x="0" y="-38100"/>
                <a:ext cx="6731000" cy="3721100"/>
              </a:xfrm>
              <a:prstGeom prst="rect">
                <a:avLst/>
              </a:prstGeom>
            </p:spPr>
            <p:txBody>
              <a:bodyPr anchor="ctr" rtlCol="false" tIns="50800" lIns="50800" bIns="50800" rIns="50800"/>
              <a:lstStyle/>
              <a:p>
                <a:pPr algn="l">
                  <a:lnSpc>
                    <a:spcPts val="1679"/>
                  </a:lnSpc>
                </a:pPr>
              </a:p>
            </p:txBody>
          </p:sp>
        </p:grpSp>
        <p:sp>
          <p:nvSpPr>
            <p:cNvPr name="TextBox 42" id="42"/>
            <p:cNvSpPr txBox="true"/>
            <p:nvPr/>
          </p:nvSpPr>
          <p:spPr>
            <a:xfrm rot="0">
              <a:off x="381000" y="333375"/>
              <a:ext cx="1143000" cy="514985"/>
            </a:xfrm>
            <a:prstGeom prst="rect">
              <a:avLst/>
            </a:prstGeom>
          </p:spPr>
          <p:txBody>
            <a:bodyPr anchor="t" rtlCol="false" tIns="0" lIns="0" bIns="0" rIns="0">
              <a:spAutoFit/>
            </a:bodyPr>
            <a:lstStyle/>
            <a:p>
              <a:pPr algn="l">
                <a:lnSpc>
                  <a:spcPts val="3254"/>
                </a:lnSpc>
              </a:pPr>
              <a:r>
                <a:rPr lang="en-US" sz="2325" b="true">
                  <a:solidFill>
                    <a:srgbClr val="27E7FF"/>
                  </a:solidFill>
                  <a:latin typeface="IBM Plex Mono Bold"/>
                  <a:ea typeface="IBM Plex Mono Bold"/>
                  <a:cs typeface="IBM Plex Mono Bold"/>
                  <a:sym typeface="IBM Plex Mono Bold"/>
                </a:rPr>
                <a:t>05</a:t>
              </a:r>
            </a:p>
          </p:txBody>
        </p:sp>
        <p:sp>
          <p:nvSpPr>
            <p:cNvPr name="TextBox 43" id="43"/>
            <p:cNvSpPr txBox="true"/>
            <p:nvPr/>
          </p:nvSpPr>
          <p:spPr>
            <a:xfrm rot="0">
              <a:off x="381000" y="1079500"/>
              <a:ext cx="5905500" cy="462280"/>
            </a:xfrm>
            <a:prstGeom prst="rect">
              <a:avLst/>
            </a:prstGeom>
          </p:spPr>
          <p:txBody>
            <a:bodyPr anchor="t" rtlCol="false" tIns="0" lIns="0" bIns="0" rIns="0">
              <a:spAutoFit/>
            </a:bodyPr>
            <a:lstStyle/>
            <a:p>
              <a:pPr algn="l">
                <a:lnSpc>
                  <a:spcPts val="2940"/>
                </a:lnSpc>
              </a:pPr>
              <a:r>
                <a:rPr lang="en-US" sz="2100" b="true">
                  <a:solidFill>
                    <a:srgbClr val="F4FBFF"/>
                  </a:solidFill>
                  <a:latin typeface="Rajdhani Bold"/>
                  <a:ea typeface="Rajdhani Bold"/>
                  <a:cs typeface="Rajdhani Bold"/>
                  <a:sym typeface="Rajdhani Bold"/>
                </a:rPr>
                <a:t>AGILE BACKLOG</a:t>
              </a:r>
            </a:p>
          </p:txBody>
        </p:sp>
        <p:sp>
          <p:nvSpPr>
            <p:cNvPr name="TextBox 44" id="44"/>
            <p:cNvSpPr txBox="true"/>
            <p:nvPr/>
          </p:nvSpPr>
          <p:spPr>
            <a:xfrm rot="0">
              <a:off x="381000" y="1803400"/>
              <a:ext cx="5905500" cy="755650"/>
            </a:xfrm>
            <a:prstGeom prst="rect">
              <a:avLst/>
            </a:prstGeom>
          </p:spPr>
          <p:txBody>
            <a:bodyPr anchor="t" rtlCol="false" tIns="0" lIns="0" bIns="0" rIns="0">
              <a:spAutoFit/>
            </a:bodyPr>
            <a:lstStyle/>
            <a:p>
              <a:pPr algn="l">
                <a:lnSpc>
                  <a:spcPts val="2392"/>
                </a:lnSpc>
              </a:pPr>
              <a:r>
                <a:rPr lang="en-US" sz="1650">
                  <a:solidFill>
                    <a:srgbClr val="9DB7CC"/>
                  </a:solidFill>
                  <a:latin typeface="IBM Plex Sans"/>
                  <a:ea typeface="IBM Plex Sans"/>
                  <a:cs typeface="IBM Plex Sans"/>
                  <a:sym typeface="IBM Plex Sans"/>
                </a:rPr>
                <a:t>Store analyzed stories</a:t>
              </a:r>
            </a:p>
            <a:p>
              <a:pPr algn="l">
                <a:lnSpc>
                  <a:spcPts val="2392"/>
                </a:lnSpc>
              </a:pPr>
              <a:r>
                <a:rPr lang="en-US" sz="1650">
                  <a:solidFill>
                    <a:srgbClr val="9DB7CC"/>
                  </a:solidFill>
                  <a:latin typeface="IBM Plex Sans"/>
                  <a:ea typeface="IBM Plex Sans"/>
                  <a:cs typeface="IBM Plex Sans"/>
                  <a:sym typeface="IBM Plex Sans"/>
                </a:rPr>
                <a:t>Track priority, sprint and status</a:t>
              </a:r>
            </a:p>
          </p:txBody>
        </p:sp>
      </p:grpSp>
      <p:grpSp>
        <p:nvGrpSpPr>
          <p:cNvPr name="Group 45" id="45"/>
          <p:cNvGrpSpPr/>
          <p:nvPr/>
        </p:nvGrpSpPr>
        <p:grpSpPr>
          <a:xfrm rot="0">
            <a:off x="11925300" y="5429250"/>
            <a:ext cx="5048250" cy="2762250"/>
            <a:chOff x="0" y="0"/>
            <a:chExt cx="6731000" cy="3683000"/>
          </a:xfrm>
        </p:grpSpPr>
        <p:grpSp>
          <p:nvGrpSpPr>
            <p:cNvPr name="Group 46" id="46"/>
            <p:cNvGrpSpPr/>
            <p:nvPr/>
          </p:nvGrpSpPr>
          <p:grpSpPr>
            <a:xfrm rot="0">
              <a:off x="0" y="0"/>
              <a:ext cx="6731000" cy="3683000"/>
              <a:chOff x="0" y="0"/>
              <a:chExt cx="6731000" cy="3683000"/>
            </a:xfrm>
          </p:grpSpPr>
          <p:sp>
            <p:nvSpPr>
              <p:cNvPr name="Freeform 47" id="47"/>
              <p:cNvSpPr/>
              <p:nvPr/>
            </p:nvSpPr>
            <p:spPr>
              <a:xfrm flipH="false" flipV="false" rot="0">
                <a:off x="0" y="0"/>
                <a:ext cx="6731000" cy="3683000"/>
              </a:xfrm>
              <a:custGeom>
                <a:avLst/>
                <a:gdLst/>
                <a:ahLst/>
                <a:cxnLst/>
                <a:rect r="r" b="b" t="t" l="l"/>
                <a:pathLst>
                  <a:path h="3683000" w="6731000">
                    <a:moveTo>
                      <a:pt x="0" y="0"/>
                    </a:moveTo>
                    <a:lnTo>
                      <a:pt x="6731000" y="0"/>
                    </a:lnTo>
                    <a:lnTo>
                      <a:pt x="6731000" y="3683000"/>
                    </a:lnTo>
                    <a:lnTo>
                      <a:pt x="0" y="3683000"/>
                    </a:lnTo>
                    <a:close/>
                  </a:path>
                </a:pathLst>
              </a:custGeom>
              <a:solidFill>
                <a:srgbClr val="0B223B"/>
              </a:solidFill>
              <a:ln w="9525" cap="sq">
                <a:solidFill>
                  <a:srgbClr val="1B5873"/>
                </a:solidFill>
                <a:prstDash val="solid"/>
                <a:miter/>
              </a:ln>
            </p:spPr>
          </p:sp>
          <p:sp>
            <p:nvSpPr>
              <p:cNvPr name="TextBox 48" id="48"/>
              <p:cNvSpPr txBox="true"/>
              <p:nvPr/>
            </p:nvSpPr>
            <p:spPr>
              <a:xfrm>
                <a:off x="0" y="-38100"/>
                <a:ext cx="6731000" cy="3721100"/>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381000" y="333375"/>
              <a:ext cx="1143000" cy="514985"/>
            </a:xfrm>
            <a:prstGeom prst="rect">
              <a:avLst/>
            </a:prstGeom>
          </p:spPr>
          <p:txBody>
            <a:bodyPr anchor="t" rtlCol="false" tIns="0" lIns="0" bIns="0" rIns="0">
              <a:spAutoFit/>
            </a:bodyPr>
            <a:lstStyle/>
            <a:p>
              <a:pPr algn="l">
                <a:lnSpc>
                  <a:spcPts val="3254"/>
                </a:lnSpc>
              </a:pPr>
              <a:r>
                <a:rPr lang="en-US" sz="2325" b="true">
                  <a:solidFill>
                    <a:srgbClr val="27E7FF"/>
                  </a:solidFill>
                  <a:latin typeface="IBM Plex Mono Bold"/>
                  <a:ea typeface="IBM Plex Mono Bold"/>
                  <a:cs typeface="IBM Plex Mono Bold"/>
                  <a:sym typeface="IBM Plex Mono Bold"/>
                </a:rPr>
                <a:t>06</a:t>
              </a:r>
            </a:p>
          </p:txBody>
        </p:sp>
        <p:sp>
          <p:nvSpPr>
            <p:cNvPr name="TextBox 50" id="50"/>
            <p:cNvSpPr txBox="true"/>
            <p:nvPr/>
          </p:nvSpPr>
          <p:spPr>
            <a:xfrm rot="0">
              <a:off x="381000" y="1079500"/>
              <a:ext cx="5905500" cy="462280"/>
            </a:xfrm>
            <a:prstGeom prst="rect">
              <a:avLst/>
            </a:prstGeom>
          </p:spPr>
          <p:txBody>
            <a:bodyPr anchor="t" rtlCol="false" tIns="0" lIns="0" bIns="0" rIns="0">
              <a:spAutoFit/>
            </a:bodyPr>
            <a:lstStyle/>
            <a:p>
              <a:pPr algn="l">
                <a:lnSpc>
                  <a:spcPts val="2940"/>
                </a:lnSpc>
              </a:pPr>
              <a:r>
                <a:rPr lang="en-US" sz="2100" b="true">
                  <a:solidFill>
                    <a:srgbClr val="F4FBFF"/>
                  </a:solidFill>
                  <a:latin typeface="Rajdhani Bold"/>
                  <a:ea typeface="Rajdhani Bold"/>
                  <a:cs typeface="Rajdhani Bold"/>
                  <a:sym typeface="Rajdhani Bold"/>
                </a:rPr>
                <a:t>DASHBOARD</a:t>
              </a:r>
            </a:p>
          </p:txBody>
        </p:sp>
        <p:sp>
          <p:nvSpPr>
            <p:cNvPr name="TextBox 51" id="51"/>
            <p:cNvSpPr txBox="true"/>
            <p:nvPr/>
          </p:nvSpPr>
          <p:spPr>
            <a:xfrm rot="0">
              <a:off x="381000" y="1803400"/>
              <a:ext cx="5905500" cy="755650"/>
            </a:xfrm>
            <a:prstGeom prst="rect">
              <a:avLst/>
            </a:prstGeom>
          </p:spPr>
          <p:txBody>
            <a:bodyPr anchor="t" rtlCol="false" tIns="0" lIns="0" bIns="0" rIns="0">
              <a:spAutoFit/>
            </a:bodyPr>
            <a:lstStyle/>
            <a:p>
              <a:pPr algn="l">
                <a:lnSpc>
                  <a:spcPts val="2392"/>
                </a:lnSpc>
              </a:pPr>
              <a:r>
                <a:rPr lang="en-US" sz="1650">
                  <a:solidFill>
                    <a:srgbClr val="9DB7CC"/>
                  </a:solidFill>
                  <a:latin typeface="IBM Plex Sans"/>
                  <a:ea typeface="IBM Plex Sans"/>
                  <a:cs typeface="IBM Plex Sans"/>
                  <a:sym typeface="IBM Plex Sans"/>
                </a:rPr>
                <a:t>Story statistics</a:t>
              </a:r>
            </a:p>
            <a:p>
              <a:pPr algn="l">
                <a:lnSpc>
                  <a:spcPts val="2392"/>
                </a:lnSpc>
              </a:pPr>
              <a:r>
                <a:rPr lang="en-US" sz="1650">
                  <a:solidFill>
                    <a:srgbClr val="9DB7CC"/>
                  </a:solidFill>
                  <a:latin typeface="IBM Plex Sans"/>
                  <a:ea typeface="IBM Plex Sans"/>
                  <a:cs typeface="IBM Plex Sans"/>
                  <a:sym typeface="IBM Plex Sans"/>
                </a:rPr>
                <a:t>Quality, risk and sprint charts</a:t>
              </a:r>
            </a:p>
          </p:txBody>
        </p:sp>
      </p:grpSp>
    </p:spTree>
  </p:cSld>
  <p:clrMapOvr>
    <a:masterClrMapping/>
  </p:clrMapOvr>
</p:sld>
</file>

<file path=ppt/slides/slide9.xml><?xml version="1.0" encoding="utf-8"?>
<p:sld xmlns:p="http://schemas.openxmlformats.org/presentationml/2006/main" xmlns:a="http://schemas.openxmlformats.org/drawingml/2006/main">
  <p:cSld>
    <p:bg>
      <p:bgPr>
        <a:solidFill>
          <a:srgbClr val="061426"/>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CURRENT IMPLEMENTATION</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09</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0" id="10"/>
          <p:cNvGrpSpPr/>
          <p:nvPr/>
        </p:nvGrpSpPr>
        <p:grpSpPr>
          <a:xfrm rot="0">
            <a:off x="876300" y="2000250"/>
            <a:ext cx="5619750" cy="4953000"/>
            <a:chOff x="0" y="0"/>
            <a:chExt cx="7493000" cy="6604000"/>
          </a:xfrm>
        </p:grpSpPr>
        <p:grpSp>
          <p:nvGrpSpPr>
            <p:cNvPr name="Group 11" id="11"/>
            <p:cNvGrpSpPr/>
            <p:nvPr/>
          </p:nvGrpSpPr>
          <p:grpSpPr>
            <a:xfrm rot="0">
              <a:off x="0" y="0"/>
              <a:ext cx="7493000" cy="6604000"/>
              <a:chOff x="0" y="0"/>
              <a:chExt cx="7493000" cy="6604000"/>
            </a:xfrm>
          </p:grpSpPr>
          <p:sp>
            <p:nvSpPr>
              <p:cNvPr name="Freeform 12" id="12"/>
              <p:cNvSpPr/>
              <p:nvPr/>
            </p:nvSpPr>
            <p:spPr>
              <a:xfrm flipH="false" flipV="false" rot="0">
                <a:off x="0" y="0"/>
                <a:ext cx="7493000" cy="6604000"/>
              </a:xfrm>
              <a:custGeom>
                <a:avLst/>
                <a:gdLst/>
                <a:ahLst/>
                <a:cxnLst/>
                <a:rect r="r" b="b" t="t" l="l"/>
                <a:pathLst>
                  <a:path h="6604000" w="7493000">
                    <a:moveTo>
                      <a:pt x="0" y="0"/>
                    </a:moveTo>
                    <a:lnTo>
                      <a:pt x="7493000" y="0"/>
                    </a:lnTo>
                    <a:lnTo>
                      <a:pt x="7493000" y="6604000"/>
                    </a:lnTo>
                    <a:lnTo>
                      <a:pt x="0" y="6604000"/>
                    </a:lnTo>
                    <a:close/>
                  </a:path>
                </a:pathLst>
              </a:custGeom>
              <a:solidFill>
                <a:srgbClr val="0B223B"/>
              </a:solidFill>
              <a:ln w="9525" cap="sq">
                <a:solidFill>
                  <a:srgbClr val="1B5873"/>
                </a:solidFill>
                <a:prstDash val="solid"/>
                <a:miter/>
              </a:ln>
            </p:spPr>
          </p:sp>
          <p:sp>
            <p:nvSpPr>
              <p:cNvPr name="TextBox 13" id="13"/>
              <p:cNvSpPr txBox="true"/>
              <p:nvPr/>
            </p:nvSpPr>
            <p:spPr>
              <a:xfrm>
                <a:off x="0" y="-38100"/>
                <a:ext cx="7493000" cy="6642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0" y="161925"/>
              <a:ext cx="635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PROJECT STRUCTURE</a:t>
              </a:r>
            </a:p>
          </p:txBody>
        </p:sp>
        <p:sp>
          <p:nvSpPr>
            <p:cNvPr name="TextBox 15" id="15"/>
            <p:cNvSpPr txBox="true"/>
            <p:nvPr/>
          </p:nvSpPr>
          <p:spPr>
            <a:xfrm rot="0">
              <a:off x="419100" y="831850"/>
              <a:ext cx="6350000" cy="3438525"/>
            </a:xfrm>
            <a:prstGeom prst="rect">
              <a:avLst/>
            </a:prstGeom>
          </p:spPr>
          <p:txBody>
            <a:bodyPr anchor="t" rtlCol="false" tIns="0" lIns="0" bIns="0" rIns="0">
              <a:spAutoFit/>
            </a:bodyPr>
            <a:lstStyle/>
            <a:p>
              <a:pPr algn="l">
                <a:lnSpc>
                  <a:spcPts val="2936"/>
                </a:lnSpc>
              </a:pPr>
              <a:r>
                <a:rPr lang="en-US" sz="2025">
                  <a:solidFill>
                    <a:srgbClr val="27E7FF"/>
                  </a:solidFill>
                  <a:latin typeface="IBM Plex Mono"/>
                  <a:ea typeface="IBM Plex Mono"/>
                  <a:cs typeface="IBM Plex Mono"/>
                  <a:sym typeface="IBM Plex Mono"/>
                </a:rPr>
                <a:t>AI-StoryForge</a:t>
              </a:r>
            </a:p>
            <a:p>
              <a:pPr algn="l">
                <a:lnSpc>
                  <a:spcPts val="2936"/>
                </a:lnSpc>
              </a:pPr>
              <a:r>
                <a:rPr lang="en-US" sz="2025">
                  <a:solidFill>
                    <a:srgbClr val="27E7FF"/>
                  </a:solidFill>
                  <a:latin typeface="IBM Plex Mono"/>
                  <a:ea typeface="IBM Plex Mono"/>
                  <a:cs typeface="IBM Plex Mono"/>
                  <a:sym typeface="IBM Plex Mono"/>
                </a:rPr>
                <a:t>├── app.py</a:t>
              </a:r>
            </a:p>
            <a:p>
              <a:pPr algn="l">
                <a:lnSpc>
                  <a:spcPts val="2936"/>
                </a:lnSpc>
              </a:pPr>
              <a:r>
                <a:rPr lang="en-US" sz="2025">
                  <a:solidFill>
                    <a:srgbClr val="27E7FF"/>
                  </a:solidFill>
                  <a:latin typeface="IBM Plex Mono"/>
                  <a:ea typeface="IBM Plex Mono"/>
                  <a:cs typeface="IBM Plex Mono"/>
                  <a:sym typeface="IBM Plex Mono"/>
                </a:rPr>
                <a:t>├── templates</a:t>
              </a:r>
            </a:p>
            <a:p>
              <a:pPr algn="l">
                <a:lnSpc>
                  <a:spcPts val="2936"/>
                </a:lnSpc>
              </a:pPr>
              <a:r>
                <a:rPr lang="en-US" sz="2025">
                  <a:solidFill>
                    <a:srgbClr val="27E7FF"/>
                  </a:solidFill>
                  <a:latin typeface="IBM Plex Mono"/>
                  <a:ea typeface="IBM Plex Mono"/>
                  <a:cs typeface="IBM Plex Mono"/>
                  <a:sym typeface="IBM Plex Mono"/>
                </a:rPr>
                <a:t>│   └── index.html</a:t>
              </a:r>
            </a:p>
            <a:p>
              <a:pPr algn="l">
                <a:lnSpc>
                  <a:spcPts val="2936"/>
                </a:lnSpc>
              </a:pPr>
              <a:r>
                <a:rPr lang="en-US" sz="2025">
                  <a:solidFill>
                    <a:srgbClr val="27E7FF"/>
                  </a:solidFill>
                  <a:latin typeface="IBM Plex Mono"/>
                  <a:ea typeface="IBM Plex Mono"/>
                  <a:cs typeface="IBM Plex Mono"/>
                  <a:sym typeface="IBM Plex Mono"/>
                </a:rPr>
                <a:t>└── static</a:t>
              </a:r>
            </a:p>
            <a:p>
              <a:pPr algn="l">
                <a:lnSpc>
                  <a:spcPts val="2936"/>
                </a:lnSpc>
              </a:pPr>
              <a:r>
                <a:rPr lang="en-US" sz="2025">
                  <a:solidFill>
                    <a:srgbClr val="27E7FF"/>
                  </a:solidFill>
                  <a:latin typeface="IBM Plex Mono"/>
                  <a:ea typeface="IBM Plex Mono"/>
                  <a:cs typeface="IBM Plex Mono"/>
                  <a:sym typeface="IBM Plex Mono"/>
                </a:rPr>
                <a:t>    ├── style.css</a:t>
              </a:r>
            </a:p>
            <a:p>
              <a:pPr algn="l">
                <a:lnSpc>
                  <a:spcPts val="2936"/>
                </a:lnSpc>
              </a:pPr>
              <a:r>
                <a:rPr lang="en-US" sz="2025">
                  <a:solidFill>
                    <a:srgbClr val="27E7FF"/>
                  </a:solidFill>
                  <a:latin typeface="IBM Plex Mono"/>
                  <a:ea typeface="IBM Plex Mono"/>
                  <a:cs typeface="IBM Plex Mono"/>
                  <a:sym typeface="IBM Plex Mono"/>
                </a:rPr>
                <a:t>    └── script.js</a:t>
              </a:r>
            </a:p>
          </p:txBody>
        </p:sp>
      </p:grpSp>
      <p:grpSp>
        <p:nvGrpSpPr>
          <p:cNvPr name="Group 16" id="16"/>
          <p:cNvGrpSpPr/>
          <p:nvPr/>
        </p:nvGrpSpPr>
        <p:grpSpPr>
          <a:xfrm rot="0">
            <a:off x="7143750" y="2095500"/>
            <a:ext cx="4476750" cy="2095500"/>
            <a:chOff x="0" y="0"/>
            <a:chExt cx="5969000" cy="2794000"/>
          </a:xfrm>
        </p:grpSpPr>
        <p:grpSp>
          <p:nvGrpSpPr>
            <p:cNvPr name="Group 17" id="17"/>
            <p:cNvGrpSpPr/>
            <p:nvPr/>
          </p:nvGrpSpPr>
          <p:grpSpPr>
            <a:xfrm rot="0">
              <a:off x="0" y="0"/>
              <a:ext cx="5969000" cy="2794000"/>
              <a:chOff x="0" y="0"/>
              <a:chExt cx="5969000" cy="2794000"/>
            </a:xfrm>
          </p:grpSpPr>
          <p:sp>
            <p:nvSpPr>
              <p:cNvPr name="Freeform 18" id="18"/>
              <p:cNvSpPr/>
              <p:nvPr/>
            </p:nvSpPr>
            <p:spPr>
              <a:xfrm flipH="false" flipV="false" rot="0">
                <a:off x="0" y="0"/>
                <a:ext cx="5969000" cy="2794000"/>
              </a:xfrm>
              <a:custGeom>
                <a:avLst/>
                <a:gdLst/>
                <a:ahLst/>
                <a:cxnLst/>
                <a:rect r="r" b="b" t="t" l="l"/>
                <a:pathLst>
                  <a:path h="2794000" w="5969000">
                    <a:moveTo>
                      <a:pt x="0" y="0"/>
                    </a:moveTo>
                    <a:lnTo>
                      <a:pt x="5969000" y="0"/>
                    </a:lnTo>
                    <a:lnTo>
                      <a:pt x="5969000" y="2794000"/>
                    </a:lnTo>
                    <a:lnTo>
                      <a:pt x="0" y="2794000"/>
                    </a:lnTo>
                    <a:close/>
                  </a:path>
                </a:pathLst>
              </a:custGeom>
              <a:solidFill>
                <a:srgbClr val="0D2946"/>
              </a:solidFill>
              <a:ln w="9525" cap="sq">
                <a:solidFill>
                  <a:srgbClr val="27E7FF"/>
                </a:solidFill>
                <a:prstDash val="solid"/>
                <a:miter/>
              </a:ln>
            </p:spPr>
          </p:sp>
          <p:sp>
            <p:nvSpPr>
              <p:cNvPr name="TextBox 19" id="19"/>
              <p:cNvSpPr txBox="true"/>
              <p:nvPr/>
            </p:nvSpPr>
            <p:spPr>
              <a:xfrm>
                <a:off x="0" y="-38100"/>
                <a:ext cx="5969000" cy="2832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317500" y="279400"/>
              <a:ext cx="889000" cy="363220"/>
            </a:xfrm>
            <a:prstGeom prst="rect">
              <a:avLst/>
            </a:prstGeom>
          </p:spPr>
          <p:txBody>
            <a:bodyPr anchor="t" rtlCol="false" tIns="0" lIns="0" bIns="0" rIns="0">
              <a:spAutoFit/>
            </a:bodyPr>
            <a:lstStyle/>
            <a:p>
              <a:pPr algn="l">
                <a:lnSpc>
                  <a:spcPts val="2310"/>
                </a:lnSpc>
              </a:pPr>
              <a:r>
                <a:rPr lang="en-US" sz="1650">
                  <a:solidFill>
                    <a:srgbClr val="27E7FF"/>
                  </a:solidFill>
                  <a:latin typeface="IBM Plex Mono"/>
                  <a:ea typeface="IBM Plex Mono"/>
                  <a:cs typeface="IBM Plex Mono"/>
                  <a:sym typeface="IBM Plex Mono"/>
                </a:rPr>
                <a:t>01</a:t>
              </a:r>
            </a:p>
          </p:txBody>
        </p:sp>
        <p:sp>
          <p:nvSpPr>
            <p:cNvPr name="TextBox 21" id="21"/>
            <p:cNvSpPr txBox="true"/>
            <p:nvPr/>
          </p:nvSpPr>
          <p:spPr>
            <a:xfrm rot="0">
              <a:off x="317500" y="1803400"/>
              <a:ext cx="5270500" cy="353060"/>
            </a:xfrm>
            <a:prstGeom prst="rect">
              <a:avLst/>
            </a:prstGeom>
          </p:spPr>
          <p:txBody>
            <a:bodyPr anchor="t" rtlCol="false" tIns="0" lIns="0" bIns="0" rIns="0">
              <a:spAutoFit/>
            </a:bodyPr>
            <a:lstStyle/>
            <a:p>
              <a:pPr algn="l">
                <a:lnSpc>
                  <a:spcPts val="2204"/>
                </a:lnSpc>
              </a:pPr>
              <a:r>
                <a:rPr lang="en-US" sz="1575" b="true">
                  <a:solidFill>
                    <a:srgbClr val="F4FBFF"/>
                  </a:solidFill>
                  <a:latin typeface="Rajdhani Bold"/>
                  <a:ea typeface="Rajdhani Bold"/>
                  <a:cs typeface="Rajdhani Bold"/>
                  <a:sym typeface="Rajdhani Bold"/>
                </a:rPr>
                <a:t>VS CODE / PROJECT FOLDER</a:t>
              </a:r>
            </a:p>
          </p:txBody>
        </p:sp>
      </p:grpSp>
      <p:grpSp>
        <p:nvGrpSpPr>
          <p:cNvPr name="Group 22" id="22"/>
          <p:cNvGrpSpPr/>
          <p:nvPr/>
        </p:nvGrpSpPr>
        <p:grpSpPr>
          <a:xfrm rot="0">
            <a:off x="12049125" y="2095500"/>
            <a:ext cx="4476750" cy="2095500"/>
            <a:chOff x="0" y="0"/>
            <a:chExt cx="5969000" cy="2794000"/>
          </a:xfrm>
        </p:grpSpPr>
        <p:grpSp>
          <p:nvGrpSpPr>
            <p:cNvPr name="Group 23" id="23"/>
            <p:cNvGrpSpPr/>
            <p:nvPr/>
          </p:nvGrpSpPr>
          <p:grpSpPr>
            <a:xfrm rot="0">
              <a:off x="0" y="0"/>
              <a:ext cx="5969000" cy="2794000"/>
              <a:chOff x="0" y="0"/>
              <a:chExt cx="5969000" cy="2794000"/>
            </a:xfrm>
          </p:grpSpPr>
          <p:sp>
            <p:nvSpPr>
              <p:cNvPr name="Freeform 24" id="24"/>
              <p:cNvSpPr/>
              <p:nvPr/>
            </p:nvSpPr>
            <p:spPr>
              <a:xfrm flipH="false" flipV="false" rot="0">
                <a:off x="0" y="0"/>
                <a:ext cx="5969000" cy="2794000"/>
              </a:xfrm>
              <a:custGeom>
                <a:avLst/>
                <a:gdLst/>
                <a:ahLst/>
                <a:cxnLst/>
                <a:rect r="r" b="b" t="t" l="l"/>
                <a:pathLst>
                  <a:path h="2794000" w="5969000">
                    <a:moveTo>
                      <a:pt x="0" y="0"/>
                    </a:moveTo>
                    <a:lnTo>
                      <a:pt x="5969000" y="0"/>
                    </a:lnTo>
                    <a:lnTo>
                      <a:pt x="5969000" y="2794000"/>
                    </a:lnTo>
                    <a:lnTo>
                      <a:pt x="0" y="2794000"/>
                    </a:lnTo>
                    <a:close/>
                  </a:path>
                </a:pathLst>
              </a:custGeom>
              <a:solidFill>
                <a:srgbClr val="103B59"/>
              </a:solidFill>
              <a:ln w="9525" cap="sq">
                <a:solidFill>
                  <a:srgbClr val="27E7FF"/>
                </a:solidFill>
                <a:prstDash val="solid"/>
                <a:miter/>
              </a:ln>
            </p:spPr>
          </p:sp>
          <p:sp>
            <p:nvSpPr>
              <p:cNvPr name="TextBox 25" id="25"/>
              <p:cNvSpPr txBox="true"/>
              <p:nvPr/>
            </p:nvSpPr>
            <p:spPr>
              <a:xfrm>
                <a:off x="0" y="-38100"/>
                <a:ext cx="5969000" cy="28321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317500" y="279400"/>
              <a:ext cx="889000" cy="363220"/>
            </a:xfrm>
            <a:prstGeom prst="rect">
              <a:avLst/>
            </a:prstGeom>
          </p:spPr>
          <p:txBody>
            <a:bodyPr anchor="t" rtlCol="false" tIns="0" lIns="0" bIns="0" rIns="0">
              <a:spAutoFit/>
            </a:bodyPr>
            <a:lstStyle/>
            <a:p>
              <a:pPr algn="l">
                <a:lnSpc>
                  <a:spcPts val="2310"/>
                </a:lnSpc>
              </a:pPr>
              <a:r>
                <a:rPr lang="en-US" sz="1650">
                  <a:solidFill>
                    <a:srgbClr val="27E7FF"/>
                  </a:solidFill>
                  <a:latin typeface="IBM Plex Mono"/>
                  <a:ea typeface="IBM Plex Mono"/>
                  <a:cs typeface="IBM Plex Mono"/>
                  <a:sym typeface="IBM Plex Mono"/>
                </a:rPr>
                <a:t>02</a:t>
              </a:r>
            </a:p>
          </p:txBody>
        </p:sp>
        <p:sp>
          <p:nvSpPr>
            <p:cNvPr name="TextBox 27" id="27"/>
            <p:cNvSpPr txBox="true"/>
            <p:nvPr/>
          </p:nvSpPr>
          <p:spPr>
            <a:xfrm rot="0">
              <a:off x="317500" y="1803400"/>
              <a:ext cx="5270500" cy="353060"/>
            </a:xfrm>
            <a:prstGeom prst="rect">
              <a:avLst/>
            </a:prstGeom>
          </p:spPr>
          <p:txBody>
            <a:bodyPr anchor="t" rtlCol="false" tIns="0" lIns="0" bIns="0" rIns="0">
              <a:spAutoFit/>
            </a:bodyPr>
            <a:lstStyle/>
            <a:p>
              <a:pPr algn="l">
                <a:lnSpc>
                  <a:spcPts val="2204"/>
                </a:lnSpc>
              </a:pPr>
              <a:r>
                <a:rPr lang="en-US" sz="1575" b="true">
                  <a:solidFill>
                    <a:srgbClr val="F4FBFF"/>
                  </a:solidFill>
                  <a:latin typeface="Rajdhani Bold"/>
                  <a:ea typeface="Rajdhani Bold"/>
                  <a:cs typeface="Rajdhani Bold"/>
                  <a:sym typeface="Rajdhani Bold"/>
                </a:rPr>
                <a:t>RUNNING AI STORYFORGE WEBSITE</a:t>
              </a:r>
            </a:p>
          </p:txBody>
        </p:sp>
      </p:grpSp>
      <p:grpSp>
        <p:nvGrpSpPr>
          <p:cNvPr name="Group 28" id="28"/>
          <p:cNvGrpSpPr/>
          <p:nvPr/>
        </p:nvGrpSpPr>
        <p:grpSpPr>
          <a:xfrm rot="0">
            <a:off x="7143750" y="4762500"/>
            <a:ext cx="4476750" cy="2095500"/>
            <a:chOff x="0" y="0"/>
            <a:chExt cx="5969000" cy="2794000"/>
          </a:xfrm>
        </p:grpSpPr>
        <p:grpSp>
          <p:nvGrpSpPr>
            <p:cNvPr name="Group 29" id="29"/>
            <p:cNvGrpSpPr/>
            <p:nvPr/>
          </p:nvGrpSpPr>
          <p:grpSpPr>
            <a:xfrm rot="0">
              <a:off x="0" y="0"/>
              <a:ext cx="5969000" cy="2794000"/>
              <a:chOff x="0" y="0"/>
              <a:chExt cx="5969000" cy="2794000"/>
            </a:xfrm>
          </p:grpSpPr>
          <p:sp>
            <p:nvSpPr>
              <p:cNvPr name="Freeform 30" id="30"/>
              <p:cNvSpPr/>
              <p:nvPr/>
            </p:nvSpPr>
            <p:spPr>
              <a:xfrm flipH="false" flipV="false" rot="0">
                <a:off x="0" y="0"/>
                <a:ext cx="5969000" cy="2794000"/>
              </a:xfrm>
              <a:custGeom>
                <a:avLst/>
                <a:gdLst/>
                <a:ahLst/>
                <a:cxnLst/>
                <a:rect r="r" b="b" t="t" l="l"/>
                <a:pathLst>
                  <a:path h="2794000" w="5969000">
                    <a:moveTo>
                      <a:pt x="0" y="0"/>
                    </a:moveTo>
                    <a:lnTo>
                      <a:pt x="5969000" y="0"/>
                    </a:lnTo>
                    <a:lnTo>
                      <a:pt x="5969000" y="2794000"/>
                    </a:lnTo>
                    <a:lnTo>
                      <a:pt x="0" y="2794000"/>
                    </a:lnTo>
                    <a:close/>
                  </a:path>
                </a:pathLst>
              </a:custGeom>
              <a:solidFill>
                <a:srgbClr val="0D2946"/>
              </a:solidFill>
              <a:ln w="9525" cap="sq">
                <a:solidFill>
                  <a:srgbClr val="27E7FF"/>
                </a:solidFill>
                <a:prstDash val="solid"/>
                <a:miter/>
              </a:ln>
            </p:spPr>
          </p:sp>
          <p:sp>
            <p:nvSpPr>
              <p:cNvPr name="TextBox 31" id="31"/>
              <p:cNvSpPr txBox="true"/>
              <p:nvPr/>
            </p:nvSpPr>
            <p:spPr>
              <a:xfrm>
                <a:off x="0" y="-38100"/>
                <a:ext cx="5969000" cy="2832100"/>
              </a:xfrm>
              <a:prstGeom prst="rect">
                <a:avLst/>
              </a:prstGeom>
            </p:spPr>
            <p:txBody>
              <a:bodyPr anchor="ctr" rtlCol="false" tIns="50800" lIns="50800" bIns="50800" rIns="50800"/>
              <a:lstStyle/>
              <a:p>
                <a:pPr algn="l">
                  <a:lnSpc>
                    <a:spcPts val="1679"/>
                  </a:lnSpc>
                </a:pPr>
              </a:p>
            </p:txBody>
          </p:sp>
        </p:grpSp>
        <p:sp>
          <p:nvSpPr>
            <p:cNvPr name="TextBox 32" id="32"/>
            <p:cNvSpPr txBox="true"/>
            <p:nvPr/>
          </p:nvSpPr>
          <p:spPr>
            <a:xfrm rot="0">
              <a:off x="317500" y="279400"/>
              <a:ext cx="889000" cy="363220"/>
            </a:xfrm>
            <a:prstGeom prst="rect">
              <a:avLst/>
            </a:prstGeom>
          </p:spPr>
          <p:txBody>
            <a:bodyPr anchor="t" rtlCol="false" tIns="0" lIns="0" bIns="0" rIns="0">
              <a:spAutoFit/>
            </a:bodyPr>
            <a:lstStyle/>
            <a:p>
              <a:pPr algn="l">
                <a:lnSpc>
                  <a:spcPts val="2310"/>
                </a:lnSpc>
              </a:pPr>
              <a:r>
                <a:rPr lang="en-US" sz="1650">
                  <a:solidFill>
                    <a:srgbClr val="27E7FF"/>
                  </a:solidFill>
                  <a:latin typeface="IBM Plex Mono"/>
                  <a:ea typeface="IBM Plex Mono"/>
                  <a:cs typeface="IBM Plex Mono"/>
                  <a:sym typeface="IBM Plex Mono"/>
                </a:rPr>
                <a:t>03</a:t>
              </a:r>
            </a:p>
          </p:txBody>
        </p:sp>
        <p:sp>
          <p:nvSpPr>
            <p:cNvPr name="TextBox 33" id="33"/>
            <p:cNvSpPr txBox="true"/>
            <p:nvPr/>
          </p:nvSpPr>
          <p:spPr>
            <a:xfrm rot="0">
              <a:off x="317500" y="1803400"/>
              <a:ext cx="5270500" cy="353060"/>
            </a:xfrm>
            <a:prstGeom prst="rect">
              <a:avLst/>
            </a:prstGeom>
          </p:spPr>
          <p:txBody>
            <a:bodyPr anchor="t" rtlCol="false" tIns="0" lIns="0" bIns="0" rIns="0">
              <a:spAutoFit/>
            </a:bodyPr>
            <a:lstStyle/>
            <a:p>
              <a:pPr algn="l">
                <a:lnSpc>
                  <a:spcPts val="2204"/>
                </a:lnSpc>
              </a:pPr>
              <a:r>
                <a:rPr lang="en-US" sz="1575" b="true">
                  <a:solidFill>
                    <a:srgbClr val="F4FBFF"/>
                  </a:solidFill>
                  <a:latin typeface="Rajdhani Bold"/>
                  <a:ea typeface="Rajdhani Bold"/>
                  <a:cs typeface="Rajdhani Bold"/>
                  <a:sym typeface="Rajdhani Bold"/>
                </a:rPr>
                <a:t>USER STORY INPUT</a:t>
              </a:r>
            </a:p>
          </p:txBody>
        </p:sp>
      </p:grpSp>
      <p:grpSp>
        <p:nvGrpSpPr>
          <p:cNvPr name="Group 34" id="34"/>
          <p:cNvGrpSpPr/>
          <p:nvPr/>
        </p:nvGrpSpPr>
        <p:grpSpPr>
          <a:xfrm rot="0">
            <a:off x="12049125" y="4762500"/>
            <a:ext cx="4476750" cy="2095500"/>
            <a:chOff x="0" y="0"/>
            <a:chExt cx="5969000" cy="2794000"/>
          </a:xfrm>
        </p:grpSpPr>
        <p:grpSp>
          <p:nvGrpSpPr>
            <p:cNvPr name="Group 35" id="35"/>
            <p:cNvGrpSpPr/>
            <p:nvPr/>
          </p:nvGrpSpPr>
          <p:grpSpPr>
            <a:xfrm rot="0">
              <a:off x="0" y="0"/>
              <a:ext cx="5969000" cy="2794000"/>
              <a:chOff x="0" y="0"/>
              <a:chExt cx="5969000" cy="2794000"/>
            </a:xfrm>
          </p:grpSpPr>
          <p:sp>
            <p:nvSpPr>
              <p:cNvPr name="Freeform 36" id="36"/>
              <p:cNvSpPr/>
              <p:nvPr/>
            </p:nvSpPr>
            <p:spPr>
              <a:xfrm flipH="false" flipV="false" rot="0">
                <a:off x="0" y="0"/>
                <a:ext cx="5969000" cy="2794000"/>
              </a:xfrm>
              <a:custGeom>
                <a:avLst/>
                <a:gdLst/>
                <a:ahLst/>
                <a:cxnLst/>
                <a:rect r="r" b="b" t="t" l="l"/>
                <a:pathLst>
                  <a:path h="2794000" w="5969000">
                    <a:moveTo>
                      <a:pt x="0" y="0"/>
                    </a:moveTo>
                    <a:lnTo>
                      <a:pt x="5969000" y="0"/>
                    </a:lnTo>
                    <a:lnTo>
                      <a:pt x="5969000" y="2794000"/>
                    </a:lnTo>
                    <a:lnTo>
                      <a:pt x="0" y="2794000"/>
                    </a:lnTo>
                    <a:close/>
                  </a:path>
                </a:pathLst>
              </a:custGeom>
              <a:solidFill>
                <a:srgbClr val="0D2946"/>
              </a:solidFill>
              <a:ln w="9525" cap="sq">
                <a:solidFill>
                  <a:srgbClr val="27E7FF"/>
                </a:solidFill>
                <a:prstDash val="solid"/>
                <a:miter/>
              </a:ln>
            </p:spPr>
          </p:sp>
          <p:sp>
            <p:nvSpPr>
              <p:cNvPr name="TextBox 37" id="37"/>
              <p:cNvSpPr txBox="true"/>
              <p:nvPr/>
            </p:nvSpPr>
            <p:spPr>
              <a:xfrm>
                <a:off x="0" y="-38100"/>
                <a:ext cx="5969000" cy="2832100"/>
              </a:xfrm>
              <a:prstGeom prst="rect">
                <a:avLst/>
              </a:prstGeom>
            </p:spPr>
            <p:txBody>
              <a:bodyPr anchor="ctr" rtlCol="false" tIns="50800" lIns="50800" bIns="50800" rIns="50800"/>
              <a:lstStyle/>
              <a:p>
                <a:pPr algn="l">
                  <a:lnSpc>
                    <a:spcPts val="1679"/>
                  </a:lnSpc>
                </a:pPr>
              </a:p>
            </p:txBody>
          </p:sp>
        </p:grpSp>
        <p:sp>
          <p:nvSpPr>
            <p:cNvPr name="TextBox 38" id="38"/>
            <p:cNvSpPr txBox="true"/>
            <p:nvPr/>
          </p:nvSpPr>
          <p:spPr>
            <a:xfrm rot="0">
              <a:off x="317500" y="279400"/>
              <a:ext cx="889000" cy="363220"/>
            </a:xfrm>
            <a:prstGeom prst="rect">
              <a:avLst/>
            </a:prstGeom>
          </p:spPr>
          <p:txBody>
            <a:bodyPr anchor="t" rtlCol="false" tIns="0" lIns="0" bIns="0" rIns="0">
              <a:spAutoFit/>
            </a:bodyPr>
            <a:lstStyle/>
            <a:p>
              <a:pPr algn="l">
                <a:lnSpc>
                  <a:spcPts val="2310"/>
                </a:lnSpc>
              </a:pPr>
              <a:r>
                <a:rPr lang="en-US" sz="1650">
                  <a:solidFill>
                    <a:srgbClr val="27E7FF"/>
                  </a:solidFill>
                  <a:latin typeface="IBM Plex Mono"/>
                  <a:ea typeface="IBM Plex Mono"/>
                  <a:cs typeface="IBM Plex Mono"/>
                  <a:sym typeface="IBM Plex Mono"/>
                </a:rPr>
                <a:t>04</a:t>
              </a:r>
            </a:p>
          </p:txBody>
        </p:sp>
        <p:sp>
          <p:nvSpPr>
            <p:cNvPr name="TextBox 39" id="39"/>
            <p:cNvSpPr txBox="true"/>
            <p:nvPr/>
          </p:nvSpPr>
          <p:spPr>
            <a:xfrm rot="0">
              <a:off x="317500" y="1803400"/>
              <a:ext cx="5270500" cy="353060"/>
            </a:xfrm>
            <a:prstGeom prst="rect">
              <a:avLst/>
            </a:prstGeom>
          </p:spPr>
          <p:txBody>
            <a:bodyPr anchor="t" rtlCol="false" tIns="0" lIns="0" bIns="0" rIns="0">
              <a:spAutoFit/>
            </a:bodyPr>
            <a:lstStyle/>
            <a:p>
              <a:pPr algn="l">
                <a:lnSpc>
                  <a:spcPts val="2204"/>
                </a:lnSpc>
              </a:pPr>
              <a:r>
                <a:rPr lang="en-US" sz="1575" b="true">
                  <a:solidFill>
                    <a:srgbClr val="F4FBFF"/>
                  </a:solidFill>
                  <a:latin typeface="Rajdhani Bold"/>
                  <a:ea typeface="Rajdhani Bold"/>
                  <a:cs typeface="Rajdhani Bold"/>
                  <a:sym typeface="Rajdhani Bold"/>
                </a:rPr>
                <a:t>GITHUB REPOSITORY &amp; COMMITS</a:t>
              </a:r>
            </a:p>
          </p:txBody>
        </p:sp>
      </p:grpSp>
      <p:grpSp>
        <p:nvGrpSpPr>
          <p:cNvPr name="Group 40" id="40"/>
          <p:cNvGrpSpPr/>
          <p:nvPr/>
        </p:nvGrpSpPr>
        <p:grpSpPr>
          <a:xfrm rot="0">
            <a:off x="876300" y="7572375"/>
            <a:ext cx="16535400" cy="1381125"/>
            <a:chOff x="0" y="0"/>
            <a:chExt cx="22047200" cy="1841500"/>
          </a:xfrm>
        </p:grpSpPr>
        <p:grpSp>
          <p:nvGrpSpPr>
            <p:cNvPr name="Group 41" id="41"/>
            <p:cNvGrpSpPr/>
            <p:nvPr/>
          </p:nvGrpSpPr>
          <p:grpSpPr>
            <a:xfrm rot="0">
              <a:off x="0" y="0"/>
              <a:ext cx="22047200" cy="1841500"/>
              <a:chOff x="0" y="0"/>
              <a:chExt cx="22047200" cy="1841500"/>
            </a:xfrm>
          </p:grpSpPr>
          <p:sp>
            <p:nvSpPr>
              <p:cNvPr name="Freeform 42" id="42"/>
              <p:cNvSpPr/>
              <p:nvPr/>
            </p:nvSpPr>
            <p:spPr>
              <a:xfrm flipH="false" flipV="false" rot="0">
                <a:off x="0" y="0"/>
                <a:ext cx="22047200" cy="1841500"/>
              </a:xfrm>
              <a:custGeom>
                <a:avLst/>
                <a:gdLst/>
                <a:ahLst/>
                <a:cxnLst/>
                <a:rect r="r" b="b" t="t" l="l"/>
                <a:pathLst>
                  <a:path h="1841500" w="22047200">
                    <a:moveTo>
                      <a:pt x="0" y="0"/>
                    </a:moveTo>
                    <a:lnTo>
                      <a:pt x="22047200" y="0"/>
                    </a:lnTo>
                    <a:lnTo>
                      <a:pt x="22047200" y="1841500"/>
                    </a:lnTo>
                    <a:lnTo>
                      <a:pt x="0" y="1841500"/>
                    </a:lnTo>
                    <a:close/>
                  </a:path>
                </a:pathLst>
              </a:custGeom>
              <a:solidFill>
                <a:srgbClr val="0B223B"/>
              </a:solidFill>
              <a:ln w="9525" cap="sq">
                <a:solidFill>
                  <a:srgbClr val="1B5873"/>
                </a:solidFill>
                <a:prstDash val="solid"/>
                <a:miter/>
              </a:ln>
            </p:spPr>
          </p:sp>
          <p:sp>
            <p:nvSpPr>
              <p:cNvPr name="TextBox 43" id="43"/>
              <p:cNvSpPr txBox="true"/>
              <p:nvPr/>
            </p:nvSpPr>
            <p:spPr>
              <a:xfrm>
                <a:off x="0" y="-38100"/>
                <a:ext cx="22047200" cy="1879600"/>
              </a:xfrm>
              <a:prstGeom prst="rect">
                <a:avLst/>
              </a:prstGeom>
            </p:spPr>
            <p:txBody>
              <a:bodyPr anchor="ctr" rtlCol="false" tIns="50800" lIns="50800" bIns="50800" rIns="50800"/>
              <a:lstStyle/>
              <a:p>
                <a:pPr algn="l">
                  <a:lnSpc>
                    <a:spcPts val="1679"/>
                  </a:lnSpc>
                </a:pPr>
              </a:p>
            </p:txBody>
          </p:sp>
        </p:grpSp>
        <p:sp>
          <p:nvSpPr>
            <p:cNvPr name="TextBox 44" id="44"/>
            <p:cNvSpPr txBox="true"/>
            <p:nvPr/>
          </p:nvSpPr>
          <p:spPr>
            <a:xfrm rot="0">
              <a:off x="0" y="279400"/>
              <a:ext cx="20955000" cy="815340"/>
            </a:xfrm>
            <a:prstGeom prst="rect">
              <a:avLst/>
            </a:prstGeom>
          </p:spPr>
          <p:txBody>
            <a:bodyPr anchor="t" rtlCol="false" tIns="0" lIns="0" bIns="0" rIns="0">
              <a:spAutoFit/>
            </a:bodyPr>
            <a:lstStyle/>
            <a:p>
              <a:pPr algn="l">
                <a:lnSpc>
                  <a:spcPts val="2520"/>
                </a:lnSpc>
              </a:pPr>
              <a:r>
                <a:rPr lang="en-US" sz="1800">
                  <a:solidFill>
                    <a:srgbClr val="F4FBFF"/>
                  </a:solidFill>
                  <a:latin typeface="IBM Plex Sans"/>
                  <a:ea typeface="IBM Plex Sans"/>
                  <a:cs typeface="IBM Plex Sans"/>
                  <a:sym typeface="IBM Plex Sans"/>
                </a:rPr>
                <a:t>CURRENTLY  Initial setup, Flask backend, frontend interface, user-story input and basic interaction are complete. AI analysis integration and database connection are in progress.</a:t>
              </a:r>
            </a:p>
          </p:txBody>
        </p:sp>
      </p:grpSp>
    </p:spTree>
  </p:cSld>
  <p:clrMapOvr>
    <a:masterClrMapping/>
  </p:clrMapOvr>
</p:sld>
</file>

<file path=ppt/slides/slide10.xml><?xml version="1.0" encoding="utf-8"?>
<p:sld xmlns:p="http://schemas.openxmlformats.org/presentationml/2006/main" xmlns:a="http://schemas.openxmlformats.org/drawingml/2006/main">
  <p:cSld>
    <p:bg>
      <p:bgPr>
        <a:solidFill>
          <a:srgbClr val="07182B"/>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76300" y="495300"/>
            <a:ext cx="16535400" cy="1171575"/>
            <a:chOff x="0" y="0"/>
            <a:chExt cx="22047200" cy="1562100"/>
          </a:xfrm>
        </p:grpSpPr>
        <p:sp>
          <p:nvSpPr>
            <p:cNvPr name="TextBox 6" id="6"/>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7" id="7"/>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PROTOTYPE / EXPECTED OUTPUT</a:t>
              </a:r>
            </a:p>
          </p:txBody>
        </p:sp>
        <p:sp>
          <p:nvSpPr>
            <p:cNvPr name="TextBox 8" id="8"/>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10</a:t>
              </a:r>
            </a:p>
          </p:txBody>
        </p:sp>
        <p:sp>
          <p:nvSpPr>
            <p:cNvPr name="AutoShape 9" id="9"/>
            <p:cNvSpPr/>
            <p:nvPr/>
          </p:nvSpPr>
          <p:spPr>
            <a:xfrm>
              <a:off x="0" y="1549400"/>
              <a:ext cx="22047200" cy="0"/>
            </a:xfrm>
            <a:prstGeom prst="line">
              <a:avLst/>
            </a:prstGeom>
            <a:ln cap="flat" w="25400">
              <a:solidFill>
                <a:srgbClr val="1B5873"/>
              </a:solidFill>
              <a:prstDash val="solid"/>
              <a:headEnd type="none" len="sm" w="sm"/>
              <a:tailEnd type="none" len="sm" w="sm"/>
            </a:ln>
          </p:spPr>
        </p:sp>
      </p:grpSp>
      <p:sp>
        <p:nvSpPr>
          <p:cNvPr name="TextBox 10" id="10"/>
          <p:cNvSpPr txBox="true"/>
          <p:nvPr/>
        </p:nvSpPr>
        <p:spPr>
          <a:xfrm rot="0">
            <a:off x="876300" y="1914525"/>
            <a:ext cx="8572500" cy="240030"/>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PROTOTYPE • EXPECTED OUTPUT — NOT FINAL AI RESULTS</a:t>
            </a:r>
          </a:p>
        </p:txBody>
      </p:sp>
      <p:grpSp>
        <p:nvGrpSpPr>
          <p:cNvPr name="Group 11" id="11"/>
          <p:cNvGrpSpPr/>
          <p:nvPr/>
        </p:nvGrpSpPr>
        <p:grpSpPr>
          <a:xfrm rot="0">
            <a:off x="876300" y="2619375"/>
            <a:ext cx="7239000" cy="2095500"/>
            <a:chOff x="0" y="0"/>
            <a:chExt cx="9652000" cy="2794000"/>
          </a:xfrm>
        </p:grpSpPr>
        <p:grpSp>
          <p:nvGrpSpPr>
            <p:cNvPr name="Group 12" id="12"/>
            <p:cNvGrpSpPr/>
            <p:nvPr/>
          </p:nvGrpSpPr>
          <p:grpSpPr>
            <a:xfrm rot="0">
              <a:off x="0" y="381000"/>
              <a:ext cx="9652000" cy="2413000"/>
              <a:chOff x="0" y="0"/>
              <a:chExt cx="9652000" cy="2413000"/>
            </a:xfrm>
          </p:grpSpPr>
          <p:sp>
            <p:nvSpPr>
              <p:cNvPr name="Freeform 13" id="13"/>
              <p:cNvSpPr/>
              <p:nvPr/>
            </p:nvSpPr>
            <p:spPr>
              <a:xfrm flipH="false" flipV="false" rot="0">
                <a:off x="0" y="0"/>
                <a:ext cx="9652000" cy="2413000"/>
              </a:xfrm>
              <a:custGeom>
                <a:avLst/>
                <a:gdLst/>
                <a:ahLst/>
                <a:cxnLst/>
                <a:rect r="r" b="b" t="t" l="l"/>
                <a:pathLst>
                  <a:path h="2413000" w="9652000">
                    <a:moveTo>
                      <a:pt x="0" y="0"/>
                    </a:moveTo>
                    <a:lnTo>
                      <a:pt x="9652000" y="0"/>
                    </a:lnTo>
                    <a:lnTo>
                      <a:pt x="9652000" y="2413000"/>
                    </a:lnTo>
                    <a:lnTo>
                      <a:pt x="0" y="2413000"/>
                    </a:lnTo>
                    <a:close/>
                  </a:path>
                </a:pathLst>
              </a:custGeom>
              <a:solidFill>
                <a:srgbClr val="0B223B"/>
              </a:solidFill>
              <a:ln w="9525" cap="sq">
                <a:solidFill>
                  <a:srgbClr val="1B5873"/>
                </a:solidFill>
                <a:prstDash val="solid"/>
                <a:miter/>
              </a:ln>
            </p:spPr>
          </p:sp>
          <p:sp>
            <p:nvSpPr>
              <p:cNvPr name="TextBox 14" id="14"/>
              <p:cNvSpPr txBox="true"/>
              <p:nvPr/>
            </p:nvSpPr>
            <p:spPr>
              <a:xfrm>
                <a:off x="0" y="-38100"/>
                <a:ext cx="9652000" cy="24511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0" y="-28575"/>
              <a:ext cx="635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INPUT USER STORY</a:t>
              </a:r>
            </a:p>
          </p:txBody>
        </p:sp>
        <p:sp>
          <p:nvSpPr>
            <p:cNvPr name="TextBox 16" id="16"/>
            <p:cNvSpPr txBox="true"/>
            <p:nvPr/>
          </p:nvSpPr>
          <p:spPr>
            <a:xfrm rot="0">
              <a:off x="419100" y="688975"/>
              <a:ext cx="8763000" cy="521335"/>
            </a:xfrm>
            <a:prstGeom prst="rect">
              <a:avLst/>
            </a:prstGeom>
          </p:spPr>
          <p:txBody>
            <a:bodyPr anchor="t" rtlCol="false" tIns="0" lIns="0" bIns="0" rIns="0">
              <a:spAutoFit/>
            </a:bodyPr>
            <a:lstStyle/>
            <a:p>
              <a:pPr algn="l">
                <a:lnSpc>
                  <a:spcPts val="3187"/>
                </a:lnSpc>
              </a:pPr>
              <a:r>
                <a:rPr lang="en-US" sz="2550" b="true">
                  <a:solidFill>
                    <a:srgbClr val="F4FBFF"/>
                  </a:solidFill>
                  <a:latin typeface="Rajdhani Bold"/>
                  <a:ea typeface="Rajdhani Bold"/>
                  <a:cs typeface="Rajdhani Bold"/>
                  <a:sym typeface="Rajdhani Bold"/>
                </a:rPr>
                <a:t>“As a student, I want attendance.”</a:t>
              </a:r>
            </a:p>
          </p:txBody>
        </p:sp>
      </p:grpSp>
      <p:grpSp>
        <p:nvGrpSpPr>
          <p:cNvPr name="Group 17" id="17"/>
          <p:cNvGrpSpPr/>
          <p:nvPr/>
        </p:nvGrpSpPr>
        <p:grpSpPr>
          <a:xfrm rot="0">
            <a:off x="8667750" y="2190750"/>
            <a:ext cx="3667125" cy="1285875"/>
            <a:chOff x="0" y="0"/>
            <a:chExt cx="4889500" cy="1714500"/>
          </a:xfrm>
        </p:grpSpPr>
        <p:grpSp>
          <p:nvGrpSpPr>
            <p:cNvPr name="Group 18" id="18"/>
            <p:cNvGrpSpPr/>
            <p:nvPr/>
          </p:nvGrpSpPr>
          <p:grpSpPr>
            <a:xfrm rot="0">
              <a:off x="0" y="0"/>
              <a:ext cx="4889500" cy="1714500"/>
              <a:chOff x="0" y="0"/>
              <a:chExt cx="4889500" cy="1714500"/>
            </a:xfrm>
          </p:grpSpPr>
          <p:sp>
            <p:nvSpPr>
              <p:cNvPr name="Freeform 19" id="19"/>
              <p:cNvSpPr/>
              <p:nvPr/>
            </p:nvSpPr>
            <p:spPr>
              <a:xfrm flipH="false" flipV="false" rot="0">
                <a:off x="0" y="0"/>
                <a:ext cx="4889500" cy="1714500"/>
              </a:xfrm>
              <a:custGeom>
                <a:avLst/>
                <a:gdLst/>
                <a:ahLst/>
                <a:cxnLst/>
                <a:rect r="r" b="b" t="t" l="l"/>
                <a:pathLst>
                  <a:path h="1714500" w="4889500">
                    <a:moveTo>
                      <a:pt x="0" y="0"/>
                    </a:moveTo>
                    <a:lnTo>
                      <a:pt x="4889500" y="0"/>
                    </a:lnTo>
                    <a:lnTo>
                      <a:pt x="4889500" y="1714500"/>
                    </a:lnTo>
                    <a:lnTo>
                      <a:pt x="0" y="1714500"/>
                    </a:lnTo>
                    <a:close/>
                  </a:path>
                </a:pathLst>
              </a:custGeom>
              <a:solidFill>
                <a:srgbClr val="0D2946"/>
              </a:solidFill>
              <a:ln w="9525" cap="sq">
                <a:solidFill>
                  <a:srgbClr val="1B5873"/>
                </a:solidFill>
                <a:prstDash val="solid"/>
                <a:miter/>
              </a:ln>
            </p:spPr>
          </p:sp>
          <p:sp>
            <p:nvSpPr>
              <p:cNvPr name="TextBox 20" id="20"/>
              <p:cNvSpPr txBox="true"/>
              <p:nvPr/>
            </p:nvSpPr>
            <p:spPr>
              <a:xfrm>
                <a:off x="0" y="-38100"/>
                <a:ext cx="4889500" cy="17526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304800" y="250825"/>
              <a:ext cx="42545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QUALITY SCORE</a:t>
              </a:r>
            </a:p>
          </p:txBody>
        </p:sp>
        <p:sp>
          <p:nvSpPr>
            <p:cNvPr name="TextBox 22" id="22"/>
            <p:cNvSpPr txBox="true"/>
            <p:nvPr/>
          </p:nvSpPr>
          <p:spPr>
            <a:xfrm rot="0">
              <a:off x="304800" y="708025"/>
              <a:ext cx="4254500" cy="719455"/>
            </a:xfrm>
            <a:prstGeom prst="rect">
              <a:avLst/>
            </a:prstGeom>
          </p:spPr>
          <p:txBody>
            <a:bodyPr anchor="t" rtlCol="false" tIns="0" lIns="0" bIns="0" rIns="0">
              <a:spAutoFit/>
            </a:bodyPr>
            <a:lstStyle/>
            <a:p>
              <a:pPr algn="l">
                <a:lnSpc>
                  <a:spcPts val="4515"/>
                </a:lnSpc>
              </a:pPr>
              <a:r>
                <a:rPr lang="en-US" sz="3225">
                  <a:solidFill>
                    <a:srgbClr val="FFB547"/>
                  </a:solidFill>
                  <a:latin typeface="Anton"/>
                  <a:ea typeface="Anton"/>
                  <a:cs typeface="Anton"/>
                  <a:sym typeface="Anton"/>
                </a:rPr>
                <a:t>45/100</a:t>
              </a:r>
            </a:p>
          </p:txBody>
        </p:sp>
      </p:grpSp>
      <p:grpSp>
        <p:nvGrpSpPr>
          <p:cNvPr name="Group 23" id="23"/>
          <p:cNvGrpSpPr/>
          <p:nvPr/>
        </p:nvGrpSpPr>
        <p:grpSpPr>
          <a:xfrm rot="0">
            <a:off x="12763500" y="2190750"/>
            <a:ext cx="3667125" cy="1285875"/>
            <a:chOff x="0" y="0"/>
            <a:chExt cx="4889500" cy="1714500"/>
          </a:xfrm>
        </p:grpSpPr>
        <p:grpSp>
          <p:nvGrpSpPr>
            <p:cNvPr name="Group 24" id="24"/>
            <p:cNvGrpSpPr/>
            <p:nvPr/>
          </p:nvGrpSpPr>
          <p:grpSpPr>
            <a:xfrm rot="0">
              <a:off x="0" y="0"/>
              <a:ext cx="4889500" cy="1714500"/>
              <a:chOff x="0" y="0"/>
              <a:chExt cx="4889500" cy="1714500"/>
            </a:xfrm>
          </p:grpSpPr>
          <p:sp>
            <p:nvSpPr>
              <p:cNvPr name="Freeform 25" id="25"/>
              <p:cNvSpPr/>
              <p:nvPr/>
            </p:nvSpPr>
            <p:spPr>
              <a:xfrm flipH="false" flipV="false" rot="0">
                <a:off x="0" y="0"/>
                <a:ext cx="4889500" cy="1714500"/>
              </a:xfrm>
              <a:custGeom>
                <a:avLst/>
                <a:gdLst/>
                <a:ahLst/>
                <a:cxnLst/>
                <a:rect r="r" b="b" t="t" l="l"/>
                <a:pathLst>
                  <a:path h="1714500" w="4889500">
                    <a:moveTo>
                      <a:pt x="0" y="0"/>
                    </a:moveTo>
                    <a:lnTo>
                      <a:pt x="4889500" y="0"/>
                    </a:lnTo>
                    <a:lnTo>
                      <a:pt x="4889500" y="1714500"/>
                    </a:lnTo>
                    <a:lnTo>
                      <a:pt x="0" y="1714500"/>
                    </a:lnTo>
                    <a:close/>
                  </a:path>
                </a:pathLst>
              </a:custGeom>
              <a:solidFill>
                <a:srgbClr val="0D2946"/>
              </a:solidFill>
              <a:ln w="9525" cap="sq">
                <a:solidFill>
                  <a:srgbClr val="1B5873"/>
                </a:solidFill>
                <a:prstDash val="solid"/>
                <a:miter/>
              </a:ln>
            </p:spPr>
          </p:sp>
          <p:sp>
            <p:nvSpPr>
              <p:cNvPr name="TextBox 26" id="26"/>
              <p:cNvSpPr txBox="true"/>
              <p:nvPr/>
            </p:nvSpPr>
            <p:spPr>
              <a:xfrm>
                <a:off x="0" y="-38100"/>
                <a:ext cx="4889500" cy="17526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304800" y="250825"/>
              <a:ext cx="42545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AMBIGUITY</a:t>
              </a:r>
            </a:p>
          </p:txBody>
        </p:sp>
        <p:sp>
          <p:nvSpPr>
            <p:cNvPr name="TextBox 28" id="28"/>
            <p:cNvSpPr txBox="true"/>
            <p:nvPr/>
          </p:nvSpPr>
          <p:spPr>
            <a:xfrm rot="0">
              <a:off x="304800" y="708025"/>
              <a:ext cx="4254500" cy="719455"/>
            </a:xfrm>
            <a:prstGeom prst="rect">
              <a:avLst/>
            </a:prstGeom>
          </p:spPr>
          <p:txBody>
            <a:bodyPr anchor="t" rtlCol="false" tIns="0" lIns="0" bIns="0" rIns="0">
              <a:spAutoFit/>
            </a:bodyPr>
            <a:lstStyle/>
            <a:p>
              <a:pPr algn="l">
                <a:lnSpc>
                  <a:spcPts val="4515"/>
                </a:lnSpc>
              </a:pPr>
              <a:r>
                <a:rPr lang="en-US" sz="3225">
                  <a:solidFill>
                    <a:srgbClr val="FF6577"/>
                  </a:solidFill>
                  <a:latin typeface="Anton"/>
                  <a:ea typeface="Anton"/>
                  <a:cs typeface="Anton"/>
                  <a:sym typeface="Anton"/>
                </a:rPr>
                <a:t>HIGH</a:t>
              </a:r>
            </a:p>
          </p:txBody>
        </p:sp>
      </p:grpSp>
      <p:grpSp>
        <p:nvGrpSpPr>
          <p:cNvPr name="Group 29" id="29"/>
          <p:cNvGrpSpPr/>
          <p:nvPr/>
        </p:nvGrpSpPr>
        <p:grpSpPr>
          <a:xfrm rot="0">
            <a:off x="8667750" y="3810000"/>
            <a:ext cx="3667125" cy="1285875"/>
            <a:chOff x="0" y="0"/>
            <a:chExt cx="4889500" cy="1714500"/>
          </a:xfrm>
        </p:grpSpPr>
        <p:grpSp>
          <p:nvGrpSpPr>
            <p:cNvPr name="Group 30" id="30"/>
            <p:cNvGrpSpPr/>
            <p:nvPr/>
          </p:nvGrpSpPr>
          <p:grpSpPr>
            <a:xfrm rot="0">
              <a:off x="0" y="0"/>
              <a:ext cx="4889500" cy="1714500"/>
              <a:chOff x="0" y="0"/>
              <a:chExt cx="4889500" cy="1714500"/>
            </a:xfrm>
          </p:grpSpPr>
          <p:sp>
            <p:nvSpPr>
              <p:cNvPr name="Freeform 31" id="31"/>
              <p:cNvSpPr/>
              <p:nvPr/>
            </p:nvSpPr>
            <p:spPr>
              <a:xfrm flipH="false" flipV="false" rot="0">
                <a:off x="0" y="0"/>
                <a:ext cx="4889500" cy="1714500"/>
              </a:xfrm>
              <a:custGeom>
                <a:avLst/>
                <a:gdLst/>
                <a:ahLst/>
                <a:cxnLst/>
                <a:rect r="r" b="b" t="t" l="l"/>
                <a:pathLst>
                  <a:path h="1714500" w="4889500">
                    <a:moveTo>
                      <a:pt x="0" y="0"/>
                    </a:moveTo>
                    <a:lnTo>
                      <a:pt x="4889500" y="0"/>
                    </a:lnTo>
                    <a:lnTo>
                      <a:pt x="4889500" y="1714500"/>
                    </a:lnTo>
                    <a:lnTo>
                      <a:pt x="0" y="1714500"/>
                    </a:lnTo>
                    <a:close/>
                  </a:path>
                </a:pathLst>
              </a:custGeom>
              <a:solidFill>
                <a:srgbClr val="0D2946"/>
              </a:solidFill>
              <a:ln w="9525" cap="sq">
                <a:solidFill>
                  <a:srgbClr val="1B5873"/>
                </a:solidFill>
                <a:prstDash val="solid"/>
                <a:miter/>
              </a:ln>
            </p:spPr>
          </p:sp>
          <p:sp>
            <p:nvSpPr>
              <p:cNvPr name="TextBox 32" id="32"/>
              <p:cNvSpPr txBox="true"/>
              <p:nvPr/>
            </p:nvSpPr>
            <p:spPr>
              <a:xfrm>
                <a:off x="0" y="-38100"/>
                <a:ext cx="4889500" cy="1752600"/>
              </a:xfrm>
              <a:prstGeom prst="rect">
                <a:avLst/>
              </a:prstGeom>
            </p:spPr>
            <p:txBody>
              <a:bodyPr anchor="ctr" rtlCol="false" tIns="50800" lIns="50800" bIns="50800" rIns="50800"/>
              <a:lstStyle/>
              <a:p>
                <a:pPr algn="l">
                  <a:lnSpc>
                    <a:spcPts val="1679"/>
                  </a:lnSpc>
                </a:pPr>
              </a:p>
            </p:txBody>
          </p:sp>
        </p:grpSp>
        <p:sp>
          <p:nvSpPr>
            <p:cNvPr name="TextBox 33" id="33"/>
            <p:cNvSpPr txBox="true"/>
            <p:nvPr/>
          </p:nvSpPr>
          <p:spPr>
            <a:xfrm rot="0">
              <a:off x="304800" y="250825"/>
              <a:ext cx="42545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RISK</a:t>
              </a:r>
            </a:p>
          </p:txBody>
        </p:sp>
        <p:sp>
          <p:nvSpPr>
            <p:cNvPr name="TextBox 34" id="34"/>
            <p:cNvSpPr txBox="true"/>
            <p:nvPr/>
          </p:nvSpPr>
          <p:spPr>
            <a:xfrm rot="0">
              <a:off x="304800" y="708025"/>
              <a:ext cx="4254500" cy="719455"/>
            </a:xfrm>
            <a:prstGeom prst="rect">
              <a:avLst/>
            </a:prstGeom>
          </p:spPr>
          <p:txBody>
            <a:bodyPr anchor="t" rtlCol="false" tIns="0" lIns="0" bIns="0" rIns="0">
              <a:spAutoFit/>
            </a:bodyPr>
            <a:lstStyle/>
            <a:p>
              <a:pPr algn="l">
                <a:lnSpc>
                  <a:spcPts val="4515"/>
                </a:lnSpc>
              </a:pPr>
              <a:r>
                <a:rPr lang="en-US" sz="3225">
                  <a:solidFill>
                    <a:srgbClr val="FFB547"/>
                  </a:solidFill>
                  <a:latin typeface="Anton"/>
                  <a:ea typeface="Anton"/>
                  <a:cs typeface="Anton"/>
                  <a:sym typeface="Anton"/>
                </a:rPr>
                <a:t>MEDIUM</a:t>
              </a:r>
            </a:p>
          </p:txBody>
        </p:sp>
      </p:grpSp>
      <p:grpSp>
        <p:nvGrpSpPr>
          <p:cNvPr name="Group 35" id="35"/>
          <p:cNvGrpSpPr/>
          <p:nvPr/>
        </p:nvGrpSpPr>
        <p:grpSpPr>
          <a:xfrm rot="0">
            <a:off x="12763500" y="3810000"/>
            <a:ext cx="3667125" cy="1285875"/>
            <a:chOff x="0" y="0"/>
            <a:chExt cx="4889500" cy="1714500"/>
          </a:xfrm>
        </p:grpSpPr>
        <p:grpSp>
          <p:nvGrpSpPr>
            <p:cNvPr name="Group 36" id="36"/>
            <p:cNvGrpSpPr/>
            <p:nvPr/>
          </p:nvGrpSpPr>
          <p:grpSpPr>
            <a:xfrm rot="0">
              <a:off x="0" y="0"/>
              <a:ext cx="4889500" cy="1714500"/>
              <a:chOff x="0" y="0"/>
              <a:chExt cx="4889500" cy="1714500"/>
            </a:xfrm>
          </p:grpSpPr>
          <p:sp>
            <p:nvSpPr>
              <p:cNvPr name="Freeform 37" id="37"/>
              <p:cNvSpPr/>
              <p:nvPr/>
            </p:nvSpPr>
            <p:spPr>
              <a:xfrm flipH="false" flipV="false" rot="0">
                <a:off x="0" y="0"/>
                <a:ext cx="4889500" cy="1714500"/>
              </a:xfrm>
              <a:custGeom>
                <a:avLst/>
                <a:gdLst/>
                <a:ahLst/>
                <a:cxnLst/>
                <a:rect r="r" b="b" t="t" l="l"/>
                <a:pathLst>
                  <a:path h="1714500" w="4889500">
                    <a:moveTo>
                      <a:pt x="0" y="0"/>
                    </a:moveTo>
                    <a:lnTo>
                      <a:pt x="4889500" y="0"/>
                    </a:lnTo>
                    <a:lnTo>
                      <a:pt x="4889500" y="1714500"/>
                    </a:lnTo>
                    <a:lnTo>
                      <a:pt x="0" y="1714500"/>
                    </a:lnTo>
                    <a:close/>
                  </a:path>
                </a:pathLst>
              </a:custGeom>
              <a:solidFill>
                <a:srgbClr val="0D2946"/>
              </a:solidFill>
              <a:ln w="9525" cap="sq">
                <a:solidFill>
                  <a:srgbClr val="1B5873"/>
                </a:solidFill>
                <a:prstDash val="solid"/>
                <a:miter/>
              </a:ln>
            </p:spPr>
          </p:sp>
          <p:sp>
            <p:nvSpPr>
              <p:cNvPr name="TextBox 38" id="38"/>
              <p:cNvSpPr txBox="true"/>
              <p:nvPr/>
            </p:nvSpPr>
            <p:spPr>
              <a:xfrm>
                <a:off x="0" y="-38100"/>
                <a:ext cx="4889500" cy="1752600"/>
              </a:xfrm>
              <a:prstGeom prst="rect">
                <a:avLst/>
              </a:prstGeom>
            </p:spPr>
            <p:txBody>
              <a:bodyPr anchor="ctr" rtlCol="false" tIns="50800" lIns="50800" bIns="50800" rIns="50800"/>
              <a:lstStyle/>
              <a:p>
                <a:pPr algn="l">
                  <a:lnSpc>
                    <a:spcPts val="1679"/>
                  </a:lnSpc>
                </a:pPr>
              </a:p>
            </p:txBody>
          </p:sp>
        </p:grpSp>
        <p:sp>
          <p:nvSpPr>
            <p:cNvPr name="TextBox 39" id="39"/>
            <p:cNvSpPr txBox="true"/>
            <p:nvPr/>
          </p:nvSpPr>
          <p:spPr>
            <a:xfrm rot="0">
              <a:off x="304800" y="250825"/>
              <a:ext cx="42545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STORY POINTS</a:t>
              </a:r>
            </a:p>
          </p:txBody>
        </p:sp>
        <p:sp>
          <p:nvSpPr>
            <p:cNvPr name="TextBox 40" id="40"/>
            <p:cNvSpPr txBox="true"/>
            <p:nvPr/>
          </p:nvSpPr>
          <p:spPr>
            <a:xfrm rot="0">
              <a:off x="304800" y="708025"/>
              <a:ext cx="4254500" cy="719455"/>
            </a:xfrm>
            <a:prstGeom prst="rect">
              <a:avLst/>
            </a:prstGeom>
          </p:spPr>
          <p:txBody>
            <a:bodyPr anchor="t" rtlCol="false" tIns="0" lIns="0" bIns="0" rIns="0">
              <a:spAutoFit/>
            </a:bodyPr>
            <a:lstStyle/>
            <a:p>
              <a:pPr algn="l">
                <a:lnSpc>
                  <a:spcPts val="4515"/>
                </a:lnSpc>
              </a:pPr>
              <a:r>
                <a:rPr lang="en-US" sz="3225">
                  <a:solidFill>
                    <a:srgbClr val="27E7FF"/>
                  </a:solidFill>
                  <a:latin typeface="Anton"/>
                  <a:ea typeface="Anton"/>
                  <a:cs typeface="Anton"/>
                  <a:sym typeface="Anton"/>
                </a:rPr>
                <a:t>3</a:t>
              </a:r>
            </a:p>
          </p:txBody>
        </p:sp>
      </p:grpSp>
      <p:grpSp>
        <p:nvGrpSpPr>
          <p:cNvPr name="Group 41" id="41"/>
          <p:cNvGrpSpPr/>
          <p:nvPr/>
        </p:nvGrpSpPr>
        <p:grpSpPr>
          <a:xfrm rot="0">
            <a:off x="876300" y="5191125"/>
            <a:ext cx="7715250" cy="3333750"/>
            <a:chOff x="0" y="0"/>
            <a:chExt cx="10287000" cy="4445000"/>
          </a:xfrm>
        </p:grpSpPr>
        <p:grpSp>
          <p:nvGrpSpPr>
            <p:cNvPr name="Group 42" id="42"/>
            <p:cNvGrpSpPr/>
            <p:nvPr/>
          </p:nvGrpSpPr>
          <p:grpSpPr>
            <a:xfrm rot="0">
              <a:off x="0" y="0"/>
              <a:ext cx="10287000" cy="4445000"/>
              <a:chOff x="0" y="0"/>
              <a:chExt cx="10287000" cy="4445000"/>
            </a:xfrm>
          </p:grpSpPr>
          <p:sp>
            <p:nvSpPr>
              <p:cNvPr name="Freeform 43" id="43"/>
              <p:cNvSpPr/>
              <p:nvPr/>
            </p:nvSpPr>
            <p:spPr>
              <a:xfrm flipH="false" flipV="false" rot="0">
                <a:off x="0" y="0"/>
                <a:ext cx="10287000" cy="4445000"/>
              </a:xfrm>
              <a:custGeom>
                <a:avLst/>
                <a:gdLst/>
                <a:ahLst/>
                <a:cxnLst/>
                <a:rect r="r" b="b" t="t" l="l"/>
                <a:pathLst>
                  <a:path h="4445000" w="10287000">
                    <a:moveTo>
                      <a:pt x="0" y="0"/>
                    </a:moveTo>
                    <a:lnTo>
                      <a:pt x="10287000" y="0"/>
                    </a:lnTo>
                    <a:lnTo>
                      <a:pt x="10287000" y="4445000"/>
                    </a:lnTo>
                    <a:lnTo>
                      <a:pt x="0" y="4445000"/>
                    </a:lnTo>
                    <a:close/>
                  </a:path>
                </a:pathLst>
              </a:custGeom>
              <a:solidFill>
                <a:srgbClr val="0B223B"/>
              </a:solidFill>
              <a:ln w="9525" cap="sq">
                <a:solidFill>
                  <a:srgbClr val="27E7FF"/>
                </a:solidFill>
                <a:prstDash val="solid"/>
                <a:miter/>
              </a:ln>
            </p:spPr>
          </p:sp>
          <p:sp>
            <p:nvSpPr>
              <p:cNvPr name="TextBox 44" id="44"/>
              <p:cNvSpPr txBox="true"/>
              <p:nvPr/>
            </p:nvSpPr>
            <p:spPr>
              <a:xfrm>
                <a:off x="0" y="-38100"/>
                <a:ext cx="10287000" cy="44831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0" y="288925"/>
              <a:ext cx="889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IMPROVED USER STORY</a:t>
              </a:r>
            </a:p>
          </p:txBody>
        </p:sp>
        <p:sp>
          <p:nvSpPr>
            <p:cNvPr name="TextBox 46" id="46"/>
            <p:cNvSpPr txBox="true"/>
            <p:nvPr/>
          </p:nvSpPr>
          <p:spPr>
            <a:xfrm rot="0">
              <a:off x="419100" y="923925"/>
              <a:ext cx="9652000" cy="854075"/>
            </a:xfrm>
            <a:prstGeom prst="rect">
              <a:avLst/>
            </a:prstGeom>
          </p:spPr>
          <p:txBody>
            <a:bodyPr anchor="t" rtlCol="false" tIns="0" lIns="0" bIns="0" rIns="0">
              <a:spAutoFit/>
            </a:bodyPr>
            <a:lstStyle/>
            <a:p>
              <a:pPr algn="l">
                <a:lnSpc>
                  <a:spcPts val="2625"/>
                </a:lnSpc>
              </a:pPr>
              <a:r>
                <a:rPr lang="en-US" sz="1875">
                  <a:solidFill>
                    <a:srgbClr val="F4FBFF"/>
                  </a:solidFill>
                  <a:latin typeface="IBM Plex Sans"/>
                  <a:ea typeface="IBM Plex Sans"/>
                  <a:cs typeface="IBM Plex Sans"/>
                  <a:sym typeface="IBM Plex Sans"/>
                </a:rPr>
                <a:t>“As a student, I want to view my subject-wise attendance percentage so that I can monitor my attendance status.”</a:t>
              </a:r>
            </a:p>
          </p:txBody>
        </p:sp>
      </p:grpSp>
      <p:grpSp>
        <p:nvGrpSpPr>
          <p:cNvPr name="Group 47" id="47"/>
          <p:cNvGrpSpPr/>
          <p:nvPr/>
        </p:nvGrpSpPr>
        <p:grpSpPr>
          <a:xfrm rot="0">
            <a:off x="9620250" y="5191125"/>
            <a:ext cx="7791450" cy="3333750"/>
            <a:chOff x="0" y="0"/>
            <a:chExt cx="10388600" cy="4445000"/>
          </a:xfrm>
        </p:grpSpPr>
        <p:grpSp>
          <p:nvGrpSpPr>
            <p:cNvPr name="Group 48" id="48"/>
            <p:cNvGrpSpPr/>
            <p:nvPr/>
          </p:nvGrpSpPr>
          <p:grpSpPr>
            <a:xfrm rot="0">
              <a:off x="0" y="0"/>
              <a:ext cx="10388600" cy="4445000"/>
              <a:chOff x="0" y="0"/>
              <a:chExt cx="10388600" cy="4445000"/>
            </a:xfrm>
          </p:grpSpPr>
          <p:sp>
            <p:nvSpPr>
              <p:cNvPr name="Freeform 49" id="49"/>
              <p:cNvSpPr/>
              <p:nvPr/>
            </p:nvSpPr>
            <p:spPr>
              <a:xfrm flipH="false" flipV="false" rot="0">
                <a:off x="0" y="0"/>
                <a:ext cx="10388600" cy="4445000"/>
              </a:xfrm>
              <a:custGeom>
                <a:avLst/>
                <a:gdLst/>
                <a:ahLst/>
                <a:cxnLst/>
                <a:rect r="r" b="b" t="t" l="l"/>
                <a:pathLst>
                  <a:path h="4445000" w="10388600">
                    <a:moveTo>
                      <a:pt x="0" y="0"/>
                    </a:moveTo>
                    <a:lnTo>
                      <a:pt x="10388600" y="0"/>
                    </a:lnTo>
                    <a:lnTo>
                      <a:pt x="10388600" y="4445000"/>
                    </a:lnTo>
                    <a:lnTo>
                      <a:pt x="0" y="4445000"/>
                    </a:lnTo>
                    <a:close/>
                  </a:path>
                </a:pathLst>
              </a:custGeom>
              <a:solidFill>
                <a:srgbClr val="0B223B"/>
              </a:solidFill>
              <a:ln w="9525" cap="sq">
                <a:solidFill>
                  <a:srgbClr val="1B5873"/>
                </a:solidFill>
                <a:prstDash val="solid"/>
                <a:miter/>
              </a:ln>
            </p:spPr>
          </p:sp>
          <p:sp>
            <p:nvSpPr>
              <p:cNvPr name="TextBox 50" id="50"/>
              <p:cNvSpPr txBox="true"/>
              <p:nvPr/>
            </p:nvSpPr>
            <p:spPr>
              <a:xfrm>
                <a:off x="0" y="-38100"/>
                <a:ext cx="10388600" cy="4483100"/>
              </a:xfrm>
              <a:prstGeom prst="rect">
                <a:avLst/>
              </a:prstGeom>
            </p:spPr>
            <p:txBody>
              <a:bodyPr anchor="ctr" rtlCol="false" tIns="50800" lIns="50800" bIns="50800" rIns="50800"/>
              <a:lstStyle/>
              <a:p>
                <a:pPr algn="l">
                  <a:lnSpc>
                    <a:spcPts val="1679"/>
                  </a:lnSpc>
                </a:pPr>
              </a:p>
            </p:txBody>
          </p:sp>
        </p:grpSp>
        <p:sp>
          <p:nvSpPr>
            <p:cNvPr name="TextBox 51" id="51"/>
            <p:cNvSpPr txBox="true"/>
            <p:nvPr/>
          </p:nvSpPr>
          <p:spPr>
            <a:xfrm rot="0">
              <a:off x="0" y="288925"/>
              <a:ext cx="889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ACCEPTANCE CRITERIA</a:t>
              </a:r>
            </a:p>
          </p:txBody>
        </p:sp>
        <p:sp>
          <p:nvSpPr>
            <p:cNvPr name="TextBox 52" id="52"/>
            <p:cNvSpPr txBox="true"/>
            <p:nvPr/>
          </p:nvSpPr>
          <p:spPr>
            <a:xfrm rot="0">
              <a:off x="381000" y="949325"/>
              <a:ext cx="8890000" cy="1784477"/>
            </a:xfrm>
            <a:prstGeom prst="rect">
              <a:avLst/>
            </a:prstGeom>
          </p:spPr>
          <p:txBody>
            <a:bodyPr anchor="t" rtlCol="false" tIns="0" lIns="0" bIns="0" rIns="0">
              <a:spAutoFit/>
            </a:bodyPr>
            <a:lstStyle/>
            <a:p>
              <a:pPr algn="l">
                <a:lnSpc>
                  <a:spcPts val="2725"/>
                </a:lnSpc>
              </a:pPr>
              <a:r>
                <a:rPr lang="en-US" sz="1725">
                  <a:solidFill>
                    <a:srgbClr val="F4FBFF"/>
                  </a:solidFill>
                  <a:latin typeface="IBM Plex Sans"/>
                  <a:ea typeface="IBM Plex Sans"/>
                  <a:cs typeface="IBM Plex Sans"/>
                  <a:sym typeface="IBM Plex Sans"/>
                </a:rPr>
                <a:t>01  Student can view attendance.</a:t>
              </a:r>
            </a:p>
            <a:p>
              <a:pPr algn="l">
                <a:lnSpc>
                  <a:spcPts val="2725"/>
                </a:lnSpc>
              </a:pPr>
              <a:r>
                <a:rPr lang="en-US" sz="1725">
                  <a:solidFill>
                    <a:srgbClr val="F4FBFF"/>
                  </a:solidFill>
                  <a:latin typeface="IBM Plex Sans"/>
                  <a:ea typeface="IBM Plex Sans"/>
                  <a:cs typeface="IBM Plex Sans"/>
                  <a:sym typeface="IBM Plex Sans"/>
                </a:rPr>
                <a:t>02  Attendance is displayed subject-wise.</a:t>
              </a:r>
            </a:p>
            <a:p>
              <a:pPr algn="l">
                <a:lnSpc>
                  <a:spcPts val="2725"/>
                </a:lnSpc>
              </a:pPr>
              <a:r>
                <a:rPr lang="en-US" sz="1725">
                  <a:solidFill>
                    <a:srgbClr val="F4FBFF"/>
                  </a:solidFill>
                  <a:latin typeface="IBM Plex Sans"/>
                  <a:ea typeface="IBM Plex Sans"/>
                  <a:cs typeface="IBM Plex Sans"/>
                  <a:sym typeface="IBM Plex Sans"/>
                </a:rPr>
                <a:t>03  Attendance percentage is displayed.</a:t>
              </a:r>
            </a:p>
            <a:p>
              <a:pPr algn="l">
                <a:lnSpc>
                  <a:spcPts val="2725"/>
                </a:lnSpc>
              </a:pPr>
              <a:r>
                <a:rPr lang="en-US" sz="1725">
                  <a:solidFill>
                    <a:srgbClr val="F4FBFF"/>
                  </a:solidFill>
                  <a:latin typeface="IBM Plex Sans"/>
                  <a:ea typeface="IBM Plex Sans"/>
                  <a:cs typeface="IBM Plex Sans"/>
                  <a:sym typeface="IBM Plex Sans"/>
                </a:rPr>
                <a:t>04  Student can view current semester attendance.</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61426"/>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85725"/>
            <a:chOff x="0" y="0"/>
            <a:chExt cx="24384000" cy="114300"/>
          </a:xfrm>
        </p:grpSpPr>
        <p:sp>
          <p:nvSpPr>
            <p:cNvPr name="Freeform 3" id="3"/>
            <p:cNvSpPr/>
            <p:nvPr/>
          </p:nvSpPr>
          <p:spPr>
            <a:xfrm flipH="false" flipV="false" rot="0">
              <a:off x="0" y="0"/>
              <a:ext cx="24384000" cy="114300"/>
            </a:xfrm>
            <a:custGeom>
              <a:avLst/>
              <a:gdLst/>
              <a:ahLst/>
              <a:cxnLst/>
              <a:rect r="r" b="b" t="t" l="l"/>
              <a:pathLst>
                <a:path h="114300" w="24384000">
                  <a:moveTo>
                    <a:pt x="0" y="0"/>
                  </a:moveTo>
                  <a:lnTo>
                    <a:pt x="24384000" y="0"/>
                  </a:lnTo>
                  <a:lnTo>
                    <a:pt x="24384000" y="114300"/>
                  </a:lnTo>
                  <a:lnTo>
                    <a:pt x="0" y="114300"/>
                  </a:lnTo>
                  <a:close/>
                </a:path>
              </a:pathLst>
            </a:custGeom>
            <a:solidFill>
              <a:srgbClr val="27E7FF">
                <a:alpha val="74902"/>
              </a:srgbClr>
            </a:solidFill>
            <a:ln w="9525" cap="sq">
              <a:solidFill>
                <a:srgbClr val="27E7FF">
                  <a:alpha val="74902"/>
                </a:srgbClr>
              </a:solidFill>
              <a:prstDash val="solid"/>
              <a:miter/>
            </a:ln>
          </p:spPr>
        </p:sp>
        <p:sp>
          <p:nvSpPr>
            <p:cNvPr name="TextBox 4" id="4"/>
            <p:cNvSpPr txBox="true"/>
            <p:nvPr/>
          </p:nvSpPr>
          <p:spPr>
            <a:xfrm>
              <a:off x="0" y="-38100"/>
              <a:ext cx="24384000" cy="152400"/>
            </a:xfrm>
            <a:prstGeom prst="rect">
              <a:avLst/>
            </a:prstGeom>
          </p:spPr>
          <p:txBody>
            <a:bodyPr anchor="ctr" rtlCol="false" tIns="50800" lIns="50800" bIns="50800" rIns="50800"/>
            <a:lstStyle/>
            <a:p>
              <a:pPr algn="l">
                <a:lnSpc>
                  <a:spcPts val="1679"/>
                </a:lnSpc>
              </a:pPr>
            </a:p>
          </p:txBody>
        </p:sp>
      </p:grpSp>
      <p:sp>
        <p:nvSpPr>
          <p:cNvPr name="Freeform 5" id="5"/>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666" r="0" b="-666"/>
            </a:stretch>
          </a:blipFill>
          <a:ln cap="sq">
            <a:noFill/>
            <a:prstDash val="solid"/>
            <a:miter/>
          </a:ln>
        </p:spPr>
      </p:sp>
      <p:grpSp>
        <p:nvGrpSpPr>
          <p:cNvPr name="Group 6" id="6"/>
          <p:cNvGrpSpPr/>
          <p:nvPr/>
        </p:nvGrpSpPr>
        <p:grpSpPr>
          <a:xfrm rot="0">
            <a:off x="0" y="0"/>
            <a:ext cx="18288000" cy="10287000"/>
            <a:chOff x="0" y="0"/>
            <a:chExt cx="24384000" cy="13716000"/>
          </a:xfrm>
        </p:grpSpPr>
        <p:sp>
          <p:nvSpPr>
            <p:cNvPr name="Freeform 7" id="7"/>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061426">
                <a:alpha val="77647"/>
              </a:srgbClr>
            </a:solidFill>
            <a:ln w="9525" cap="sq">
              <a:solidFill>
                <a:srgbClr val="061426">
                  <a:alpha val="77647"/>
                </a:srgbClr>
              </a:solidFill>
              <a:prstDash val="solid"/>
              <a:miter/>
            </a:ln>
          </p:spPr>
        </p:sp>
        <p:sp>
          <p:nvSpPr>
            <p:cNvPr name="TextBox 8" id="8"/>
            <p:cNvSpPr txBox="true"/>
            <p:nvPr/>
          </p:nvSpPr>
          <p:spPr>
            <a:xfrm>
              <a:off x="0" y="-38100"/>
              <a:ext cx="24384000" cy="13754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876300" y="495300"/>
            <a:ext cx="16535400" cy="1171575"/>
            <a:chOff x="0" y="0"/>
            <a:chExt cx="22047200" cy="1562100"/>
          </a:xfrm>
        </p:grpSpPr>
        <p:sp>
          <p:nvSpPr>
            <p:cNvPr name="TextBox 10" id="10"/>
            <p:cNvSpPr txBox="true"/>
            <p:nvPr/>
          </p:nvSpPr>
          <p:spPr>
            <a:xfrm rot="0">
              <a:off x="0" y="-28575"/>
              <a:ext cx="1270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AI STORYFORGE • ADAPTIVE SOFTWARE ENGINEERING</a:t>
              </a:r>
            </a:p>
          </p:txBody>
        </p:sp>
        <p:sp>
          <p:nvSpPr>
            <p:cNvPr name="TextBox 11" id="11"/>
            <p:cNvSpPr txBox="true"/>
            <p:nvPr/>
          </p:nvSpPr>
          <p:spPr>
            <a:xfrm rot="0">
              <a:off x="0" y="581025"/>
              <a:ext cx="19050000" cy="859155"/>
            </a:xfrm>
            <a:prstGeom prst="rect">
              <a:avLst/>
            </a:prstGeom>
          </p:spPr>
          <p:txBody>
            <a:bodyPr anchor="t" rtlCol="false" tIns="0" lIns="0" bIns="0" rIns="0">
              <a:spAutoFit/>
            </a:bodyPr>
            <a:lstStyle/>
            <a:p>
              <a:pPr algn="l">
                <a:lnSpc>
                  <a:spcPts val="4650"/>
                </a:lnSpc>
              </a:pPr>
              <a:r>
                <a:rPr lang="en-US" sz="4650" spc="93">
                  <a:solidFill>
                    <a:srgbClr val="F4FBFF"/>
                  </a:solidFill>
                  <a:latin typeface="Anton"/>
                  <a:ea typeface="Anton"/>
                  <a:cs typeface="Anton"/>
                  <a:sym typeface="Anton"/>
                </a:rPr>
                <a:t>CONCLUSION &amp; FUTURE SCOPE</a:t>
              </a:r>
            </a:p>
          </p:txBody>
        </p:sp>
        <p:sp>
          <p:nvSpPr>
            <p:cNvPr name="TextBox 12" id="12"/>
            <p:cNvSpPr txBox="true"/>
            <p:nvPr/>
          </p:nvSpPr>
          <p:spPr>
            <a:xfrm rot="0">
              <a:off x="20294600" y="101600"/>
              <a:ext cx="1651000" cy="396240"/>
            </a:xfrm>
            <a:prstGeom prst="rect">
              <a:avLst/>
            </a:prstGeom>
          </p:spPr>
          <p:txBody>
            <a:bodyPr anchor="t" rtlCol="false" tIns="0" lIns="0" bIns="0" rIns="0">
              <a:spAutoFit/>
            </a:bodyPr>
            <a:lstStyle/>
            <a:p>
              <a:pPr algn="r">
                <a:lnSpc>
                  <a:spcPts val="2520"/>
                </a:lnSpc>
              </a:pPr>
              <a:r>
                <a:rPr lang="en-US" sz="1800">
                  <a:solidFill>
                    <a:srgbClr val="27E7FF"/>
                  </a:solidFill>
                  <a:latin typeface="IBM Plex Mono"/>
                  <a:ea typeface="IBM Plex Mono"/>
                  <a:cs typeface="IBM Plex Mono"/>
                  <a:sym typeface="IBM Plex Mono"/>
                </a:rPr>
                <a:t>11</a:t>
              </a:r>
            </a:p>
          </p:txBody>
        </p:sp>
        <p:sp>
          <p:nvSpPr>
            <p:cNvPr name="AutoShape 13" id="13"/>
            <p:cNvSpPr/>
            <p:nvPr/>
          </p:nvSpPr>
          <p:spPr>
            <a:xfrm>
              <a:off x="0" y="1549400"/>
              <a:ext cx="22047200" cy="0"/>
            </a:xfrm>
            <a:prstGeom prst="line">
              <a:avLst/>
            </a:prstGeom>
            <a:ln cap="flat" w="25400">
              <a:solidFill>
                <a:srgbClr val="1B5873"/>
              </a:solidFill>
              <a:prstDash val="solid"/>
              <a:headEnd type="none" len="sm" w="sm"/>
              <a:tailEnd type="none" len="sm" w="sm"/>
            </a:ln>
          </p:spPr>
        </p:sp>
      </p:grpSp>
      <p:grpSp>
        <p:nvGrpSpPr>
          <p:cNvPr name="Group 14" id="14"/>
          <p:cNvGrpSpPr/>
          <p:nvPr/>
        </p:nvGrpSpPr>
        <p:grpSpPr>
          <a:xfrm rot="0">
            <a:off x="876300" y="2095500"/>
            <a:ext cx="7239000" cy="6477000"/>
            <a:chOff x="0" y="0"/>
            <a:chExt cx="9652000" cy="8636000"/>
          </a:xfrm>
        </p:grpSpPr>
        <p:grpSp>
          <p:nvGrpSpPr>
            <p:cNvPr name="Group 15" id="15"/>
            <p:cNvGrpSpPr/>
            <p:nvPr/>
          </p:nvGrpSpPr>
          <p:grpSpPr>
            <a:xfrm rot="0">
              <a:off x="0" y="0"/>
              <a:ext cx="9652000" cy="8636000"/>
              <a:chOff x="0" y="0"/>
              <a:chExt cx="9652000" cy="8636000"/>
            </a:xfrm>
          </p:grpSpPr>
          <p:sp>
            <p:nvSpPr>
              <p:cNvPr name="Freeform 16" id="16"/>
              <p:cNvSpPr/>
              <p:nvPr/>
            </p:nvSpPr>
            <p:spPr>
              <a:xfrm flipH="false" flipV="false" rot="0">
                <a:off x="0" y="0"/>
                <a:ext cx="9652000" cy="8636000"/>
              </a:xfrm>
              <a:custGeom>
                <a:avLst/>
                <a:gdLst/>
                <a:ahLst/>
                <a:cxnLst/>
                <a:rect r="r" b="b" t="t" l="l"/>
                <a:pathLst>
                  <a:path h="8636000" w="9652000">
                    <a:moveTo>
                      <a:pt x="0" y="0"/>
                    </a:moveTo>
                    <a:lnTo>
                      <a:pt x="9652000" y="0"/>
                    </a:lnTo>
                    <a:lnTo>
                      <a:pt x="9652000" y="8636000"/>
                    </a:lnTo>
                    <a:lnTo>
                      <a:pt x="0" y="8636000"/>
                    </a:lnTo>
                    <a:close/>
                  </a:path>
                </a:pathLst>
              </a:custGeom>
              <a:solidFill>
                <a:srgbClr val="0B223B">
                  <a:alpha val="89804"/>
                </a:srgbClr>
              </a:solidFill>
              <a:ln w="9525" cap="sq">
                <a:solidFill>
                  <a:srgbClr val="1B5873">
                    <a:alpha val="89804"/>
                  </a:srgbClr>
                </a:solidFill>
                <a:prstDash val="solid"/>
                <a:miter/>
              </a:ln>
            </p:spPr>
          </p:sp>
          <p:sp>
            <p:nvSpPr>
              <p:cNvPr name="TextBox 17" id="17"/>
              <p:cNvSpPr txBox="true"/>
              <p:nvPr/>
            </p:nvSpPr>
            <p:spPr>
              <a:xfrm>
                <a:off x="0" y="-38100"/>
                <a:ext cx="9652000" cy="8674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355600" y="288925"/>
              <a:ext cx="635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CONCLUSION</a:t>
              </a:r>
            </a:p>
          </p:txBody>
        </p:sp>
        <p:sp>
          <p:nvSpPr>
            <p:cNvPr name="TextBox 19" id="19"/>
            <p:cNvSpPr txBox="true"/>
            <p:nvPr/>
          </p:nvSpPr>
          <p:spPr>
            <a:xfrm rot="0">
              <a:off x="355600" y="977900"/>
              <a:ext cx="8509000" cy="2244725"/>
            </a:xfrm>
            <a:prstGeom prst="rect">
              <a:avLst/>
            </a:prstGeom>
          </p:spPr>
          <p:txBody>
            <a:bodyPr anchor="t" rtlCol="false" tIns="0" lIns="0" bIns="0" rIns="0">
              <a:spAutoFit/>
            </a:bodyPr>
            <a:lstStyle/>
            <a:p>
              <a:pPr algn="l">
                <a:lnSpc>
                  <a:spcPts val="2718"/>
                </a:lnSpc>
              </a:pPr>
              <a:r>
                <a:rPr lang="en-US" sz="1875">
                  <a:solidFill>
                    <a:srgbClr val="F4FBFF"/>
                  </a:solidFill>
                  <a:latin typeface="IBM Plex Sans"/>
                  <a:ea typeface="IBM Plex Sans"/>
                  <a:cs typeface="IBM Plex Sans"/>
                  <a:sym typeface="IBM Plex Sans"/>
                </a:rPr>
                <a:t>AI StoryForge provides an AI-assisted approach for improving Agile user stories. It identifies unclear requirements, estimates complexity, assesses risk, and generates acceptance criteria — supporting backlog grooming and sprint planning while reducing manual effort.</a:t>
              </a:r>
            </a:p>
          </p:txBody>
        </p:sp>
        <p:sp>
          <p:nvSpPr>
            <p:cNvPr name="TextBox 20" id="20"/>
            <p:cNvSpPr txBox="true"/>
            <p:nvPr/>
          </p:nvSpPr>
          <p:spPr>
            <a:xfrm rot="0">
              <a:off x="355600" y="4479925"/>
              <a:ext cx="635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CURRENT STATUS</a:t>
              </a:r>
            </a:p>
          </p:txBody>
        </p:sp>
        <p:sp>
          <p:nvSpPr>
            <p:cNvPr name="TextBox 21" id="21"/>
            <p:cNvSpPr txBox="true"/>
            <p:nvPr/>
          </p:nvSpPr>
          <p:spPr>
            <a:xfrm rot="0">
              <a:off x="355600" y="5159375"/>
              <a:ext cx="8636000" cy="2550795"/>
            </a:xfrm>
            <a:prstGeom prst="rect">
              <a:avLst/>
            </a:prstGeom>
          </p:spPr>
          <p:txBody>
            <a:bodyPr anchor="t" rtlCol="false" tIns="0" lIns="0" bIns="0" rIns="0">
              <a:spAutoFit/>
            </a:bodyPr>
            <a:lstStyle/>
            <a:p>
              <a:pPr algn="l">
                <a:lnSpc>
                  <a:spcPts val="2587"/>
                </a:lnSpc>
              </a:pPr>
              <a:r>
                <a:rPr lang="en-US" sz="1725">
                  <a:solidFill>
                    <a:srgbClr val="F4FBFF"/>
                  </a:solidFill>
                  <a:latin typeface="IBM Plex Sans"/>
                  <a:ea typeface="IBM Plex Sans"/>
                  <a:cs typeface="IBM Plex Sans"/>
                  <a:sym typeface="IBM Plex Sans"/>
                </a:rPr>
                <a:t>✓ Project structure completed</a:t>
              </a:r>
            </a:p>
            <a:p>
              <a:pPr algn="l">
                <a:lnSpc>
                  <a:spcPts val="2587"/>
                </a:lnSpc>
              </a:pPr>
              <a:r>
                <a:rPr lang="en-US" sz="1725">
                  <a:solidFill>
                    <a:srgbClr val="F4FBFF"/>
                  </a:solidFill>
                  <a:latin typeface="IBM Plex Sans"/>
                  <a:ea typeface="IBM Plex Sans"/>
                  <a:cs typeface="IBM Plex Sans"/>
                  <a:sym typeface="IBM Plex Sans"/>
                </a:rPr>
                <a:t>✓ Frontend prototype completed</a:t>
              </a:r>
            </a:p>
            <a:p>
              <a:pPr algn="l">
                <a:lnSpc>
                  <a:spcPts val="2587"/>
                </a:lnSpc>
              </a:pPr>
              <a:r>
                <a:rPr lang="en-US" sz="1725">
                  <a:solidFill>
                    <a:srgbClr val="F4FBFF"/>
                  </a:solidFill>
                  <a:latin typeface="IBM Plex Sans"/>
                  <a:ea typeface="IBM Plex Sans"/>
                  <a:cs typeface="IBM Plex Sans"/>
                  <a:sym typeface="IBM Plex Sans"/>
                </a:rPr>
                <a:t>✓ Flask backend setup completed</a:t>
              </a:r>
            </a:p>
            <a:p>
              <a:pPr algn="l">
                <a:lnSpc>
                  <a:spcPts val="2587"/>
                </a:lnSpc>
              </a:pPr>
              <a:r>
                <a:rPr lang="en-US" sz="1725">
                  <a:solidFill>
                    <a:srgbClr val="F4FBFF"/>
                  </a:solidFill>
                  <a:latin typeface="IBM Plex Sans"/>
                  <a:ea typeface="IBM Plex Sans"/>
                  <a:cs typeface="IBM Plex Sans"/>
                  <a:sym typeface="IBM Plex Sans"/>
                </a:rPr>
                <a:t>◌ AI integration — In progress</a:t>
              </a:r>
            </a:p>
            <a:p>
              <a:pPr algn="l">
                <a:lnSpc>
                  <a:spcPts val="2587"/>
                </a:lnSpc>
              </a:pPr>
              <a:r>
                <a:rPr lang="en-US" sz="1725">
                  <a:solidFill>
                    <a:srgbClr val="F4FBFF"/>
                  </a:solidFill>
                  <a:latin typeface="IBM Plex Sans"/>
                  <a:ea typeface="IBM Plex Sans"/>
                  <a:cs typeface="IBM Plex Sans"/>
                  <a:sym typeface="IBM Plex Sans"/>
                </a:rPr>
                <a:t>◌ Database — In progress</a:t>
              </a:r>
            </a:p>
            <a:p>
              <a:pPr algn="l">
                <a:lnSpc>
                  <a:spcPts val="2587"/>
                </a:lnSpc>
              </a:pPr>
              <a:r>
                <a:rPr lang="en-US" sz="1725">
                  <a:solidFill>
                    <a:srgbClr val="F4FBFF"/>
                  </a:solidFill>
                  <a:latin typeface="IBM Plex Sans"/>
                  <a:ea typeface="IBM Plex Sans"/>
                  <a:cs typeface="IBM Plex Sans"/>
                  <a:sym typeface="IBM Plex Sans"/>
                </a:rPr>
                <a:t>◌ Backlog dashboard — In progress</a:t>
              </a:r>
            </a:p>
          </p:txBody>
        </p:sp>
      </p:grpSp>
      <p:grpSp>
        <p:nvGrpSpPr>
          <p:cNvPr name="Group 22" id="22"/>
          <p:cNvGrpSpPr/>
          <p:nvPr/>
        </p:nvGrpSpPr>
        <p:grpSpPr>
          <a:xfrm rot="0">
            <a:off x="9525000" y="2095500"/>
            <a:ext cx="7886700" cy="6477000"/>
            <a:chOff x="0" y="0"/>
            <a:chExt cx="10515600" cy="8636000"/>
          </a:xfrm>
        </p:grpSpPr>
        <p:grpSp>
          <p:nvGrpSpPr>
            <p:cNvPr name="Group 23" id="23"/>
            <p:cNvGrpSpPr/>
            <p:nvPr/>
          </p:nvGrpSpPr>
          <p:grpSpPr>
            <a:xfrm rot="0">
              <a:off x="0" y="0"/>
              <a:ext cx="10515600" cy="8636000"/>
              <a:chOff x="0" y="0"/>
              <a:chExt cx="10515600" cy="8636000"/>
            </a:xfrm>
          </p:grpSpPr>
          <p:sp>
            <p:nvSpPr>
              <p:cNvPr name="Freeform 24" id="24"/>
              <p:cNvSpPr/>
              <p:nvPr/>
            </p:nvSpPr>
            <p:spPr>
              <a:xfrm flipH="false" flipV="false" rot="0">
                <a:off x="0" y="0"/>
                <a:ext cx="10515600" cy="8636000"/>
              </a:xfrm>
              <a:custGeom>
                <a:avLst/>
                <a:gdLst/>
                <a:ahLst/>
                <a:cxnLst/>
                <a:rect r="r" b="b" t="t" l="l"/>
                <a:pathLst>
                  <a:path h="8636000" w="10515600">
                    <a:moveTo>
                      <a:pt x="0" y="0"/>
                    </a:moveTo>
                    <a:lnTo>
                      <a:pt x="10515600" y="0"/>
                    </a:lnTo>
                    <a:lnTo>
                      <a:pt x="10515600" y="8636000"/>
                    </a:lnTo>
                    <a:lnTo>
                      <a:pt x="0" y="8636000"/>
                    </a:lnTo>
                    <a:close/>
                  </a:path>
                </a:pathLst>
              </a:custGeom>
              <a:solidFill>
                <a:srgbClr val="0D2946">
                  <a:alpha val="89804"/>
                </a:srgbClr>
              </a:solidFill>
              <a:ln w="9525" cap="sq">
                <a:solidFill>
                  <a:srgbClr val="27E7FF">
                    <a:alpha val="89804"/>
                  </a:srgbClr>
                </a:solidFill>
                <a:prstDash val="solid"/>
                <a:miter/>
              </a:ln>
            </p:spPr>
          </p:sp>
          <p:sp>
            <p:nvSpPr>
              <p:cNvPr name="TextBox 25" id="25"/>
              <p:cNvSpPr txBox="true"/>
              <p:nvPr/>
            </p:nvSpPr>
            <p:spPr>
              <a:xfrm>
                <a:off x="0" y="-38100"/>
                <a:ext cx="10515600" cy="8674100"/>
              </a:xfrm>
              <a:prstGeom prst="rect">
                <a:avLst/>
              </a:prstGeom>
            </p:spPr>
            <p:txBody>
              <a:bodyPr anchor="ctr" rtlCol="false" tIns="50800" lIns="50800" bIns="50800" rIns="50800"/>
              <a:lstStyle/>
              <a:p>
                <a:pPr algn="l">
                  <a:lnSpc>
                    <a:spcPts val="1679"/>
                  </a:lnSpc>
                </a:pPr>
              </a:p>
            </p:txBody>
          </p:sp>
        </p:grpSp>
        <p:sp>
          <p:nvSpPr>
            <p:cNvPr name="TextBox 26" id="26"/>
            <p:cNvSpPr txBox="true"/>
            <p:nvPr/>
          </p:nvSpPr>
          <p:spPr>
            <a:xfrm rot="0">
              <a:off x="508000" y="288925"/>
              <a:ext cx="6350000" cy="310515"/>
            </a:xfrm>
            <a:prstGeom prst="rect">
              <a:avLst/>
            </a:prstGeom>
          </p:spPr>
          <p:txBody>
            <a:bodyPr anchor="t" rtlCol="false" tIns="0" lIns="0" bIns="0" rIns="0">
              <a:spAutoFit/>
            </a:bodyPr>
            <a:lstStyle/>
            <a:p>
              <a:pPr algn="l">
                <a:lnSpc>
                  <a:spcPts val="1995"/>
                </a:lnSpc>
              </a:pPr>
              <a:r>
                <a:rPr lang="en-US" sz="1425" spc="171" b="true">
                  <a:solidFill>
                    <a:srgbClr val="27E7FF"/>
                  </a:solidFill>
                  <a:latin typeface="Rajdhani Bold"/>
                  <a:ea typeface="Rajdhani Bold"/>
                  <a:cs typeface="Rajdhani Bold"/>
                  <a:sym typeface="Rajdhani Bold"/>
                </a:rPr>
                <a:t>FUTURE SCOPE</a:t>
              </a:r>
            </a:p>
          </p:txBody>
        </p:sp>
        <p:sp>
          <p:nvSpPr>
            <p:cNvPr name="TextBox 27" id="27"/>
            <p:cNvSpPr txBox="true"/>
            <p:nvPr/>
          </p:nvSpPr>
          <p:spPr>
            <a:xfrm rot="0">
              <a:off x="508000" y="1057275"/>
              <a:ext cx="8890000" cy="3284220"/>
            </a:xfrm>
            <a:prstGeom prst="rect">
              <a:avLst/>
            </a:prstGeom>
          </p:spPr>
          <p:txBody>
            <a:bodyPr anchor="t" rtlCol="false" tIns="0" lIns="0" bIns="0" rIns="0">
              <a:spAutoFit/>
            </a:bodyPr>
            <a:lstStyle/>
            <a:p>
              <a:pPr algn="l">
                <a:lnSpc>
                  <a:spcPts val="3341"/>
                </a:lnSpc>
              </a:pPr>
              <a:r>
                <a:rPr lang="en-US" sz="2025" b="true">
                  <a:solidFill>
                    <a:srgbClr val="F4FBFF"/>
                  </a:solidFill>
                  <a:latin typeface="Rajdhani Bold"/>
                  <a:ea typeface="Rajdhani Bold"/>
                  <a:cs typeface="Rajdhani Bold"/>
                  <a:sym typeface="Rajdhani Bold"/>
                </a:rPr>
                <a:t>01  Jira / Trello integration</a:t>
              </a:r>
            </a:p>
            <a:p>
              <a:pPr algn="l">
                <a:lnSpc>
                  <a:spcPts val="3341"/>
                </a:lnSpc>
              </a:pPr>
              <a:r>
                <a:rPr lang="en-US" sz="2025" b="true">
                  <a:solidFill>
                    <a:srgbClr val="F4FBFF"/>
                  </a:solidFill>
                  <a:latin typeface="Rajdhani Bold"/>
                  <a:ea typeface="Rajdhani Bold"/>
                  <a:cs typeface="Rajdhani Bold"/>
                  <a:sym typeface="Rajdhani Bold"/>
                </a:rPr>
                <a:t>02  AI-based sprint workload prediction</a:t>
              </a:r>
            </a:p>
            <a:p>
              <a:pPr algn="l">
                <a:lnSpc>
                  <a:spcPts val="3341"/>
                </a:lnSpc>
              </a:pPr>
              <a:r>
                <a:rPr lang="en-US" sz="2025" b="true">
                  <a:solidFill>
                    <a:srgbClr val="F4FBFF"/>
                  </a:solidFill>
                  <a:latin typeface="Rajdhani Bold"/>
                  <a:ea typeface="Rajdhani Bold"/>
                  <a:cs typeface="Rajdhani Bold"/>
                  <a:sym typeface="Rajdhani Bold"/>
                </a:rPr>
                <a:t>03  Historical data-based estimation</a:t>
              </a:r>
            </a:p>
            <a:p>
              <a:pPr algn="l">
                <a:lnSpc>
                  <a:spcPts val="3341"/>
                </a:lnSpc>
              </a:pPr>
              <a:r>
                <a:rPr lang="en-US" sz="2025" b="true">
                  <a:solidFill>
                    <a:srgbClr val="F4FBFF"/>
                  </a:solidFill>
                  <a:latin typeface="Rajdhani Bold"/>
                  <a:ea typeface="Rajdhani Bold"/>
                  <a:cs typeface="Rajdhani Bold"/>
                  <a:sym typeface="Rajdhani Bold"/>
                </a:rPr>
                <a:t>04  Automatic backlog prioritization</a:t>
              </a:r>
            </a:p>
            <a:p>
              <a:pPr algn="l">
                <a:lnSpc>
                  <a:spcPts val="3341"/>
                </a:lnSpc>
              </a:pPr>
              <a:r>
                <a:rPr lang="en-US" sz="2025" b="true">
                  <a:solidFill>
                    <a:srgbClr val="F4FBFF"/>
                  </a:solidFill>
                  <a:latin typeface="Rajdhani Bold"/>
                  <a:ea typeface="Rajdhani Bold"/>
                  <a:cs typeface="Rajdhani Bold"/>
                  <a:sym typeface="Rajdhani Bold"/>
                </a:rPr>
                <a:t>05  Team velocity analysis</a:t>
              </a:r>
            </a:p>
            <a:p>
              <a:pPr algn="l">
                <a:lnSpc>
                  <a:spcPts val="3341"/>
                </a:lnSpc>
              </a:pPr>
              <a:r>
                <a:rPr lang="en-US" sz="2025" b="true">
                  <a:solidFill>
                    <a:srgbClr val="F4FBFF"/>
                  </a:solidFill>
                  <a:latin typeface="Rajdhani Bold"/>
                  <a:ea typeface="Rajdhani Bold"/>
                  <a:cs typeface="Rajdhani Bold"/>
                  <a:sym typeface="Rajdhani Bold"/>
                </a:rPr>
                <a:t>06  Advanced sprint risk prediction</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DAHTRq3gVV0</dc:identifier>
  <dcterms:modified xsi:type="dcterms:W3CDTF">2011-08-01T06:04:30Z</dcterms:modified>
  <cp:revision>1</cp:revision>
  <dc:title>TEAM MEMBERS • ROLL NUMBERS Guide: ____________________ | Department: CSE Course: Adaptive Software Engineering</dc:title>
</cp:coreProperties>
</file>